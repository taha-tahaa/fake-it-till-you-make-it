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f2aa756165c4b78" /><Relationship Type="http://schemas.openxmlformats.org/officeDocument/2006/relationships/extended-properties" Target="/docProps/app.xml" Id="R07de39343c224c68" /><Relationship Type="http://schemas.openxmlformats.org/officeDocument/2006/relationships/officeDocument" Target="/ppt/presentation.xml" Id="Ra85d858bfd6f45f4" /></Relationships>
</file>

<file path=ppt/presentation.xml><?xml version="1.0" encoding="utf-8"?>
<p:presentation xmlns:p="http://schemas.openxmlformats.org/presentationml/2006/main">
  <p:sldMasterIdLst>
    <p:sldMasterId xmlns:r="http://schemas.openxmlformats.org/officeDocument/2006/relationships" id="2147483648" r:id="Rdc86b8554da74390"/>
  </p:sldMasterIdLst>
  <p:notesMasterIdLst>
    <p:notesMasterId xmlns:r="http://schemas.openxmlformats.org/officeDocument/2006/relationships" r:id="Rf4eb93bb396c4706"/>
  </p:notesMasterIdLst>
  <p:sldIdLst>
    <p:sldId xmlns:r="http://schemas.openxmlformats.org/officeDocument/2006/relationships" id="256" r:id="Rba0c8aeac4ff433a"/>
    <p:sldId xmlns:r="http://schemas.openxmlformats.org/officeDocument/2006/relationships" id="257" r:id="Rdd68ff5d12c443f9"/>
    <p:sldId xmlns:r="http://schemas.openxmlformats.org/officeDocument/2006/relationships" id="258" r:id="Ra0fba9b2ee0047c9"/>
    <p:sldId xmlns:r="http://schemas.openxmlformats.org/officeDocument/2006/relationships" id="259" r:id="R351223df090e4619"/>
    <p:sldId xmlns:r="http://schemas.openxmlformats.org/officeDocument/2006/relationships" id="260" r:id="Rd3b5694072ab44e1"/>
    <p:sldId xmlns:r="http://schemas.openxmlformats.org/officeDocument/2006/relationships" id="261" r:id="Ra1351c0553e74d7f"/>
    <p:sldId xmlns:r="http://schemas.openxmlformats.org/officeDocument/2006/relationships" id="262" r:id="R4df43b4fb166468d"/>
    <p:sldId xmlns:r="http://schemas.openxmlformats.org/officeDocument/2006/relationships" id="263" r:id="R7f9934abe2304b49"/>
    <p:sldId xmlns:r="http://schemas.openxmlformats.org/officeDocument/2006/relationships" id="264" r:id="Rd4383f08ac204212"/>
    <p:sldId xmlns:r="http://schemas.openxmlformats.org/officeDocument/2006/relationships" id="265" r:id="Rda76fef3b2b447cc"/>
    <p:sldId xmlns:r="http://schemas.openxmlformats.org/officeDocument/2006/relationships" id="266" r:id="R0fdc60accb134ee7"/>
    <p:sldId xmlns:r="http://schemas.openxmlformats.org/officeDocument/2006/relationships" id="267" r:id="Rc50ceb2da5574c3e"/>
    <p:sldId xmlns:r="http://schemas.openxmlformats.org/officeDocument/2006/relationships" id="268" r:id="R3ea7d11a7bd94c5d"/>
    <p:sldId xmlns:r="http://schemas.openxmlformats.org/officeDocument/2006/relationships" id="269" r:id="R5afcbf06b303438c"/>
    <p:sldId xmlns:r="http://schemas.openxmlformats.org/officeDocument/2006/relationships" id="270" r:id="R9050dff7de124925"/>
    <p:sldId xmlns:r="http://schemas.openxmlformats.org/officeDocument/2006/relationships" id="271" r:id="R35c99952e5c54b3d"/>
    <p:sldId xmlns:r="http://schemas.openxmlformats.org/officeDocument/2006/relationships" id="272" r:id="R20d7f69f330b4184"/>
    <p:sldId xmlns:r="http://schemas.openxmlformats.org/officeDocument/2006/relationships" id="273" r:id="R2432828157254e37"/>
    <p:sldId xmlns:r="http://schemas.openxmlformats.org/officeDocument/2006/relationships" id="274" r:id="Rd5512a56f06c4211"/>
    <p:sldId xmlns:r="http://schemas.openxmlformats.org/officeDocument/2006/relationships" id="275" r:id="Ree1a5f91749f42bb"/>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3796b87e3534883" /><Relationship Type="http://schemas.openxmlformats.org/officeDocument/2006/relationships/slideMaster" Target="/ppt/slideMasters/slideMaster1.xml" Id="Rdc86b8554da74390" /><Relationship Type="http://schemas.openxmlformats.org/officeDocument/2006/relationships/notesMaster" Target="/ppt/notesMasters/notesMaster1.xml" Id="Rf4eb93bb396c4706" /><Relationship Type="http://schemas.openxmlformats.org/officeDocument/2006/relationships/presProps" Target="/ppt/presProps.xml" Id="R2d5d87be875044c5" /><Relationship Type="http://schemas.openxmlformats.org/officeDocument/2006/relationships/viewProps" Target="/ppt/viewProps.xml" Id="Rb0a9e090f4a04591" /><Relationship Type="http://schemas.openxmlformats.org/officeDocument/2006/relationships/tableStyles" Target="/ppt/tableStyles.xml" Id="R29d23fde096d4a45" /><Relationship Type="http://schemas.openxmlformats.org/officeDocument/2006/relationships/slide" Target="/ppt/slides/slide1.xml" Id="Rba0c8aeac4ff433a" /><Relationship Type="http://schemas.openxmlformats.org/officeDocument/2006/relationships/slide" Target="/ppt/slides/slide2.xml" Id="Rdd68ff5d12c443f9" /><Relationship Type="http://schemas.openxmlformats.org/officeDocument/2006/relationships/slide" Target="/ppt/slides/slide3.xml" Id="Ra0fba9b2ee0047c9" /><Relationship Type="http://schemas.openxmlformats.org/officeDocument/2006/relationships/slide" Target="/ppt/slides/slide4.xml" Id="R351223df090e4619" /><Relationship Type="http://schemas.openxmlformats.org/officeDocument/2006/relationships/slide" Target="/ppt/slides/slide5.xml" Id="Rd3b5694072ab44e1" /><Relationship Type="http://schemas.openxmlformats.org/officeDocument/2006/relationships/slide" Target="/ppt/slides/slide6.xml" Id="Ra1351c0553e74d7f" /><Relationship Type="http://schemas.openxmlformats.org/officeDocument/2006/relationships/slide" Target="/ppt/slides/slide7.xml" Id="R4df43b4fb166468d" /><Relationship Type="http://schemas.openxmlformats.org/officeDocument/2006/relationships/slide" Target="/ppt/slides/slide8.xml" Id="R7f9934abe2304b49" /><Relationship Type="http://schemas.openxmlformats.org/officeDocument/2006/relationships/slide" Target="/ppt/slides/slide9.xml" Id="Rd4383f08ac204212" /><Relationship Type="http://schemas.openxmlformats.org/officeDocument/2006/relationships/slide" Target="/ppt/slides/slide10.xml" Id="Rda76fef3b2b447cc" /><Relationship Type="http://schemas.openxmlformats.org/officeDocument/2006/relationships/slide" Target="/ppt/slides/slide11.xml" Id="R0fdc60accb134ee7" /><Relationship Type="http://schemas.openxmlformats.org/officeDocument/2006/relationships/slide" Target="/ppt/slides/slide12.xml" Id="Rc50ceb2da5574c3e" /><Relationship Type="http://schemas.openxmlformats.org/officeDocument/2006/relationships/slide" Target="/ppt/slides/slide13.xml" Id="R3ea7d11a7bd94c5d" /><Relationship Type="http://schemas.openxmlformats.org/officeDocument/2006/relationships/slide" Target="/ppt/slides/slide14.xml" Id="R5afcbf06b303438c" /><Relationship Type="http://schemas.openxmlformats.org/officeDocument/2006/relationships/slide" Target="/ppt/slides/slide15.xml" Id="R9050dff7de124925" /><Relationship Type="http://schemas.openxmlformats.org/officeDocument/2006/relationships/slide" Target="/ppt/slides/slide16.xml" Id="R35c99952e5c54b3d" /><Relationship Type="http://schemas.openxmlformats.org/officeDocument/2006/relationships/slide" Target="/ppt/slides/slide17.xml" Id="R20d7f69f330b4184" /><Relationship Type="http://schemas.openxmlformats.org/officeDocument/2006/relationships/slide" Target="/ppt/slides/slide18.xml" Id="R2432828157254e37" /><Relationship Type="http://schemas.openxmlformats.org/officeDocument/2006/relationships/slide" Target="/ppt/slides/slide19.xml" Id="Rd5512a56f06c4211" /><Relationship Type="http://schemas.openxmlformats.org/officeDocument/2006/relationships/slide" Target="/ppt/slides/slide20.xml" Id="Ree1a5f91749f42b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a6ccf7d67ee4c0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f8e022cd6d4ce2" /><Relationship Type="http://schemas.openxmlformats.org/officeDocument/2006/relationships/notesMaster" Target="/ppt/notesMasters/notesMaster1.xml" Id="R900fc6fd5d9e465f" /></Relationships>
</file>

<file path=ppt/notesSlides/_rels/notesSlide2.xml.rels>&#65279;<?xml version="1.0" encoding="utf-8"?><Relationships xmlns="http://schemas.openxmlformats.org/package/2006/relationships"><Relationship Type="http://schemas.openxmlformats.org/officeDocument/2006/relationships/slide" Target="/ppt/slides/slide2.xml" Id="R7765d9973eb64d53" /><Relationship Type="http://schemas.openxmlformats.org/officeDocument/2006/relationships/notesMaster" Target="/ppt/notesMasters/notesMaster1.xml" Id="Rf4ce8035f71d439e" /></Relationships>
</file>

<file path=ppt/notesSlides/_rels/notesSlide3.xml.rels>&#65279;<?xml version="1.0" encoding="utf-8"?><Relationships xmlns="http://schemas.openxmlformats.org/package/2006/relationships"><Relationship Type="http://schemas.openxmlformats.org/officeDocument/2006/relationships/slide" Target="/ppt/slides/slide3.xml" Id="Rc01ddd4abe0e4c38" /><Relationship Type="http://schemas.openxmlformats.org/officeDocument/2006/relationships/notesMaster" Target="/ppt/notesMasters/notesMaster1.xml" Id="R91444f24a8734d99"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2f6035a9f347ec" /><Relationship Type="http://schemas.openxmlformats.org/officeDocument/2006/relationships/notesMaster" Target="/ppt/notesMasters/notesMaster1.xml" Id="R0d343cac68624f99" /></Relationships>
</file>

<file path=ppt/notesSlides/_rels/notesSlide5.xml.rels>&#65279;<?xml version="1.0" encoding="utf-8"?><Relationships xmlns="http://schemas.openxmlformats.org/package/2006/relationships"><Relationship Type="http://schemas.openxmlformats.org/officeDocument/2006/relationships/slide" Target="/ppt/slides/slide5.xml" Id="R60b4a32c70d74e40" /><Relationship Type="http://schemas.openxmlformats.org/officeDocument/2006/relationships/notesMaster" Target="/ppt/notesMasters/notesMaster1.xml" Id="R859bc3d6e2fc4401" /></Relationships>
</file>

<file path=ppt/notesSlides/_rels/notesSlide6.xml.rels>&#65279;<?xml version="1.0" encoding="utf-8"?><Relationships xmlns="http://schemas.openxmlformats.org/package/2006/relationships"><Relationship Type="http://schemas.openxmlformats.org/officeDocument/2006/relationships/slide" Target="/ppt/slides/slide6.xml" Id="Rf57fa8e62b8f42b6" /><Relationship Type="http://schemas.openxmlformats.org/officeDocument/2006/relationships/notesMaster" Target="/ppt/notesMasters/notesMaster1.xml" Id="R994661dc09104193" /></Relationships>
</file>

<file path=ppt/notesSlides/_rels/notesSlide7.xml.rels>&#65279;<?xml version="1.0" encoding="utf-8"?><Relationships xmlns="http://schemas.openxmlformats.org/package/2006/relationships"><Relationship Type="http://schemas.openxmlformats.org/officeDocument/2006/relationships/slide" Target="/ppt/slides/slide7.xml" Id="R1c62a5b1c64740fb" /><Relationship Type="http://schemas.openxmlformats.org/officeDocument/2006/relationships/notesMaster" Target="/ppt/notesMasters/notesMaster1.xml" Id="R3a3305b8b4084c00" /></Relationships>
</file>

<file path=ppt/notesSlides/_rels/notesSlide8.xml.rels>&#65279;<?xml version="1.0" encoding="utf-8"?><Relationships xmlns="http://schemas.openxmlformats.org/package/2006/relationships"><Relationship Type="http://schemas.openxmlformats.org/officeDocument/2006/relationships/slide" Target="/ppt/slides/slide8.xml" Id="Rd527b1da925842de" /><Relationship Type="http://schemas.openxmlformats.org/officeDocument/2006/relationships/notesMaster" Target="/ppt/notesMasters/notesMaster1.xml" Id="Rd8a0b3a7d2964295" /></Relationships>
</file>

<file path=ppt/notesSlides/_rels/notesSlide9.xml.rels>&#65279;<?xml version="1.0" encoding="utf-8"?><Relationships xmlns="http://schemas.openxmlformats.org/package/2006/relationships"><Relationship Type="http://schemas.openxmlformats.org/officeDocument/2006/relationships/slide" Target="/ppt/slides/slide9.xml" Id="R3bd361ff73b04882" /><Relationship Type="http://schemas.openxmlformats.org/officeDocument/2006/relationships/notesMaster" Target="/ppt/notesMasters/notesMaster1.xml" Id="R0ed4218afaf74fa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7fb9715db0245fa" /><Relationship Type="http://schemas.openxmlformats.org/officeDocument/2006/relationships/notesMaster" Target="/ppt/notesMasters/notesMaster1.xml" Id="R7d022833913d461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40914c8f6cd4bc6" /><Relationship Type="http://schemas.openxmlformats.org/officeDocument/2006/relationships/notesMaster" Target="/ppt/notesMasters/notesMaster1.xml" Id="R77f71570aa124cd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220871c7dd94729" /><Relationship Type="http://schemas.openxmlformats.org/officeDocument/2006/relationships/notesMaster" Target="/ppt/notesMasters/notesMaster1.xml" Id="R230654772246471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d3c340c9da34c82" /><Relationship Type="http://schemas.openxmlformats.org/officeDocument/2006/relationships/notesMaster" Target="/ppt/notesMasters/notesMaster1.xml" Id="Rb5b1017330384ef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febcdd1bf7f4edb" /><Relationship Type="http://schemas.openxmlformats.org/officeDocument/2006/relationships/notesMaster" Target="/ppt/notesMasters/notesMaster1.xml" Id="R06341aad0da54d6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7a2da4e8edc46ee" /><Relationship Type="http://schemas.openxmlformats.org/officeDocument/2006/relationships/notesMaster" Target="/ppt/notesMasters/notesMaster1.xml" Id="R98899719bf3d4e2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28ed38a520145f1" /><Relationship Type="http://schemas.openxmlformats.org/officeDocument/2006/relationships/notesMaster" Target="/ppt/notesMasters/notesMaster1.xml" Id="R9c27d519924042e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c1bbc331c8949f0" /><Relationship Type="http://schemas.openxmlformats.org/officeDocument/2006/relationships/notesMaster" Target="/ppt/notesMasters/notesMaster1.xml" Id="R3b93b0934476466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e39a5bbb0cd45dd" /><Relationship Type="http://schemas.openxmlformats.org/officeDocument/2006/relationships/notesMaster" Target="/ppt/notesMasters/notesMaster1.xml" Id="R779dd995b04d4cc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71b326ec46942ea" /><Relationship Type="http://schemas.openxmlformats.org/officeDocument/2006/relationships/notesMaster" Target="/ppt/notesMasters/notesMaster1.xml" Id="R4476cbca192849c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680b2546a964f74" /><Relationship Type="http://schemas.openxmlformats.org/officeDocument/2006/relationships/notesMaster" Target="/ppt/notesMasters/notesMaster1.xml" Id="R95d834d6f2844bf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[Taha] One of these voices could be real and the other AI-generated. We’re Taha and Ward, and we ask whether a detector can recognize attacks it never saw during training.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[Ward] Modern voice clones can be difficult to detect by ear, which creates risks from vishing to voice-login bypass. The spectrograms are also visually similar. So our goal is not merely to classify examples from known generators; it is to detect synthetic speech from new generators that were absent during training.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[Taha] ASVspoof 2019 gives us a clean protocol for that question. Train and development contain six known attacks, A01 through A06. Evaluation contains thirteen different attacks, A07 through A19. Those evaluation attacks are not used for training, checkpoint selection, or threshold tuning, so the seen-to-unseen gap measures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[Ward] The eight runs come from two shared families, not eight unrelated architectures. The first uses LFCC or log-mel and one Light CNN trained from scratch, optionally with RawBoost. The second normalizes the waveform, freezes the original wav2vec2 encoder, then trains attentive pooling with a probe, LoRA, or DoRA. Most use weighted BCE; one uses OC-Softmax. The full eight-row map is in backup.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[Taha] LoRA keeps each pretrained weight frozen and learns a rank-eight update, alpha over r times B A. We place it in the query, key, value, and output projections of all twelve Transformer layers. That gives 589,824 adapter parameters; with pooling and the head, 0.59 million parameters—0.62 percent of the roughly 95-million-parameter detector—are trainable.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[Ward] This is the central result. The classical LCNN variants have seen-to-unseen EER gaps of 9.45 to 13.59 percentage points. Wav2vec2 with LoRA moves from 0.16 percent on seen attacks to 0.80 percent on unseen attacks: a 0.64-point gap. That is about fifteen times smaller than the strongest LCNN variant. These are single-seed, within-corpus results, so we treat the scale as evidence, not a confidence interval.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[Taha] The aggregate gap hides where the baseline fails. The LFCC CNN rises above twenty percent EER on A12, A13, A17, and A18, while wav2vec2 plus LoRA remains below 2.7 percent on every evaluation attack. This does not explain the mechanism, but it shows that the CNN’s failure is concentrated rather than uniform.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[Taha] The probe ablation is decisive. With the same frozen backbone, training only attentive pooling and the classifier gives 7.04 percent unseen EER; adding LoRA reduces it to 0.80 percent. So pretrained features alone are not enough in this setup—task-specific adaptation matters. DoRA ties LoRA after rounding. Removing RawBoost changes LoRA’s gap from 0.64 to 0.60 points, so one seed gives no evidence of a meaningful augmentation effect.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[Ward] This t-SNE is descriptive, not causal. Within ASVspoof evaluation, bona fide speech and unseen spoofs separate clearly in two dimensions. But t-SNE distorts geometry, and every spoof shown is unseen, so it cannot compare seen and unseen spoof clusters. Our scope is one seed, one base backbone, and one corpus; cross-corpus validation is the next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[Taha] Three conclusions. First, in this ASVspoof run, LoRA reduced the generalization gap from at least 9.45 points for the LCNNs to 0.64, with 0.59 million trainable parameters. Second, the 7.04-percent probe result shows that adaptation, not only pretraining, drove the gain. Third, this remains a detector score—not proof—and the single-seed, single-corpus result must be tested beyond ASVspoof. Thank you.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 not part of the timed talk.</a:t>
            </a:r>
          </a:p>
          <a:p xmlns:a="http://schemas.openxmlformats.org/drawingml/2006/main">
            <a:r>
              <a:t/>
            </a:r>
          </a:p>
          <a:p xmlns:a="http://schemas.openxmlformats.org/drawingml/2006/main">
            <a:r>
              <a:t>[Ward] The ROC view tells the same story within this corpus: LoRA reaches an AUC of 0.9996, compared with 0.952 for the log-mel CNN, and its BCE scores are strongly separated.</a:t>
            </a:r>
          </a:p>
          <a:p xmlns:a="http://schemas.openxmlformats.org/drawingml/2006/main">
            <a:r>
              <a:t/>
            </a:r>
          </a:p>
          <a:p xmlns:a="http://schemas.openxmlformats.org/drawingml/2006/main">
            <a:r>
              <a:t>The dashed line marks the EER condition FPR ≈ FNR, but the deployment threshold was not fixed here; EER is computed by sweeping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Do not present unless asked. Clarify that dropout is omitted from the BCE rows for visual space, and that the OC-Softmax model still constructs a linear head but the task loss ignores it, so it receives no task-loss gradient.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 not part of the timed talk.</a:t>
            </a:r>
          </a:p>
          <a:p xmlns:a="http://schemas.openxmlformats.org/drawingml/2006/main"/>
          <a:p xmlns:a="http://schemas.openxmlformats.org/drawingml/2006/main">
            <a:r>
              <a:t>The decision convention is higher score means bona fide. The EER threshold is the observed-score sweep point minimizing the absolute FRR/FAR difference; the implementation uses no interpolation and does not save τ_EER.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 not part of the timed talk.</a:t>
            </a:r>
          </a:p>
          <a:p xmlns:a="http://schemas.openxmlformats.org/drawingml/2006/main"/>
          <a:p xmlns:a="http://schemas.openxmlformats.org/drawingml/2006/main">
            <a:r>
              <a:t>ROC-AUC aggregates ranking over thresholds. It is not evidence that the embedding space is linearly separable, and it does not establish calibrated probabilities.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 not part of the timed talk.</a:t>
            </a:r>
          </a:p>
          <a:p xmlns:a="http://schemas.openxmlformats.org/drawingml/2006/main"/>
          <a:p xmlns:a="http://schemas.openxmlformats.org/drawingml/2006/main">
            <a:r>
              <a:t>Weighted BCE consumes the raw logit and applies its sigmoid internally; evaluation reports sigmoid(logit). OC-Softmax instead trains cosine similarity to one learned bona-fide center. Its margins are training parameters, not evaluation thresholds, and its task loss ignores the model's linear head.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 not part of the timed talk.</a:t>
            </a:r>
          </a:p>
          <a:p xmlns:a="http://schemas.openxmlformats.org/drawingml/2006/main"/>
          <a:p xmlns:a="http://schemas.openxmlformats.org/drawingml/2006/main">
            <a:r>
              <a:t>The displayed points are a 4,000-example evaluation sample from the wav2vec2 + LoRA + weighted-BCE experiment. Every spoof point belongs to unseen attacks A07–A19. The 2D layout is descriptive only because t-SNE distorts the original geometry.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asked: in every wav2vec2 experiment, the original wav2vec2 backbone is frozen. In the probe we train only attentive pooling and the classifier. In LoRA and DoRA we still freeze the original Q/K/V/O weights, but train small adapter updates attached to them. ASVspoof 2019 does not pretrain Q/K/V; it only trains the downstream detector components.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אם נשאלים: AdamW משתמש במומנט ראשון ושני וב-weight decay מופרד, ולכן הוא אינו vanilla SGD. הוא עדיין stochastic כי כל gradient מחושב מ-mini-batch אחרי shuffle. ב-wav2vec2 ה-batch הוא 16 ו-gradient accumulation של 2 נותן effective batch של 32. ה-pooling וה-head מתחילים כרכיבים חדשים ולכן קיבלו 5e-4, בעוד שה-adapters קיבלו 1e-4 כדי לשנות את הייצוג המאומן מראש באופן שמרני יותר. אלה בחירות תכנון מתועדות; לא ביצענו sweep ולכן איננו טוענים שהן אופטימליות. לפני כל optimizer step הקוד מבטל scaling של AMP, מבצע clipping בנורמה 1.0, ואז קורא ל-step.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אם נשאלים: SSL מתאר את שלב ה-pretraining המקורי של wav2vec2 על דיבור ללא תוויות; בפרויקט שלנו לא ביצענו את השלב הזה, אלא טעַנו checkpoint קיים ואימנו supervised על תוויות bona fide/spoof. MFM מקבל 2C ערוצים, מחלק לשתי קבוצות ובוחר max אלמנטרי מכל זוג; בניגוד ל-ReLU, זו תחרות בין שתי תכונות נלמדות ולא השוואה לאפס, ול-MFM עצמו אין פרמטרים. Dropout עם p=0.1 מאפס activations זמנית רק באימון. Seed 1234 משפיע על initialization, shuffle, crop, dropout ו-RawBoost; ריצה אחת אינה מספקת אומדן שונות.</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אם נשאלים: הראיה שלנו חזקה בתוך פרוטוקול ASVspoof 2019 LA, אבל ההיקף מוגבל. לכל configuration יש seed אחד בלבד, ולכן אין mean, standard deviation או confidence interval ואין בסיס לטעון שהפרשים קטנים כמו 0.76 מול 0.80 הם מובהקים. בדקנו רק facebook/wav2vec2-base, ולכן לא הראינו שהמסקנה בלתי תלויה ב-backbone. כל ה-splits באותו corpus; A07–A19 הם generator types שלא הופיעו באימון, אבל זו עדיין generalization בתוך corpus ולא cross-corpus robustness.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2970476f9e9475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43d6c4ac268462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7b4d5d8d7d640c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1cf60763760412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b21885ce8484a7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6bc53ecdf6542e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46c110b06d64b2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b05e6ce31a29409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19633c0d8b0d4ea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f19ddfe9c5054be8"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0eb62f57ded4885"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60C22B3-C1E5-4FE8-8BB2-4845D1ED3DD6}"/>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0C348974-4509-4183-B32D-6770A00FDBEC}"/>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6E33599F-2A36-4AC6-BECA-C3C2273D13F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7/21/2026</a:t>
            </a:fld>
          </a:p>
        </p:txBody>
      </p:sp>
      <p:sp>
        <p:nvSpPr>
          <p:cNvPr id="5" name="Footer Placeholder 4">
            <a:extLst xmlns:a="http://schemas.openxmlformats.org/drawingml/2006/main">
              <a:ext uri="{FF2B5EF4-FFF2-40B4-BE49-F238E27FC236}">
                <a16:creationId xmlns:a16="http://schemas.microsoft.com/office/drawing/2014/main" id="{61B527A6-B558-4819-B0B9-8BC141A7E33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B5FF4E92-DBEB-44F8-AD01-DC7705EEC1C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E820BCD-8A63-4317-9BA6-8FEC76BEB58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365CC42D-4922-47A7-9945-5E3F386616F6}"/>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C18C17CA-A2BA-4ADD-86C6-62D6AA93022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7/21/2026</a:t>
            </a:fld>
          </a:p>
        </p:txBody>
      </p:sp>
      <p:sp>
        <p:nvSpPr>
          <p:cNvPr id="5" name="Footer Placeholder 4">
            <a:extLst xmlns:a="http://schemas.openxmlformats.org/drawingml/2006/main">
              <a:ext uri="{FF2B5EF4-FFF2-40B4-BE49-F238E27FC236}">
                <a16:creationId xmlns:a16="http://schemas.microsoft.com/office/drawing/2014/main" id="{2042BB7F-B020-4130-806D-A8CDE06F8B6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8555391F-6631-4A95-BA00-1B4CD382059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BC55C3C-19D1-4197-B3DF-0073922C087F}"/>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4E4F4884-6D89-4B58-937A-B16AB2A2AD82}"/>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086B519E-C33D-4FF6-B02A-C527961BC91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7/21/2026</a:t>
            </a:fld>
          </a:p>
        </p:txBody>
      </p:sp>
      <p:sp>
        <p:nvSpPr>
          <p:cNvPr id="5" name="Footer Placeholder 4">
            <a:extLst xmlns:a="http://schemas.openxmlformats.org/drawingml/2006/main">
              <a:ext uri="{FF2B5EF4-FFF2-40B4-BE49-F238E27FC236}">
                <a16:creationId xmlns:a16="http://schemas.microsoft.com/office/drawing/2014/main" id="{29FA1BCD-9466-4D19-A1AC-6C315C9B529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2F1B477A-A4CC-4E65-85C5-450744F4842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DFCD582-3876-4734-9C30-C0C4F4ECEEC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F0E6A4E9-BA70-4740-9AF2-084026801D4C}"/>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Content Placeholder 3">
            <a:extLst xmlns:a="http://schemas.openxmlformats.org/drawingml/2006/main">
              <a:ext uri="{FF2B5EF4-FFF2-40B4-BE49-F238E27FC236}">
                <a16:creationId xmlns:a16="http://schemas.microsoft.com/office/drawing/2014/main" id="{2CE18313-CD52-48CA-8E1D-7785A3231FF4}"/>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5" name="Date Placeholder 4">
            <a:extLst xmlns:a="http://schemas.openxmlformats.org/drawingml/2006/main">
              <a:ext uri="{FF2B5EF4-FFF2-40B4-BE49-F238E27FC236}">
                <a16:creationId xmlns:a16="http://schemas.microsoft.com/office/drawing/2014/main" id="{8BE9AF24-F455-4ABB-A758-1F6439A1D6B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7/21/2026</a:t>
            </a:fld>
          </a:p>
        </p:txBody>
      </p:sp>
      <p:sp>
        <p:nvSpPr>
          <p:cNvPr id="6" name="Footer Placeholder 5">
            <a:extLst xmlns:a="http://schemas.openxmlformats.org/drawingml/2006/main">
              <a:ext uri="{FF2B5EF4-FFF2-40B4-BE49-F238E27FC236}">
                <a16:creationId xmlns:a16="http://schemas.microsoft.com/office/drawing/2014/main" id="{4C595D22-E8F0-48B5-ADDC-FF133D23F9E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52A8DCA8-EACB-4918-B6FC-1D15ACB818F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F7893AC-7372-4E2E-AFA3-F13D0E9CC6B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A9C77929-7192-4CFB-B1E7-CE152542D91E}"/>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8FF0F3EF-E414-4682-877D-51EF7AEBA73B}"/>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5" name="Text Placeholder 4">
            <a:extLst xmlns:a="http://schemas.openxmlformats.org/drawingml/2006/main">
              <a:ext uri="{FF2B5EF4-FFF2-40B4-BE49-F238E27FC236}">
                <a16:creationId xmlns:a16="http://schemas.microsoft.com/office/drawing/2014/main" id="{C8C47783-EAE1-47B4-BF7A-AE3EB4DA6B75}"/>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975B9C2E-7075-4561-BB39-DA40CFCA5629}"/>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7" name="Date Placeholder 6">
            <a:extLst xmlns:a="http://schemas.openxmlformats.org/drawingml/2006/main">
              <a:ext uri="{FF2B5EF4-FFF2-40B4-BE49-F238E27FC236}">
                <a16:creationId xmlns:a16="http://schemas.microsoft.com/office/drawing/2014/main" id="{4E6D01C3-92B8-4CB9-9B20-0A6D47B7CDC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7/21/2026</a:t>
            </a:fld>
          </a:p>
        </p:txBody>
      </p:sp>
      <p:sp>
        <p:nvSpPr>
          <p:cNvPr id="8" name="Footer Placeholder 7">
            <a:extLst xmlns:a="http://schemas.openxmlformats.org/drawingml/2006/main">
              <a:ext uri="{FF2B5EF4-FFF2-40B4-BE49-F238E27FC236}">
                <a16:creationId xmlns:a16="http://schemas.microsoft.com/office/drawing/2014/main" id="{9B644BC0-655E-41F4-BA8D-C0627FF9D4D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9" name="Slide Number Placeholder 8">
            <a:extLst xmlns:a="http://schemas.openxmlformats.org/drawingml/2006/main">
              <a:ext uri="{FF2B5EF4-FFF2-40B4-BE49-F238E27FC236}">
                <a16:creationId xmlns:a16="http://schemas.microsoft.com/office/drawing/2014/main" id="{23108605-602B-47A4-AC62-D9C5509F31F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060D934-284B-4F44-AC4C-AD8B6E6350E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6AA2966D-CE9C-4598-9A80-DA6D77ED5D8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7/21/2026</a:t>
            </a:fld>
          </a:p>
        </p:txBody>
      </p:sp>
      <p:sp>
        <p:nvSpPr>
          <p:cNvPr id="4" name="Footer Placeholder 3">
            <a:extLst xmlns:a="http://schemas.openxmlformats.org/drawingml/2006/main">
              <a:ext uri="{FF2B5EF4-FFF2-40B4-BE49-F238E27FC236}">
                <a16:creationId xmlns:a16="http://schemas.microsoft.com/office/drawing/2014/main" id="{001A9C83-87DC-4158-98EA-4C3B1BE51B6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4">
            <a:extLst xmlns:a="http://schemas.openxmlformats.org/drawingml/2006/main">
              <a:ext uri="{FF2B5EF4-FFF2-40B4-BE49-F238E27FC236}">
                <a16:creationId xmlns:a16="http://schemas.microsoft.com/office/drawing/2014/main" id="{4EA18AB5-34DC-4F37-9D20-9F30DF8786D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2AF0EBE4-3ABD-4653-8709-409F55CC9B4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7/21/2026</a:t>
            </a:fld>
          </a:p>
        </p:txBody>
      </p:sp>
      <p:sp>
        <p:nvSpPr>
          <p:cNvPr id="3" name="Footer Placeholder 2">
            <a:extLst xmlns:a="http://schemas.openxmlformats.org/drawingml/2006/main">
              <a:ext uri="{FF2B5EF4-FFF2-40B4-BE49-F238E27FC236}">
                <a16:creationId xmlns:a16="http://schemas.microsoft.com/office/drawing/2014/main" id="{8FC126E0-0047-4A8A-8786-267832BF942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4" name="Slide Number Placeholder 3">
            <a:extLst xmlns:a="http://schemas.openxmlformats.org/drawingml/2006/main">
              <a:ext uri="{FF2B5EF4-FFF2-40B4-BE49-F238E27FC236}">
                <a16:creationId xmlns:a16="http://schemas.microsoft.com/office/drawing/2014/main" id="{3685B80E-B199-401C-B04B-1D93682F631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CE40379-804B-4A6E-BB17-5F3673C31FDB}"/>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EC08999F-E6D0-4F2C-8412-E1725AAFD884}"/>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Text Placeholder 3">
            <a:extLst xmlns:a="http://schemas.openxmlformats.org/drawingml/2006/main">
              <a:ext uri="{FF2B5EF4-FFF2-40B4-BE49-F238E27FC236}">
                <a16:creationId xmlns:a16="http://schemas.microsoft.com/office/drawing/2014/main" id="{45F54D92-A7F1-4CAB-9D85-E38CA9EFDA3D}"/>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EA92951B-0BB4-4553-A368-F3AEFCBDABD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7/21/2026</a:t>
            </a:fld>
          </a:p>
        </p:txBody>
      </p:sp>
      <p:sp>
        <p:nvSpPr>
          <p:cNvPr id="6" name="Footer Placeholder 5">
            <a:extLst xmlns:a="http://schemas.openxmlformats.org/drawingml/2006/main">
              <a:ext uri="{FF2B5EF4-FFF2-40B4-BE49-F238E27FC236}">
                <a16:creationId xmlns:a16="http://schemas.microsoft.com/office/drawing/2014/main" id="{8EC31AB8-39E4-46FB-A7E4-DADAE10C978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64644436-17C5-4886-A216-AC40E9F2A6B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7E8A6A7-8153-46D7-88A7-D37DF0CA6C24}"/>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0B8DB861-0589-4394-847D-264E199044BB}"/>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p:txBody>
      </p:sp>
      <p:sp>
        <p:nvSpPr>
          <p:cNvPr id="4" name="Text Placeholder 3">
            <a:extLst xmlns:a="http://schemas.openxmlformats.org/drawingml/2006/main">
              <a:ext uri="{FF2B5EF4-FFF2-40B4-BE49-F238E27FC236}">
                <a16:creationId xmlns:a16="http://schemas.microsoft.com/office/drawing/2014/main" id="{7DC322E4-7B01-4BCB-AC34-5BA527BCB660}"/>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5873B451-7054-4D96-8846-2EA3DB189A6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7/21/2026</a:t>
            </a:fld>
          </a:p>
        </p:txBody>
      </p:sp>
      <p:sp>
        <p:nvSpPr>
          <p:cNvPr id="6" name="Footer Placeholder 5">
            <a:extLst xmlns:a="http://schemas.openxmlformats.org/drawingml/2006/main">
              <a:ext uri="{FF2B5EF4-FFF2-40B4-BE49-F238E27FC236}">
                <a16:creationId xmlns:a16="http://schemas.microsoft.com/office/drawing/2014/main" id="{A2E3651B-E711-4CB9-8DD5-63B9B16A32C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17F3C427-1DD3-41DA-9458-B57EDEBF782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2537BD2-70B5-4D4D-BE15-87DDD41DF7B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2CC1A95B-F526-4EDC-B7D1-9877B90913B2}"/>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B42C060D-2AF2-4E3D-B21C-0FABFFCBDF2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7/21/2026</a:t>
            </a:fld>
          </a:p>
        </p:txBody>
      </p:sp>
      <p:sp>
        <p:nvSpPr>
          <p:cNvPr id="5" name="Footer Placeholder 4">
            <a:extLst xmlns:a="http://schemas.openxmlformats.org/drawingml/2006/main">
              <a:ext uri="{FF2B5EF4-FFF2-40B4-BE49-F238E27FC236}">
                <a16:creationId xmlns:a16="http://schemas.microsoft.com/office/drawing/2014/main" id="{7ECB5EC0-B581-4528-9B58-2A13424B62A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4E1F53AD-0635-4DE6-A6EF-72449DE4616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7CE90476-BE4B-4C69-833D-46642A49D118}"/>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50D8CA47-CCE0-409E-9B51-8CE096EEF9B4}"/>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D7E11259-B986-47B6-BB5F-C21DA6A57E5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7/21/2026</a:t>
            </a:fld>
          </a:p>
        </p:txBody>
      </p:sp>
      <p:sp>
        <p:nvSpPr>
          <p:cNvPr id="5" name="Footer Placeholder 4">
            <a:extLst xmlns:a="http://schemas.openxmlformats.org/drawingml/2006/main">
              <a:ext uri="{FF2B5EF4-FFF2-40B4-BE49-F238E27FC236}">
                <a16:creationId xmlns:a16="http://schemas.microsoft.com/office/drawing/2014/main" id="{19BBA0D0-94C1-4E74-A6D4-F027A3A47AA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A0F93DB7-72B6-44BA-8C19-76CCEDA9F4B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17f4ca1bae047f0" /><Relationship Type="http://schemas.openxmlformats.org/officeDocument/2006/relationships/slideLayout" Target="/ppt/slideLayouts/slideLayout1.xml" Id="R950be8391bbb41a6" /><Relationship Type="http://schemas.openxmlformats.org/officeDocument/2006/relationships/slideLayout" Target="/ppt/slideLayouts/slideLayout2.xml" Id="Rdaf99ab1f8614e84" /><Relationship Type="http://schemas.openxmlformats.org/officeDocument/2006/relationships/slideLayout" Target="/ppt/slideLayouts/slideLayout3.xml" Id="R5a18a166a1fc4cc8" /><Relationship Type="http://schemas.openxmlformats.org/officeDocument/2006/relationships/slideLayout" Target="/ppt/slideLayouts/slideLayout4.xml" Id="R81063c671243499c" /><Relationship Type="http://schemas.openxmlformats.org/officeDocument/2006/relationships/slideLayout" Target="/ppt/slideLayouts/slideLayout5.xml" Id="Rd1ac6da6268c4fc8" /><Relationship Type="http://schemas.openxmlformats.org/officeDocument/2006/relationships/slideLayout" Target="/ppt/slideLayouts/slideLayout6.xml" Id="R1a99f34f225a4ee3" /><Relationship Type="http://schemas.openxmlformats.org/officeDocument/2006/relationships/slideLayout" Target="/ppt/slideLayouts/slideLayout7.xml" Id="R44f51ea068e147ac" /><Relationship Type="http://schemas.openxmlformats.org/officeDocument/2006/relationships/slideLayout" Target="/ppt/slideLayouts/slideLayout8.xml" Id="Rc555287045fb49f1" /><Relationship Type="http://schemas.openxmlformats.org/officeDocument/2006/relationships/slideLayout" Target="/ppt/slideLayouts/slideLayout9.xml" Id="Rcb031ebb8ec04386" /><Relationship Type="http://schemas.openxmlformats.org/officeDocument/2006/relationships/slideLayout" Target="/ppt/slideLayouts/slideLayout10.xml" Id="Raf216e87ffc44809" /><Relationship Type="http://schemas.openxmlformats.org/officeDocument/2006/relationships/slideLayout" Target="/ppt/slideLayouts/slideLayout11.xml" Id="Rfcd93b2ffc4a401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44C2D05A-169E-4AF6-953A-4EB47137C992}"/>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C441C220-E5FF-40AF-922B-CF525692DB21}"/>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EF5B6622-B3D8-48CE-9A24-268E00E06900}"/>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7/21/2026</a:t>
            </a:fld>
          </a:p>
        </p:txBody>
      </p:sp>
      <p:sp>
        <p:nvSpPr>
          <p:cNvPr id="5" name="Footer Placeholder 4">
            <a:extLst xmlns:a="http://schemas.openxmlformats.org/drawingml/2006/main">
              <a:ext uri="{FF2B5EF4-FFF2-40B4-BE49-F238E27FC236}">
                <a16:creationId xmlns:a16="http://schemas.microsoft.com/office/drawing/2014/main" id="{D66E359E-2A45-4B68-B3DF-4346C37B3AF3}"/>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D05D62D7-AFFB-4458-8750-ECEA729CD4D9}"/>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0be8391bbb41a6"/>
    <p:sldLayoutId xmlns:r="http://schemas.openxmlformats.org/officeDocument/2006/relationships" id="2147483650" r:id="Rdaf99ab1f8614e84"/>
    <p:sldLayoutId xmlns:r="http://schemas.openxmlformats.org/officeDocument/2006/relationships" id="2147483651" r:id="R5a18a166a1fc4cc8"/>
    <p:sldLayoutId xmlns:r="http://schemas.openxmlformats.org/officeDocument/2006/relationships" id="2147483652" r:id="R81063c671243499c"/>
    <p:sldLayoutId xmlns:r="http://schemas.openxmlformats.org/officeDocument/2006/relationships" id="2147483653" r:id="Rd1ac6da6268c4fc8"/>
    <p:sldLayoutId xmlns:r="http://schemas.openxmlformats.org/officeDocument/2006/relationships" id="2147483654" r:id="R1a99f34f225a4ee3"/>
    <p:sldLayoutId xmlns:r="http://schemas.openxmlformats.org/officeDocument/2006/relationships" id="2147483655" r:id="R44f51ea068e147ac"/>
    <p:sldLayoutId xmlns:r="http://schemas.openxmlformats.org/officeDocument/2006/relationships" id="2147483656" r:id="Rc555287045fb49f1"/>
    <p:sldLayoutId xmlns:r="http://schemas.openxmlformats.org/officeDocument/2006/relationships" id="2147483657" r:id="Rcb031ebb8ec04386"/>
    <p:sldLayoutId xmlns:r="http://schemas.openxmlformats.org/officeDocument/2006/relationships" id="2147483658" r:id="Raf216e87ffc44809"/>
    <p:sldLayoutId xmlns:r="http://schemas.openxmlformats.org/officeDocument/2006/relationships" id="2147483659" r:id="Rfcd93b2ffc4a401f"/>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3cc51147751d4ab2" /><Relationship Type="http://schemas.openxmlformats.org/officeDocument/2006/relationships/notesSlide" Target="/ppt/notesSlides/notesSlide1.xml" Id="Rc188207069984e90"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877a7da4113249d6" /><Relationship Type="http://schemas.openxmlformats.org/officeDocument/2006/relationships/image" Target="/ppt/media/image.png" Id="R59823fa199584ae8" /><Relationship Type="http://schemas.openxmlformats.org/officeDocument/2006/relationships/notesSlide" Target="/ppt/notesSlides/notesSlide2.xml" Id="Rcf3eacc824c544b3"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577c156648e04a08" /><Relationship Type="http://schemas.openxmlformats.org/officeDocument/2006/relationships/notesSlide" Target="/ppt/notesSlides/notesSlide3.xml" Id="R2d4c5fa699354ed4"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69f9ba06ab8e4f3d" /><Relationship Type="http://schemas.openxmlformats.org/officeDocument/2006/relationships/image" Target="/ppt/media/image2.png" Id="Ra2b76b7d7bfd49d9" /><Relationship Type="http://schemas.openxmlformats.org/officeDocument/2006/relationships/notesSlide" Target="/ppt/notesSlides/notesSlide4.xml" Id="R58295aa523ce46b5"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70929d57a8c34c3e" /><Relationship Type="http://schemas.openxmlformats.org/officeDocument/2006/relationships/notesSlide" Target="/ppt/notesSlides/notesSlide5.xml" Id="R7659e1c3f7eb4fc7"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313769d9139e4045" /><Relationship Type="http://schemas.openxmlformats.org/officeDocument/2006/relationships/image" Target="/ppt/media/image3.png" Id="R61320b1acaa84a1a" /><Relationship Type="http://schemas.openxmlformats.org/officeDocument/2006/relationships/notesSlide" Target="/ppt/notesSlides/notesSlide6.xml" Id="R7d996f3a16aa4927"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a2cde57c5dfa4fdb" /><Relationship Type="http://schemas.openxmlformats.org/officeDocument/2006/relationships/image" Target="/ppt/media/image4.png" Id="Rc8ec24fa05274219" /><Relationship Type="http://schemas.openxmlformats.org/officeDocument/2006/relationships/notesSlide" Target="/ppt/notesSlides/notesSlide7.xml" Id="Rd3e4610db4d74062"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9a6e8075c5854d0f" /><Relationship Type="http://schemas.openxmlformats.org/officeDocument/2006/relationships/notesSlide" Target="/ppt/notesSlides/notesSlide8.xml" Id="Rd012bd123be84875"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771cd8ea27664768" /><Relationship Type="http://schemas.openxmlformats.org/officeDocument/2006/relationships/image" Target="/ppt/media/image5.png" Id="Rcc385b1ef4d14409" /><Relationship Type="http://schemas.openxmlformats.org/officeDocument/2006/relationships/notesSlide" Target="/ppt/notesSlides/notesSlide9.xml" Id="R0c2d7611591241f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584309cf418d41aa" /><Relationship Type="http://schemas.openxmlformats.org/officeDocument/2006/relationships/notesSlide" Target="/ppt/notesSlides/notesSlide10.xml" Id="R084be48701614d1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46c9e79a96ec4456" /><Relationship Type="http://schemas.openxmlformats.org/officeDocument/2006/relationships/image" Target="/ppt/media/image6.png" Id="R895ea4e49ff34b9c" /><Relationship Type="http://schemas.openxmlformats.org/officeDocument/2006/relationships/notesSlide" Target="/ppt/notesSlides/notesSlide11.xml" Id="R1a8b05bc2129448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ef57c8e716a14c77" /><Relationship Type="http://schemas.openxmlformats.org/officeDocument/2006/relationships/image" Target="/ppt/media/image7.png" Id="R3881aca1e69b43a9" /><Relationship Type="http://schemas.openxmlformats.org/officeDocument/2006/relationships/notesSlide" Target="/ppt/notesSlides/notesSlide12.xml" Id="R82c9dba2b0e1449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1dee6f3138cd49c6" /><Relationship Type="http://schemas.openxmlformats.org/officeDocument/2006/relationships/notesSlide" Target="/ppt/notesSlides/notesSlide13.xml" Id="R6dbaf40162034f4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b2c629c235d5420f" /><Relationship Type="http://schemas.openxmlformats.org/officeDocument/2006/relationships/notesSlide" Target="/ppt/notesSlides/notesSlide14.xml" Id="R05e6714207e6471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9de708688a074212" /><Relationship Type="http://schemas.openxmlformats.org/officeDocument/2006/relationships/notesSlide" Target="/ppt/notesSlides/notesSlide15.xml" Id="Rd151089ad431461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94cbc963914e4a33" /><Relationship Type="http://schemas.openxmlformats.org/officeDocument/2006/relationships/image" Target="/ppt/media/image5.png" Id="R231e0c29435c4320" /><Relationship Type="http://schemas.openxmlformats.org/officeDocument/2006/relationships/notesSlide" Target="/ppt/notesSlides/notesSlide16.xml" Id="Rc85a3224956342d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54089ae72eb641b1" /><Relationship Type="http://schemas.openxmlformats.org/officeDocument/2006/relationships/notesSlide" Target="/ppt/notesSlides/notesSlide17.xml" Id="R85c0f56e9cea4fd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78f2d2cdce074545" /><Relationship Type="http://schemas.openxmlformats.org/officeDocument/2006/relationships/notesSlide" Target="/ppt/notesSlides/notesSlide18.xml" Id="R3c2c47d1926a496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5f3cbb9e1611413b" /><Relationship Type="http://schemas.openxmlformats.org/officeDocument/2006/relationships/notesSlide" Target="/ppt/notesSlides/notesSlide19.xml" Id="Rea1a29413e18448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b6bcedf6bcef498f" /><Relationship Type="http://schemas.openxmlformats.org/officeDocument/2006/relationships/notesSlide" Target="/ppt/notesSlides/notesSlide20.xml" Id="R1aab8b74bc124b10" /></Relationships>
</file>

<file path=ppt/slides/slide1.xml><?xml version="1.0" encoding="utf-8"?>
<p:sld xmlns:p="http://schemas.openxmlformats.org/presentationml/2006/main">
  <p:cSld>
    <p:bg>
      <p:bgPr>
        <a:solidFill xmlns:a="http://schemas.openxmlformats.org/drawingml/2006/main">
          <a:srgbClr val="0B1F3A"/>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00AEB0B5-92DF-4B38-BEF0-A2B7644DC213}"/>
              </a:ext>
            </a:extLst>
          </p:cNvPr>
          <p:cNvSpPr>
            <a:spLocks xmlns:a="http://schemas.openxmlformats.org/drawingml/2006/main" noGrp="1"/>
          </p:cNvSpPr>
          <p:nvPr/>
        </p:nvSpPr>
        <p:spPr>
          <a:xfrm xmlns:a="http://schemas.openxmlformats.org/drawingml/2006/main">
            <a:off x="749808" y="2395728"/>
            <a:ext cx="128016" cy="2331720"/>
          </a:xfrm>
          <a:prstGeom xmlns:a="http://schemas.openxmlformats.org/drawingml/2006/main" prst="rect">
            <a:avLst/>
          </a:prstGeom>
          <a:solidFill xmlns:a="http://schemas.openxmlformats.org/drawingml/2006/main">
            <a:srgbClr val="0066C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1BB27730-4561-48A3-B028-99D79346ACA6}"/>
              </a:ext>
            </a:extLst>
          </p:cNvPr>
          <p:cNvSpPr>
            <a:spLocks xmlns:a="http://schemas.openxmlformats.org/drawingml/2006/main" noGrp="1"/>
          </p:cNvSpPr>
          <p:nvPr/>
        </p:nvSpPr>
        <p:spPr>
          <a:xfrm xmlns:a="http://schemas.openxmlformats.org/drawingml/2006/main">
            <a:off x="1051560" y="2331720"/>
            <a:ext cx="10332720" cy="274320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spcAft>
                <a:spcPts val="800"/>
              </a:spcAft>
              <a:buNone/>
            </a:pPr>
            <a:r>
              <a:rPr sz="4800" b="1">
                <a:solidFill>
                  <a:srgbClr val="FFFFFF"/>
                </a:solidFill>
                <a:latin typeface="Segoe UI Semibold"/>
                <a:ea typeface="Segoe UI Semibold"/>
                <a:cs typeface="Segoe UI Semibold"/>
              </a:rPr>
              <a:t>Fake It Till You Make It</a:t>
            </a:r>
          </a:p>
          <a:p xmlns:a="http://schemas.openxmlformats.org/drawingml/2006/main">
            <a:pPr algn="l">
              <a:spcAft>
                <a:spcPts val="3000"/>
              </a:spcAft>
              <a:buNone/>
            </a:pPr>
            <a:r>
              <a:rPr sz="2500" b="0">
                <a:solidFill>
                  <a:srgbClr val="C9DAF0"/>
                </a:solidFill>
                <a:latin typeface="Segoe UI Light"/>
                <a:ea typeface="Segoe UI Light"/>
                <a:cs typeface="Segoe UI Light"/>
              </a:rPr>
              <a:t>Generalizable Detection of AI-Generated Speech</a:t>
            </a:r>
          </a:p>
          <a:p xmlns:a="http://schemas.openxmlformats.org/drawingml/2006/main">
            <a:pPr algn="l">
              <a:spcAft>
                <a:spcPts val="400"/>
              </a:spcAft>
              <a:buNone/>
            </a:pPr>
            <a:r>
              <a:rPr sz="2000" b="0">
                <a:solidFill>
                  <a:srgbClr val="FFFFFF"/>
                </a:solidFill>
                <a:latin typeface="Segoe UI Light"/>
                <a:ea typeface="Segoe UI Light"/>
                <a:cs typeface="Segoe UI Light"/>
              </a:rPr>
              <a:t>Taha Taha   ·   Ward Iroq</a:t>
            </a:r>
          </a:p>
          <a:p xmlns:a="http://schemas.openxmlformats.org/drawingml/2006/main">
            <a:pPr algn="l">
              <a:spcAft>
                <a:spcPts val="1000"/>
              </a:spcAft>
              <a:buNone/>
            </a:pPr>
            <a:r>
              <a:rPr sz="1500" b="0">
                <a:solidFill>
                  <a:srgbClr val="C9DAF0"/>
                </a:solidFill>
                <a:latin typeface="Segoe UI Light"/>
                <a:ea typeface="Segoe UI Light"/>
                <a:cs typeface="Segoe UI Light"/>
              </a:rPr>
              <a:t>00460217 Deep Learning   ·   Technion   ·   Supervisor: Roy</a:t>
            </a:r>
          </a:p>
        </p:txBody>
      </p:sp>
    </p:spTree>
    <p:extLst>
      <p:ext uri="{BB962C8B-B14F-4D97-AF65-F5344CB8AC3E}">
        <p14:creationId xmlns:p14="http://schemas.microsoft.com/office/powerpoint/2010/main" val="78099294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5F802F7D-F6DC-4C49-8675-FE0DB480AC7E}"/>
              </a:ext>
            </a:extLst>
          </p:cNvPr>
          <p:cNvSpPr>
            <a:spLocks xmlns:a="http://schemas.openxmlformats.org/drawingml/2006/main" noGrp="1"/>
          </p:cNvSpPr>
          <p:nvPr/>
        </p:nvSpPr>
        <p:spPr>
          <a:xfrm xmlns:a="http://schemas.openxmlformats.org/drawingml/2006/main">
            <a:off x="841248" y="603504"/>
            <a:ext cx="457200" cy="45720"/>
          </a:xfrm>
          <a:prstGeom xmlns:a="http://schemas.openxmlformats.org/drawingml/2006/main" prst="rect">
            <a:avLst/>
          </a:prstGeom>
          <a:solidFill xmlns:a="http://schemas.openxmlformats.org/drawingml/2006/main">
            <a:srgbClr val="0066C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00348B45-49FE-4E16-A351-3CCE9E6E1076}"/>
              </a:ext>
            </a:extLst>
          </p:cNvPr>
          <p:cNvSpPr>
            <a:spLocks xmlns:a="http://schemas.openxmlformats.org/drawingml/2006/main" noGrp="1"/>
          </p:cNvSpPr>
          <p:nvPr/>
        </p:nvSpPr>
        <p:spPr>
          <a:xfrm xmlns:a="http://schemas.openxmlformats.org/drawingml/2006/main">
            <a:off x="822960" y="749808"/>
            <a:ext cx="10515600" cy="864339"/>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spcAft>
                <a:spcPts val="500"/>
              </a:spcAft>
              <a:buNone/>
            </a:pPr>
            <a:r>
              <a:rPr sz="1300" b="1">
                <a:solidFill>
                  <a:srgbClr val="0066CC"/>
                </a:solidFill>
                <a:latin typeface="Segoe UI Semibold"/>
                <a:ea typeface="Segoe UI Semibold"/>
                <a:cs typeface="Segoe UI Semibold"/>
              </a:rPr>
              <a:t>THE PROBLEM</a:t>
            </a:r>
          </a:p>
          <a:p xmlns:a="http://schemas.openxmlformats.org/drawingml/2006/main">
            <a:pPr algn="l">
              <a:spcAft>
                <a:spcPts val="1000"/>
              </a:spcAft>
              <a:buNone/>
            </a:pPr>
            <a:r>
              <a:rPr sz="3300" b="1">
                <a:solidFill>
                  <a:srgbClr val="1D1D1F"/>
                </a:solidFill>
                <a:latin typeface="Segoe UI Semibold"/>
                <a:ea typeface="Segoe UI Semibold"/>
                <a:cs typeface="Segoe UI Semibold"/>
              </a:rPr>
              <a:t>Voice clones can fool people</a:t>
            </a:r>
            <a:r>
              <a:rPr sz="3300" b="1">
                <a:solidFill>
                  <a:srgbClr val="1D1D1F"/>
                </a:solidFill>
                <a:latin typeface="Segoe UI Semibold"/>
                <a:ea typeface="Segoe UI Semibold"/>
                <a:cs typeface="Segoe UI Semibold"/>
              </a:rPr>
              <a:t> </a:t>
            </a:r>
            <a:r>
              <a:rPr sz="3300" b="1">
                <a:solidFill>
                  <a:srgbClr val="1D1D1F"/>
                </a:solidFill>
                <a:latin typeface="Segoe UI Semibold"/>
                <a:ea typeface="Segoe UI Semibold"/>
                <a:cs typeface="Segoe UI Semibold"/>
              </a:rPr>
              <a:t>and detectors</a:t>
            </a:r>
          </a:p>
        </p:txBody>
      </p:sp>
      <p:sp>
        <p:nvSpPr>
          <p:cNvPr id="4" name="TextBox 3">
            <a:extLst xmlns:a="http://schemas.openxmlformats.org/drawingml/2006/main">
              <a:ext uri="{FF2B5EF4-FFF2-40B4-BE49-F238E27FC236}">
                <a16:creationId xmlns:a16="http://schemas.microsoft.com/office/drawing/2014/main" id="{A62B232D-B0CD-41A3-969F-7E07EAE31987}"/>
              </a:ext>
            </a:extLst>
          </p:cNvPr>
          <p:cNvSpPr>
            <a:spLocks xmlns:a="http://schemas.openxmlformats.org/drawingml/2006/main" noGrp="1"/>
          </p:cNvSpPr>
          <p:nvPr/>
        </p:nvSpPr>
        <p:spPr>
          <a:xfrm xmlns:a="http://schemas.openxmlformats.org/drawingml/2006/main">
            <a:off x="822960" y="6419088"/>
            <a:ext cx="731520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spcAft>
                <a:spcPts val="1000"/>
              </a:spcAft>
              <a:buNone/>
            </a:pPr>
            <a:r>
              <a:rPr sz="1000" b="0">
                <a:solidFill>
                  <a:srgbClr val="A1A1A6"/>
                </a:solidFill>
                <a:latin typeface="Segoe UI Light"/>
                <a:ea typeface="Segoe UI Light"/>
                <a:cs typeface="Segoe UI Light"/>
              </a:rPr>
              <a:t>Fake It Till You Make It  ·  00460217 Deep Learning</a:t>
            </a:r>
          </a:p>
        </p:txBody>
      </p:sp>
      <p:sp>
        <p:nvSpPr>
          <p:cNvPr id="5" name="TextBox 4">
            <a:extLst xmlns:a="http://schemas.openxmlformats.org/drawingml/2006/main">
              <a:ext uri="{FF2B5EF4-FFF2-40B4-BE49-F238E27FC236}">
                <a16:creationId xmlns:a16="http://schemas.microsoft.com/office/drawing/2014/main" id="{62CE9926-B785-4BEC-9E35-3B3B8AF497FE}"/>
              </a:ext>
            </a:extLst>
          </p:cNvPr>
          <p:cNvSpPr>
            <a:spLocks xmlns:a="http://schemas.openxmlformats.org/drawingml/2006/main" noGrp="1"/>
          </p:cNvSpPr>
          <p:nvPr/>
        </p:nvSpPr>
        <p:spPr>
          <a:xfrm xmlns:a="http://schemas.openxmlformats.org/drawingml/2006/main">
            <a:off x="10607040" y="6419088"/>
            <a:ext cx="82296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spcAft>
                <a:spcPts val="1000"/>
              </a:spcAft>
              <a:buNone/>
            </a:pPr>
            <a:r>
              <a:rPr sz="1000" b="0">
                <a:solidFill>
                  <a:srgbClr val="A1A1A6"/>
                </a:solidFill>
                <a:latin typeface="Segoe UI Light"/>
                <a:ea typeface="Segoe UI Light"/>
                <a:cs typeface="Segoe UI Light"/>
              </a:rPr>
              <a:t>01</a:t>
            </a:r>
          </a:p>
        </p:txBody>
      </p:sp>
      <p:sp>
        <p:nvSpPr>
          <p:cNvPr id="6" name="TextBox 5">
            <a:extLst xmlns:a="http://schemas.openxmlformats.org/drawingml/2006/main">
              <a:ext uri="{FF2B5EF4-FFF2-40B4-BE49-F238E27FC236}">
                <a16:creationId xmlns:a16="http://schemas.microsoft.com/office/drawing/2014/main" id="{CF53AC08-3705-40C5-B9B0-FF3BC58B21E8}"/>
              </a:ext>
            </a:extLst>
          </p:cNvPr>
          <p:cNvSpPr>
            <a:spLocks xmlns:a="http://schemas.openxmlformats.org/drawingml/2006/main" noGrp="1"/>
          </p:cNvSpPr>
          <p:nvPr/>
        </p:nvSpPr>
        <p:spPr>
          <a:xfrm xmlns:a="http://schemas.openxmlformats.org/drawingml/2006/main">
            <a:off x="868680" y="2057400"/>
            <a:ext cx="10424160" cy="715581"/>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spcAft>
                <a:spcPts val="300"/>
              </a:spcAft>
              <a:buNone/>
            </a:pPr>
            <a:r>
              <a:rPr sz="1900" b="0">
                <a:solidFill>
                  <a:srgbClr val="6E6E73"/>
                </a:solidFill>
                <a:latin typeface="Segoe UI Light"/>
                <a:ea typeface="Segoe UI Light"/>
                <a:cs typeface="Segoe UI Light"/>
              </a:rPr>
              <a:t>Modern voice clones can be difficult to detect by ear</a:t>
            </a:r>
            <a:r>
              <a:rPr sz="1900" b="0">
                <a:solidFill>
                  <a:srgbClr val="6E6E73"/>
                </a:solidFill>
                <a:latin typeface="Segoe UI Light"/>
                <a:ea typeface="Segoe UI Light"/>
                <a:cs typeface="Segoe UI Light"/>
              </a:rPr>
              <a:t> </a:t>
            </a:r>
            <a:r>
              <a:rPr sz="1900" b="0">
                <a:solidFill>
                  <a:srgbClr val="6E6E73"/>
                </a:solidFill>
                <a:latin typeface="Segoe UI Light"/>
                <a:ea typeface="Segoe UI Light"/>
                <a:cs typeface="Segoe UI Light"/>
              </a:rPr>
              <a:t>creating risks from vishing,</a:t>
            </a:r>
          </a:p>
          <a:p xmlns:a="http://schemas.openxmlformats.org/drawingml/2006/main">
            <a:pPr algn="l">
              <a:spcAft>
                <a:spcPts val="1000"/>
              </a:spcAft>
              <a:buNone/>
            </a:pPr>
            <a:r>
              <a:rPr sz="1900" b="0">
                <a:solidFill>
                  <a:srgbClr val="6E6E73"/>
                </a:solidFill>
                <a:latin typeface="Segoe UI Light"/>
                <a:ea typeface="Segoe UI Light"/>
                <a:cs typeface="Segoe UI Light"/>
              </a:rPr>
              <a:t>fabricated audio, and voice-login bypass.</a:t>
            </a:r>
          </a:p>
        </p:txBody>
      </p:sp>
      <p:pic>
        <p:nvPicPr>
          <p:cNvPr id="15" name="Picture 6"/>
          <p:cNvPicPr>
            <a:picLocks xmlns:a="http://schemas.openxmlformats.org/drawingml/2006/main" noChangeAspect="1"/>
          </p:cNvPicPr>
          <p:nvPr/>
        </p:nvPicPr>
        <p:blipFill>
          <a:blip xmlns:r="http://schemas.openxmlformats.org/officeDocument/2006/relationships" xmlns:a="http://schemas.openxmlformats.org/drawingml/2006/main" r:embed="R59823fa199584ae8"/>
          <a:stretch xmlns:a="http://schemas.openxmlformats.org/drawingml/2006/main">
            <a:fillRect l="0" t="0" r="0" b="0"/>
          </a:stretch>
        </p:blipFill>
        <p:spPr>
          <a:xfrm xmlns:a="http://schemas.openxmlformats.org/drawingml/2006/main">
            <a:off x="2124075" y="3009900"/>
            <a:ext cx="7943850" cy="2857500"/>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6A3CBEFE-E782-473F-A00F-58D5896B8B66}"/>
              </a:ext>
            </a:extLst>
          </p:cNvPr>
          <p:cNvSpPr>
            <a:spLocks xmlns:a="http://schemas.openxmlformats.org/drawingml/2006/main" noGrp="1"/>
          </p:cNvSpPr>
          <p:nvPr/>
        </p:nvSpPr>
        <p:spPr>
          <a:xfrm xmlns:a="http://schemas.openxmlformats.org/drawingml/2006/main">
            <a:off x="868680" y="5943600"/>
            <a:ext cx="10424160" cy="45720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spcAft>
                <a:spcPts val="1000"/>
              </a:spcAft>
              <a:buNone/>
            </a:pPr>
            <a:r>
              <a:rPr sz="1400" b="0">
                <a:solidFill>
                  <a:srgbClr val="1D1D1F"/>
                </a:solidFill>
                <a:latin typeface="Segoe UI Light"/>
                <a:ea typeface="Segoe UI Light"/>
                <a:cs typeface="Segoe UI Light"/>
              </a:rPr>
              <a:t>The spectrograms look similar. Can a detector generalize to attacks it never saw?</a:t>
            </a:r>
          </a:p>
        </p:txBody>
      </p:sp>
    </p:spTree>
    <p:extLst>
      <p:ext uri="{BB962C8B-B14F-4D97-AF65-F5344CB8AC3E}">
        <p14:creationId xmlns:p14="http://schemas.microsoft.com/office/powerpoint/2010/main" val="47553192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164E587E-A0B5-4905-A283-0BFC583CA08B}"/>
              </a:ext>
            </a:extLst>
          </p:cNvPr>
          <p:cNvSpPr>
            <a:spLocks xmlns:a="http://schemas.openxmlformats.org/drawingml/2006/main" noGrp="1"/>
          </p:cNvSpPr>
          <p:nvPr/>
        </p:nvSpPr>
        <p:spPr>
          <a:xfrm xmlns:a="http://schemas.openxmlformats.org/drawingml/2006/main">
            <a:off x="841248" y="603504"/>
            <a:ext cx="457200" cy="45720"/>
          </a:xfrm>
          <a:prstGeom xmlns:a="http://schemas.openxmlformats.org/drawingml/2006/main" prst="rect">
            <a:avLst/>
          </a:prstGeom>
          <a:solidFill xmlns:a="http://schemas.openxmlformats.org/drawingml/2006/main">
            <a:srgbClr val="0066C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D687A46C-94C2-4327-9ADE-ED1565716D3F}"/>
              </a:ext>
            </a:extLst>
          </p:cNvPr>
          <p:cNvSpPr>
            <a:spLocks xmlns:a="http://schemas.openxmlformats.org/drawingml/2006/main" noGrp="1"/>
          </p:cNvSpPr>
          <p:nvPr/>
        </p:nvSpPr>
        <p:spPr>
          <a:xfrm xmlns:a="http://schemas.openxmlformats.org/drawingml/2006/main">
            <a:off x="822960" y="749808"/>
            <a:ext cx="10515600" cy="155448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spcAft>
                <a:spcPts val="500"/>
              </a:spcAft>
              <a:buNone/>
            </a:pPr>
            <a:r>
              <a:rPr sz="1300" b="1">
                <a:solidFill>
                  <a:srgbClr val="0066CC"/>
                </a:solidFill>
                <a:latin typeface="Segoe UI Semibold"/>
                <a:ea typeface="Segoe UI Semibold"/>
                <a:cs typeface="Segoe UI Semibold"/>
              </a:rPr>
              <a:t>RESEARCH QUESTION</a:t>
            </a:r>
          </a:p>
          <a:p xmlns:a="http://schemas.openxmlformats.org/drawingml/2006/main">
            <a:pPr algn="l">
              <a:spcAft>
                <a:spcPts val="1000"/>
              </a:spcAft>
              <a:buNone/>
            </a:pPr>
            <a:r>
              <a:rPr sz="3300" b="1">
                <a:solidFill>
                  <a:srgbClr val="1D1D1F"/>
                </a:solidFill>
                <a:latin typeface="Segoe UI Semibold"/>
                <a:ea typeface="Segoe UI Semibold"/>
                <a:cs typeface="Segoe UI Semibold"/>
              </a:rPr>
              <a:t>We measure generalization, not just accuracy</a:t>
            </a:r>
          </a:p>
        </p:txBody>
      </p:sp>
      <p:sp>
        <p:nvSpPr>
          <p:cNvPr id="4" name="TextBox 3">
            <a:extLst xmlns:a="http://schemas.openxmlformats.org/drawingml/2006/main">
              <a:ext uri="{FF2B5EF4-FFF2-40B4-BE49-F238E27FC236}">
                <a16:creationId xmlns:a16="http://schemas.microsoft.com/office/drawing/2014/main" id="{E0727F88-189B-4C1A-8263-399F0329616A}"/>
              </a:ext>
            </a:extLst>
          </p:cNvPr>
          <p:cNvSpPr>
            <a:spLocks xmlns:a="http://schemas.openxmlformats.org/drawingml/2006/main" noGrp="1"/>
          </p:cNvSpPr>
          <p:nvPr/>
        </p:nvSpPr>
        <p:spPr>
          <a:xfrm xmlns:a="http://schemas.openxmlformats.org/drawingml/2006/main">
            <a:off x="822960" y="6419088"/>
            <a:ext cx="731520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spcAft>
                <a:spcPts val="1000"/>
              </a:spcAft>
              <a:buNone/>
            </a:pPr>
            <a:r>
              <a:rPr sz="1000" b="0">
                <a:solidFill>
                  <a:srgbClr val="A1A1A6"/>
                </a:solidFill>
                <a:latin typeface="Segoe UI Light"/>
                <a:ea typeface="Segoe UI Light"/>
                <a:cs typeface="Segoe UI Light"/>
              </a:rPr>
              <a:t>Fake It Till You Make It  ·  00460217 Deep Learning</a:t>
            </a:r>
          </a:p>
        </p:txBody>
      </p:sp>
      <p:sp>
        <p:nvSpPr>
          <p:cNvPr id="5" name="TextBox 4">
            <a:extLst xmlns:a="http://schemas.openxmlformats.org/drawingml/2006/main">
              <a:ext uri="{FF2B5EF4-FFF2-40B4-BE49-F238E27FC236}">
                <a16:creationId xmlns:a16="http://schemas.microsoft.com/office/drawing/2014/main" id="{EA39EF1F-072D-4CBA-88E9-87CB83FE3629}"/>
              </a:ext>
            </a:extLst>
          </p:cNvPr>
          <p:cNvSpPr>
            <a:spLocks xmlns:a="http://schemas.openxmlformats.org/drawingml/2006/main" noGrp="1"/>
          </p:cNvSpPr>
          <p:nvPr/>
        </p:nvSpPr>
        <p:spPr>
          <a:xfrm xmlns:a="http://schemas.openxmlformats.org/drawingml/2006/main">
            <a:off x="10607040" y="6419088"/>
            <a:ext cx="82296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spcAft>
                <a:spcPts val="1000"/>
              </a:spcAft>
              <a:buNone/>
            </a:pPr>
            <a:r>
              <a:rPr sz="1000" b="0">
                <a:solidFill>
                  <a:srgbClr val="A1A1A6"/>
                </a:solidFill>
                <a:latin typeface="Segoe UI Light"/>
                <a:ea typeface="Segoe UI Light"/>
                <a:cs typeface="Segoe UI Light"/>
              </a:rPr>
              <a:t>02</a:t>
            </a:r>
          </a:p>
        </p:txBody>
      </p:sp>
      <p:sp>
        <p:nvSpPr>
          <p:cNvPr id="6" name="Rounded Rectangle 5">
            <a:extLst xmlns:a="http://schemas.openxmlformats.org/drawingml/2006/main">
              <a:ext uri="{FF2B5EF4-FFF2-40B4-BE49-F238E27FC236}">
                <a16:creationId xmlns:a16="http://schemas.microsoft.com/office/drawing/2014/main" id="{0FBA9F43-3201-4C19-8C1B-0F1A976F09AB}"/>
              </a:ext>
            </a:extLst>
          </p:cNvPr>
          <p:cNvSpPr>
            <a:spLocks xmlns:a="http://schemas.openxmlformats.org/drawingml/2006/main" noGrp="1"/>
          </p:cNvSpPr>
          <p:nvPr/>
        </p:nvSpPr>
        <p:spPr>
          <a:xfrm xmlns:a="http://schemas.openxmlformats.org/drawingml/2006/main">
            <a:off x="1280160" y="2743200"/>
            <a:ext cx="3931920" cy="1737360"/>
          </a:xfrm>
          <a:prstGeom xmlns:a="http://schemas.openxmlformats.org/drawingml/2006/main" prst="roundRect">
            <a:avLst/>
          </a:prstGeom>
          <a:solidFill xmlns:a="http://schemas.openxmlformats.org/drawingml/2006/main">
            <a:srgbClr val="FFFFFF"/>
          </a:solidFill>
          <a:ln xmlns:a="http://schemas.openxmlformats.org/drawingml/2006/main" w="20320">
            <a:solidFill>
              <a:srgbClr val="1D1D1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spcAft>
                <a:spcPts val="600"/>
              </a:spcAft>
              <a:buNone/>
            </a:pPr>
            <a:r>
              <a:rPr sz="2200" b="1">
                <a:solidFill>
                  <a:srgbClr val="1D1D1F"/>
                </a:solidFill>
                <a:latin typeface="Segoe UI Semibold"/>
                <a:ea typeface="Segoe UI Semibold"/>
                <a:cs typeface="Segoe UI Semibold"/>
              </a:rPr>
              <a:t>Train</a:t>
            </a:r>
            <a:r>
              <a:rPr sz="2200" b="1">
                <a:solidFill>
                  <a:srgbClr val="1D1D1F"/>
                </a:solidFill>
                <a:latin typeface="Segoe UI Semibold"/>
                <a:ea typeface="Segoe UI Semibold"/>
                <a:cs typeface="Segoe UI Semibold"/>
              </a:rPr>
              <a:t>ing</a:t>
            </a:r>
          </a:p>
          <a:p xmlns:a="http://schemas.openxmlformats.org/drawingml/2006/main">
            <a:pPr algn="ctr">
              <a:spcAft>
                <a:spcPts val="1000"/>
              </a:spcAft>
              <a:buNone/>
            </a:pPr>
            <a:r>
              <a:rPr sz="1500" b="0">
                <a:solidFill>
                  <a:srgbClr val="6E6E73"/>
                </a:solidFill>
                <a:latin typeface="Segoe UI Light"/>
                <a:ea typeface="Segoe UI Light"/>
                <a:cs typeface="Segoe UI Light"/>
              </a:rPr>
              <a:t>6 known attacks</a:t>
            </a:r>
            <a:br/>
            <a:r>
              <a:t>A01–A06 (seen)</a:t>
            </a:r>
          </a:p>
        </p:txBody>
      </p:sp>
      <p:sp>
        <p:nvSpPr>
          <p:cNvPr id="7" name="Rounded Rectangle 6">
            <a:extLst xmlns:a="http://schemas.openxmlformats.org/drawingml/2006/main">
              <a:ext uri="{FF2B5EF4-FFF2-40B4-BE49-F238E27FC236}">
                <a16:creationId xmlns:a16="http://schemas.microsoft.com/office/drawing/2014/main" id="{F7F41323-B232-424E-AE5A-B47C1B602400}"/>
              </a:ext>
            </a:extLst>
          </p:cNvPr>
          <p:cNvSpPr>
            <a:spLocks xmlns:a="http://schemas.openxmlformats.org/drawingml/2006/main" noGrp="1"/>
          </p:cNvSpPr>
          <p:nvPr/>
        </p:nvSpPr>
        <p:spPr>
          <a:xfrm xmlns:a="http://schemas.openxmlformats.org/drawingml/2006/main">
            <a:off x="6949440" y="2743200"/>
            <a:ext cx="3931920" cy="1737360"/>
          </a:xfrm>
          <a:prstGeom xmlns:a="http://schemas.openxmlformats.org/drawingml/2006/main" prst="roundRect">
            <a:avLst/>
          </a:prstGeom>
          <a:solidFill xmlns:a="http://schemas.openxmlformats.org/drawingml/2006/main">
            <a:srgbClr val="FFFFFF"/>
          </a:solidFill>
          <a:ln xmlns:a="http://schemas.openxmlformats.org/drawingml/2006/main" w="20320">
            <a:solidFill>
              <a:srgbClr val="0066C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spcAft>
                <a:spcPts val="600"/>
              </a:spcAft>
              <a:buNone/>
            </a:pPr>
            <a:r>
              <a:rPr sz="2200" b="1">
                <a:solidFill>
                  <a:srgbClr val="0066CC"/>
                </a:solidFill>
                <a:latin typeface="Segoe UI Semibold"/>
                <a:ea typeface="Segoe UI Semibold"/>
                <a:cs typeface="Segoe UI Semibold"/>
              </a:rPr>
              <a:t>Evaluation</a:t>
            </a:r>
          </a:p>
          <a:p xmlns:a="http://schemas.openxmlformats.org/drawingml/2006/main">
            <a:pPr algn="ctr">
              <a:spcAft>
                <a:spcPts val="1000"/>
              </a:spcAft>
              <a:buNone/>
            </a:pPr>
            <a:r>
              <a:rPr sz="1500" b="0">
                <a:solidFill>
                  <a:srgbClr val="6E6E73"/>
                </a:solidFill>
                <a:latin typeface="Segoe UI Light"/>
                <a:ea typeface="Segoe UI Light"/>
                <a:cs typeface="Segoe UI Light"/>
              </a:rPr>
              <a:t>13 different attacks</a:t>
            </a:r>
            <a:br/>
            <a:r>
              <a:t>A07–A19 (UNSEEN)</a:t>
            </a:r>
          </a:p>
        </p:txBody>
      </p:sp>
      <p:sp>
        <p:nvSpPr>
          <p:cNvPr id="8" name="Can 7">
            <a:extLst xmlns:a="http://schemas.openxmlformats.org/drawingml/2006/main">
              <a:ext uri="{FF2B5EF4-FFF2-40B4-BE49-F238E27FC236}">
                <a16:creationId xmlns:a16="http://schemas.microsoft.com/office/drawing/2014/main" id="{12478331-3AC8-4E91-A347-A377C54A6CA0}"/>
              </a:ext>
            </a:extLst>
          </p:cNvPr>
          <p:cNvSpPr>
            <a:spLocks xmlns:a="http://schemas.openxmlformats.org/drawingml/2006/main" noGrp="1"/>
          </p:cNvSpPr>
          <p:nvPr/>
        </p:nvSpPr>
        <p:spPr>
          <a:xfrm xmlns:a="http://schemas.openxmlformats.org/drawingml/2006/main">
            <a:off x="5394960" y="3401568"/>
            <a:ext cx="1371600" cy="420624"/>
          </a:xfrm>
          <a:prstGeom xmlns:a="http://schemas.openxmlformats.org/drawingml/2006/main" prst="can">
            <a:avLst/>
          </a:prstGeom>
          <a:solidFill xmlns:a="http://schemas.openxmlformats.org/drawingml/2006/main">
            <a:srgbClr val="A1A1A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669A2C94-0330-452A-942E-6EF97DEEF30F}"/>
              </a:ext>
            </a:extLst>
          </p:cNvPr>
          <p:cNvSpPr>
            <a:spLocks xmlns:a="http://schemas.openxmlformats.org/drawingml/2006/main" noGrp="1"/>
          </p:cNvSpPr>
          <p:nvPr/>
        </p:nvSpPr>
        <p:spPr>
          <a:xfrm xmlns:a="http://schemas.openxmlformats.org/drawingml/2006/main">
            <a:off x="868680" y="4937760"/>
            <a:ext cx="10424160" cy="646331"/>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spcAft>
                <a:spcPts val="1000"/>
              </a:spcAft>
              <a:buNone/>
            </a:pPr>
            <a:r>
              <a:rPr sz="1800" b="0">
                <a:solidFill>
                  <a:srgbClr val="6E6E73"/>
                </a:solidFill>
                <a:latin typeface="Segoe UI Light"/>
                <a:ea typeface="Segoe UI Light"/>
                <a:cs typeface="Segoe UI Light"/>
              </a:rPr>
              <a:t>ASVspoof</a:t>
            </a:r>
            <a:r>
              <a:rPr sz="1800" b="0">
                <a:solidFill>
                  <a:srgbClr val="6E6E73"/>
                </a:solidFill>
                <a:latin typeface="Segoe UI Light"/>
                <a:ea typeface="Segoe UI Light"/>
                <a:cs typeface="Segoe UI Light"/>
              </a:rPr>
              <a:t> 2019 LA is built for this: the seen/unseen split is the official protocol  no manual splitting, no leakage.</a:t>
            </a:r>
          </a:p>
        </p:txBody>
      </p:sp>
    </p:spTree>
    <p:extLst>
      <p:ext uri="{BB962C8B-B14F-4D97-AF65-F5344CB8AC3E}">
        <p14:creationId xmlns:p14="http://schemas.microsoft.com/office/powerpoint/2010/main" val="64717060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E94094E-8E46-4911-81E0-D6F5D8F90004}"/>
              </a:ext>
            </a:extLst>
          </p:cNvPr>
          <p:cNvSpPr>
            <a:spLocks xmlns:a="http://schemas.openxmlformats.org/drawingml/2006/main" noGrp="1"/>
          </p:cNvSpPr>
          <p:nvPr/>
        </p:nvSpPr>
        <p:spPr>
          <a:xfrm xmlns:a="http://schemas.openxmlformats.org/drawingml/2006/main">
            <a:off x="841248" y="603504"/>
            <a:ext cx="457200" cy="45720"/>
          </a:xfrm>
          <a:prstGeom xmlns:a="http://schemas.openxmlformats.org/drawingml/2006/main" prst="rect">
            <a:avLst/>
          </a:prstGeom>
          <a:solidFill xmlns:a="http://schemas.openxmlformats.org/drawingml/2006/main">
            <a:srgbClr val="0066C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649AC99D-E634-4A95-8A2A-D3B6012A70F6}"/>
              </a:ext>
            </a:extLst>
          </p:cNvPr>
          <p:cNvSpPr>
            <a:spLocks xmlns:a="http://schemas.openxmlformats.org/drawingml/2006/main" noGrp="1"/>
          </p:cNvSpPr>
          <p:nvPr/>
        </p:nvSpPr>
        <p:spPr>
          <a:xfrm xmlns:a="http://schemas.openxmlformats.org/drawingml/2006/main">
            <a:off x="822960" y="749808"/>
            <a:ext cx="10515600" cy="155448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spcAft>
                <a:spcPts val="500"/>
              </a:spcAft>
              <a:buNone/>
            </a:pPr>
            <a:r>
              <a:rPr sz="1300" b="1">
                <a:solidFill>
                  <a:srgbClr val="0066CC"/>
                </a:solidFill>
                <a:latin typeface="Segoe UI Semibold"/>
                <a:ea typeface="Segoe UI Semibold"/>
                <a:cs typeface="Segoe UI Semibold"/>
              </a:rPr>
              <a:t>METHOD</a:t>
            </a:r>
          </a:p>
          <a:p xmlns:a="http://schemas.openxmlformats.org/drawingml/2006/main">
            <a:pPr algn="l">
              <a:spcAft>
                <a:spcPts val="1000"/>
              </a:spcAft>
              <a:buNone/>
            </a:pPr>
            <a:r>
              <a:rPr sz="3300" b="1">
                <a:solidFill>
                  <a:srgbClr val="1D1D1F"/>
                </a:solidFill>
                <a:latin typeface="Segoe UI Semibold"/>
                <a:ea typeface="Segoe UI Semibold"/>
                <a:cs typeface="Segoe UI Semibold"/>
              </a:rPr>
              <a:t>Two families produce all eight configurations</a:t>
            </a:r>
          </a:p>
        </p:txBody>
      </p:sp>
      <p:sp>
        <p:nvSpPr>
          <p:cNvPr id="4" name="TextBox 3">
            <a:extLst xmlns:a="http://schemas.openxmlformats.org/drawingml/2006/main">
              <a:ext uri="{FF2B5EF4-FFF2-40B4-BE49-F238E27FC236}">
                <a16:creationId xmlns:a16="http://schemas.microsoft.com/office/drawing/2014/main" id="{8917BD7E-00AA-4043-A5D0-31EF6D0BD364}"/>
              </a:ext>
            </a:extLst>
          </p:cNvPr>
          <p:cNvSpPr>
            <a:spLocks xmlns:a="http://schemas.openxmlformats.org/drawingml/2006/main" noGrp="1"/>
          </p:cNvSpPr>
          <p:nvPr/>
        </p:nvSpPr>
        <p:spPr>
          <a:xfrm xmlns:a="http://schemas.openxmlformats.org/drawingml/2006/main">
            <a:off x="822960" y="6419088"/>
            <a:ext cx="731520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spcAft>
                <a:spcPts val="1000"/>
              </a:spcAft>
              <a:buNone/>
            </a:pPr>
            <a:r>
              <a:rPr sz="1000" b="0">
                <a:solidFill>
                  <a:srgbClr val="A1A1A6"/>
                </a:solidFill>
                <a:latin typeface="Segoe UI Light"/>
                <a:ea typeface="Segoe UI Light"/>
                <a:cs typeface="Segoe UI Light"/>
              </a:rPr>
              <a:t>Fake It Till You Make It  ·  00460217 Deep Learning</a:t>
            </a:r>
          </a:p>
        </p:txBody>
      </p:sp>
      <p:sp>
        <p:nvSpPr>
          <p:cNvPr id="5" name="TextBox 4">
            <a:extLst xmlns:a="http://schemas.openxmlformats.org/drawingml/2006/main">
              <a:ext uri="{FF2B5EF4-FFF2-40B4-BE49-F238E27FC236}">
                <a16:creationId xmlns:a16="http://schemas.microsoft.com/office/drawing/2014/main" id="{C4257AE8-8BC9-4DB8-9B0F-CB5E121C7E18}"/>
              </a:ext>
            </a:extLst>
          </p:cNvPr>
          <p:cNvSpPr>
            <a:spLocks xmlns:a="http://schemas.openxmlformats.org/drawingml/2006/main" noGrp="1"/>
          </p:cNvSpPr>
          <p:nvPr/>
        </p:nvSpPr>
        <p:spPr>
          <a:xfrm xmlns:a="http://schemas.openxmlformats.org/drawingml/2006/main">
            <a:off x="10607040" y="6419088"/>
            <a:ext cx="82296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spcAft>
                <a:spcPts val="1000"/>
              </a:spcAft>
              <a:buNone/>
            </a:pPr>
            <a:r>
              <a:rPr sz="1000" b="0">
                <a:solidFill>
                  <a:srgbClr val="A1A1A6"/>
                </a:solidFill>
                <a:latin typeface="Segoe UI Light"/>
                <a:ea typeface="Segoe UI Light"/>
                <a:cs typeface="Segoe UI Light"/>
              </a:rPr>
              <a:t>03</a:t>
            </a:r>
          </a:p>
        </p:txBody>
      </p:sp>
      <p:pic>
        <p:nvPicPr>
          <p:cNvPr id="13" name="Picture 5"/>
          <p:cNvPicPr>
            <a:picLocks xmlns:a="http://schemas.openxmlformats.org/drawingml/2006/main" noChangeAspect="1"/>
          </p:cNvPicPr>
          <p:nvPr/>
        </p:nvPicPr>
        <p:blipFill>
          <a:blip xmlns:r="http://schemas.openxmlformats.org/officeDocument/2006/relationships" xmlns:a="http://schemas.openxmlformats.org/drawingml/2006/main" r:embed="Ra2b76b7d7bfd49d9"/>
          <a:stretch xmlns:a="http://schemas.openxmlformats.org/drawingml/2006/main">
            <a:fillRect l="0" t="0" r="0" b="0"/>
          </a:stretch>
        </p:blipFill>
        <p:spPr>
          <a:xfrm xmlns:a="http://schemas.openxmlformats.org/drawingml/2006/main">
            <a:off x="2928313" y="1965960"/>
            <a:ext cx="6335069" cy="3977639"/>
          </a:xfrm>
          <a:prstGeom xmlns:a="http://schemas.openxmlformats.org/drawingml/2006/main" prst="rect">
            <a:avLst/>
          </a:prstGeom>
        </p:spPr>
      </p:pic>
      <p:sp>
        <p:nvSpPr>
          <p:cNvPr id="7" name="TextBox 6">
            <a:extLst xmlns:a="http://schemas.openxmlformats.org/drawingml/2006/main">
              <a:ext uri="{FF2B5EF4-FFF2-40B4-BE49-F238E27FC236}">
                <a16:creationId xmlns:a16="http://schemas.microsoft.com/office/drawing/2014/main" id="{655DF6BA-E23F-4793-BE32-AC1332FA510A}"/>
              </a:ext>
            </a:extLst>
          </p:cNvPr>
          <p:cNvSpPr>
            <a:spLocks xmlns:a="http://schemas.openxmlformats.org/drawingml/2006/main" noGrp="1"/>
          </p:cNvSpPr>
          <p:nvPr/>
        </p:nvSpPr>
        <p:spPr>
          <a:xfrm xmlns:a="http://schemas.openxmlformats.org/drawingml/2006/main">
            <a:off x="868680" y="5989320"/>
            <a:ext cx="10424160" cy="45720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spcAft>
                <a:spcPts val="1000"/>
              </a:spcAft>
              <a:buNone/>
            </a:pPr>
            <a:r>
              <a:rPr sz="1400" b="0">
                <a:solidFill>
                  <a:srgbClr val="6E6E73"/>
                </a:solidFill>
                <a:latin typeface="Segoe UI Light"/>
                <a:ea typeface="Segoe UI Light"/>
                <a:cs typeface="Segoe UI Light"/>
              </a:rPr>
              <a:t>8 configs: LCNN {LFCC, log-mel, +RawBoost} · wav2vec2 {probe, LoRA ±RawBoost, DoRA, OC-Softmax}</a:t>
            </a:r>
          </a:p>
        </p:txBody>
      </p:sp>
    </p:spTree>
    <p:extLst>
      <p:ext uri="{BB962C8B-B14F-4D97-AF65-F5344CB8AC3E}">
        <p14:creationId xmlns:p14="http://schemas.microsoft.com/office/powerpoint/2010/main" val="66486124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D08198F-8681-4532-85B0-DB71033BDA67}"/>
              </a:ext>
            </a:extLst>
          </p:cNvPr>
          <p:cNvSpPr>
            <a:spLocks xmlns:a="http://schemas.openxmlformats.org/drawingml/2006/main" noGrp="1"/>
          </p:cNvSpPr>
          <p:nvPr/>
        </p:nvSpPr>
        <p:spPr>
          <a:xfrm xmlns:a="http://schemas.openxmlformats.org/drawingml/2006/main">
            <a:off x="841248" y="603504"/>
            <a:ext cx="457200" cy="45720"/>
          </a:xfrm>
          <a:prstGeom xmlns:a="http://schemas.openxmlformats.org/drawingml/2006/main" prst="rect">
            <a:avLst/>
          </a:prstGeom>
          <a:solidFill xmlns:a="http://schemas.openxmlformats.org/drawingml/2006/main">
            <a:srgbClr val="0066C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B2271EA7-4847-43DB-BADB-0DC5A4DB76E9}"/>
              </a:ext>
            </a:extLst>
          </p:cNvPr>
          <p:cNvSpPr>
            <a:spLocks xmlns:a="http://schemas.openxmlformats.org/drawingml/2006/main" noGrp="1"/>
          </p:cNvSpPr>
          <p:nvPr/>
        </p:nvSpPr>
        <p:spPr>
          <a:xfrm xmlns:a="http://schemas.openxmlformats.org/drawingml/2006/main">
            <a:off x="822960" y="749808"/>
            <a:ext cx="10515600" cy="155448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spcAft>
                <a:spcPts val="500"/>
              </a:spcAft>
              <a:buNone/>
            </a:pPr>
            <a:r>
              <a:rPr sz="1300" b="1">
                <a:solidFill>
                  <a:srgbClr val="0066CC"/>
                </a:solidFill>
                <a:latin typeface="Segoe UI Semibold"/>
                <a:ea typeface="Segoe UI Semibold"/>
                <a:cs typeface="Segoe UI Semibold"/>
              </a:rPr>
              <a:t>THE KEY IDEA</a:t>
            </a:r>
          </a:p>
          <a:p xmlns:a="http://schemas.openxmlformats.org/drawingml/2006/main">
            <a:pPr algn="l">
              <a:spcAft>
                <a:spcPts val="1000"/>
              </a:spcAft>
              <a:buNone/>
            </a:pPr>
            <a:r>
              <a:rPr sz="3300" b="1">
                <a:solidFill>
                  <a:srgbClr val="1D1D1F"/>
                </a:solidFill>
                <a:latin typeface="Segoe UI Semibold"/>
                <a:ea typeface="Segoe UI Semibold"/>
                <a:cs typeface="Segoe UI Semibold"/>
              </a:rPr>
              <a:t>LoRA adapts attention with 0.62% trainable</a:t>
            </a:r>
          </a:p>
        </p:txBody>
      </p:sp>
      <p:sp>
        <p:nvSpPr>
          <p:cNvPr id="4" name="TextBox 3">
            <a:extLst xmlns:a="http://schemas.openxmlformats.org/drawingml/2006/main">
              <a:ext uri="{FF2B5EF4-FFF2-40B4-BE49-F238E27FC236}">
                <a16:creationId xmlns:a16="http://schemas.microsoft.com/office/drawing/2014/main" id="{D87D673C-0A96-49AA-A9DF-D7282EC45D15}"/>
              </a:ext>
            </a:extLst>
          </p:cNvPr>
          <p:cNvSpPr>
            <a:spLocks xmlns:a="http://schemas.openxmlformats.org/drawingml/2006/main" noGrp="1"/>
          </p:cNvSpPr>
          <p:nvPr/>
        </p:nvSpPr>
        <p:spPr>
          <a:xfrm xmlns:a="http://schemas.openxmlformats.org/drawingml/2006/main">
            <a:off x="822960" y="6419088"/>
            <a:ext cx="731520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spcAft>
                <a:spcPts val="1000"/>
              </a:spcAft>
              <a:buNone/>
            </a:pPr>
            <a:r>
              <a:rPr sz="1000" b="0">
                <a:solidFill>
                  <a:srgbClr val="A1A1A6"/>
                </a:solidFill>
                <a:latin typeface="Segoe UI Light"/>
                <a:ea typeface="Segoe UI Light"/>
                <a:cs typeface="Segoe UI Light"/>
              </a:rPr>
              <a:t>Fake It Till You Make It  ·  00460217 Deep Learning</a:t>
            </a:r>
          </a:p>
        </p:txBody>
      </p:sp>
      <p:sp>
        <p:nvSpPr>
          <p:cNvPr id="5" name="TextBox 4">
            <a:extLst xmlns:a="http://schemas.openxmlformats.org/drawingml/2006/main">
              <a:ext uri="{FF2B5EF4-FFF2-40B4-BE49-F238E27FC236}">
                <a16:creationId xmlns:a16="http://schemas.microsoft.com/office/drawing/2014/main" id="{0D5C91BD-90B5-4400-9256-1DB78B604363}"/>
              </a:ext>
            </a:extLst>
          </p:cNvPr>
          <p:cNvSpPr>
            <a:spLocks xmlns:a="http://schemas.openxmlformats.org/drawingml/2006/main" noGrp="1"/>
          </p:cNvSpPr>
          <p:nvPr/>
        </p:nvSpPr>
        <p:spPr>
          <a:xfrm xmlns:a="http://schemas.openxmlformats.org/drawingml/2006/main">
            <a:off x="10607040" y="6419088"/>
            <a:ext cx="82296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spcAft>
                <a:spcPts val="1000"/>
              </a:spcAft>
              <a:buNone/>
            </a:pPr>
            <a:r>
              <a:rPr sz="1000" b="0">
                <a:solidFill>
                  <a:srgbClr val="A1A1A6"/>
                </a:solidFill>
                <a:latin typeface="Segoe UI Light"/>
                <a:ea typeface="Segoe UI Light"/>
                <a:cs typeface="Segoe UI Light"/>
              </a:rPr>
              <a:t>04</a:t>
            </a:r>
          </a:p>
        </p:txBody>
      </p:sp>
      <p:sp>
        <p:nvSpPr>
          <p:cNvPr id="6" name="Rounded Rectangle 5">
            <a:extLst xmlns:a="http://schemas.openxmlformats.org/drawingml/2006/main">
              <a:ext uri="{FF2B5EF4-FFF2-40B4-BE49-F238E27FC236}">
                <a16:creationId xmlns:a16="http://schemas.microsoft.com/office/drawing/2014/main" id="{585DCC94-9079-47A6-927F-409E240DCD0B}"/>
              </a:ext>
            </a:extLst>
          </p:cNvPr>
          <p:cNvSpPr>
            <a:spLocks xmlns:a="http://schemas.openxmlformats.org/drawingml/2006/main" noGrp="1"/>
          </p:cNvSpPr>
          <p:nvPr/>
        </p:nvSpPr>
        <p:spPr>
          <a:xfrm xmlns:a="http://schemas.openxmlformats.org/drawingml/2006/main">
            <a:off x="2194560" y="2286000"/>
            <a:ext cx="7772400" cy="1051560"/>
          </a:xfrm>
          <a:prstGeom xmlns:a="http://schemas.openxmlformats.org/drawingml/2006/main" prst="roundRect">
            <a:avLst/>
          </a:prstGeom>
          <a:solidFill xmlns:a="http://schemas.openxmlformats.org/drawingml/2006/main">
            <a:srgbClr val="F2F6FC"/>
          </a:solidFill>
          <a:ln xmlns:a="http://schemas.openxmlformats.org/drawingml/2006/main" w="15240">
            <a:solidFill>
              <a:srgbClr val="0066C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Aft>
                <a:spcPts val="1000"/>
              </a:spcAft>
              <a:buNone/>
            </a:pPr>
            <a:r>
              <a:rPr sz="3400" b="1">
                <a:solidFill>
                  <a:srgbClr val="1D1D1F"/>
                </a:solidFill>
                <a:latin typeface="Cambria Math"/>
                <a:ea typeface="Cambria Math"/>
                <a:cs typeface="Cambria Math"/>
              </a:rPr>
              <a:t>W  =  W₀  +  (α / r) · B A</a:t>
            </a:r>
          </a:p>
        </p:txBody>
      </p:sp>
      <p:sp>
        <p:nvSpPr>
          <p:cNvPr id="7" name="TextBox 6">
            <a:extLst xmlns:a="http://schemas.openxmlformats.org/drawingml/2006/main">
              <a:ext uri="{FF2B5EF4-FFF2-40B4-BE49-F238E27FC236}">
                <a16:creationId xmlns:a16="http://schemas.microsoft.com/office/drawing/2014/main" id="{810F4D01-DC14-4821-B085-B70E0B83C333}"/>
              </a:ext>
            </a:extLst>
          </p:cNvPr>
          <p:cNvSpPr>
            <a:spLocks xmlns:a="http://schemas.openxmlformats.org/drawingml/2006/main" noGrp="1"/>
          </p:cNvSpPr>
          <p:nvPr/>
        </p:nvSpPr>
        <p:spPr>
          <a:xfrm xmlns:a="http://schemas.openxmlformats.org/drawingml/2006/main">
            <a:off x="868680" y="3749039"/>
            <a:ext cx="10424160" cy="384048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spcAft>
                <a:spcPts val="1200"/>
              </a:spcAft>
              <a:buNone/>
            </a:pPr>
            <a:r>
              <a:rPr sz="2000" b="0">
                <a:solidFill>
                  <a:srgbClr val="6E6E73"/>
                </a:solidFill>
                <a:latin typeface="Segoe UI Light"/>
                <a:ea typeface="Segoe UI Light"/>
                <a:cs typeface="Segoe UI Light"/>
              </a:rPr>
              <a:t>Backbone weights remain frozen; only rank-8 LoRA matrices are trained.</a:t>
            </a:r>
          </a:p>
          <a:p xmlns:a="http://schemas.openxmlformats.org/drawingml/2006/main">
            <a:pPr algn="l">
              <a:spcAft>
                <a:spcPts val="1200"/>
              </a:spcAft>
              <a:buNone/>
            </a:pPr>
            <a:r>
              <a:rPr sz="2000" b="0">
                <a:solidFill>
                  <a:srgbClr val="6E6E73"/>
                </a:solidFill>
                <a:latin typeface="Segoe UI Light"/>
                <a:ea typeface="Segoe UI Light"/>
                <a:cs typeface="Segoe UI Light"/>
              </a:rPr>
              <a:t>Targets: Q, K, V and output projections in all 12 Transformer layers.</a:t>
            </a:r>
          </a:p>
          <a:p xmlns:a="http://schemas.openxmlformats.org/drawingml/2006/main">
            <a:pPr algn="l">
              <a:spcAft>
                <a:spcPts val="1200"/>
              </a:spcAft>
              <a:buNone/>
            </a:pPr>
            <a:r>
              <a:rPr sz="2000" b="0">
                <a:solidFill>
                  <a:srgbClr val="6E6E73"/>
                </a:solidFill>
                <a:latin typeface="Segoe UI Light"/>
                <a:ea typeface="Segoe UI Light"/>
                <a:cs typeface="Segoe UI Light"/>
              </a:rPr>
              <a:t>One 768×768 projection: 590K dense weights vs 12,288 LoRA parameters.</a:t>
            </a:r>
          </a:p>
          <a:p xmlns:a="http://schemas.openxmlformats.org/drawingml/2006/main">
            <a:pPr algn="l">
              <a:spcAft>
                <a:spcPts val="1200"/>
              </a:spcAft>
              <a:buNone/>
            </a:pPr>
            <a:r>
              <a:rPr sz="2000" b="0">
                <a:solidFill>
                  <a:srgbClr val="6E6E73"/>
                </a:solidFill>
                <a:latin typeface="Segoe UI Light"/>
                <a:ea typeface="Segoe UI Light"/>
                <a:cs typeface="Segoe UI Light"/>
              </a:rPr>
              <a:t>Whole detector: 0.59M trainable of ~95M total (0.62%).</a:t>
            </a:r>
          </a:p>
        </p:txBody>
      </p:sp>
    </p:spTree>
    <p:extLst>
      <p:ext uri="{BB962C8B-B14F-4D97-AF65-F5344CB8AC3E}">
        <p14:creationId xmlns:p14="http://schemas.microsoft.com/office/powerpoint/2010/main" val="163768339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A997E5E-49A9-4B78-A075-FD526F255A93}"/>
              </a:ext>
            </a:extLst>
          </p:cNvPr>
          <p:cNvSpPr>
            <a:spLocks xmlns:a="http://schemas.openxmlformats.org/drawingml/2006/main" noGrp="1"/>
          </p:cNvSpPr>
          <p:nvPr/>
        </p:nvSpPr>
        <p:spPr>
          <a:xfrm xmlns:a="http://schemas.openxmlformats.org/drawingml/2006/main">
            <a:off x="841248" y="603504"/>
            <a:ext cx="457200" cy="45720"/>
          </a:xfrm>
          <a:prstGeom xmlns:a="http://schemas.openxmlformats.org/drawingml/2006/main" prst="rect">
            <a:avLst/>
          </a:prstGeom>
          <a:solidFill xmlns:a="http://schemas.openxmlformats.org/drawingml/2006/main">
            <a:srgbClr val="0066C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B03C908D-FD5B-465F-A5B1-83F627AC7DE8}"/>
              </a:ext>
            </a:extLst>
          </p:cNvPr>
          <p:cNvSpPr>
            <a:spLocks xmlns:a="http://schemas.openxmlformats.org/drawingml/2006/main" noGrp="1"/>
          </p:cNvSpPr>
          <p:nvPr/>
        </p:nvSpPr>
        <p:spPr>
          <a:xfrm xmlns:a="http://schemas.openxmlformats.org/drawingml/2006/main">
            <a:off x="822960" y="749808"/>
            <a:ext cx="10515600" cy="155448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spcAft>
                <a:spcPts val="500"/>
              </a:spcAft>
              <a:buNone/>
            </a:pPr>
            <a:r>
              <a:rPr sz="1300" b="1">
                <a:solidFill>
                  <a:srgbClr val="0066CC"/>
                </a:solidFill>
                <a:latin typeface="Segoe UI Semibold"/>
                <a:ea typeface="Segoe UI Semibold"/>
                <a:cs typeface="Segoe UI Semibold"/>
              </a:rPr>
              <a:t>HEADLINE RESULT</a:t>
            </a:r>
          </a:p>
          <a:p xmlns:a="http://schemas.openxmlformats.org/drawingml/2006/main">
            <a:pPr algn="l">
              <a:spcAft>
                <a:spcPts val="1000"/>
              </a:spcAft>
              <a:buNone/>
            </a:pPr>
            <a:r>
              <a:rPr sz="3300" b="1">
                <a:solidFill>
                  <a:srgbClr val="1D1D1F"/>
                </a:solidFill>
                <a:latin typeface="Segoe UI Semibold"/>
                <a:ea typeface="Segoe UI Semibold"/>
                <a:cs typeface="Segoe UI Semibold"/>
              </a:rPr>
              <a:t>LoRA shrinks the seen→unseen gap to 0.64 pp</a:t>
            </a:r>
          </a:p>
        </p:txBody>
      </p:sp>
      <p:sp>
        <p:nvSpPr>
          <p:cNvPr id="4" name="TextBox 3">
            <a:extLst xmlns:a="http://schemas.openxmlformats.org/drawingml/2006/main">
              <a:ext uri="{FF2B5EF4-FFF2-40B4-BE49-F238E27FC236}">
                <a16:creationId xmlns:a16="http://schemas.microsoft.com/office/drawing/2014/main" id="{FB3EAE07-CDC9-479B-A0A2-C3CA8F704E28}"/>
              </a:ext>
            </a:extLst>
          </p:cNvPr>
          <p:cNvSpPr>
            <a:spLocks xmlns:a="http://schemas.openxmlformats.org/drawingml/2006/main" noGrp="1"/>
          </p:cNvSpPr>
          <p:nvPr/>
        </p:nvSpPr>
        <p:spPr>
          <a:xfrm xmlns:a="http://schemas.openxmlformats.org/drawingml/2006/main">
            <a:off x="822960" y="6419088"/>
            <a:ext cx="731520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spcAft>
                <a:spcPts val="1000"/>
              </a:spcAft>
              <a:buNone/>
            </a:pPr>
            <a:r>
              <a:rPr sz="1000" b="0">
                <a:solidFill>
                  <a:srgbClr val="A1A1A6"/>
                </a:solidFill>
                <a:latin typeface="Segoe UI Light"/>
                <a:ea typeface="Segoe UI Light"/>
                <a:cs typeface="Segoe UI Light"/>
              </a:rPr>
              <a:t>Fake It Till You Make It  ·  00460217 Deep Learning</a:t>
            </a:r>
          </a:p>
        </p:txBody>
      </p:sp>
      <p:sp>
        <p:nvSpPr>
          <p:cNvPr id="5" name="TextBox 4">
            <a:extLst xmlns:a="http://schemas.openxmlformats.org/drawingml/2006/main">
              <a:ext uri="{FF2B5EF4-FFF2-40B4-BE49-F238E27FC236}">
                <a16:creationId xmlns:a16="http://schemas.microsoft.com/office/drawing/2014/main" id="{08EB1888-B9B8-4CFC-B2F5-617173B6291A}"/>
              </a:ext>
            </a:extLst>
          </p:cNvPr>
          <p:cNvSpPr>
            <a:spLocks xmlns:a="http://schemas.openxmlformats.org/drawingml/2006/main" noGrp="1"/>
          </p:cNvSpPr>
          <p:nvPr/>
        </p:nvSpPr>
        <p:spPr>
          <a:xfrm xmlns:a="http://schemas.openxmlformats.org/drawingml/2006/main">
            <a:off x="10607040" y="6419088"/>
            <a:ext cx="82296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spcAft>
                <a:spcPts val="1000"/>
              </a:spcAft>
              <a:buNone/>
            </a:pPr>
            <a:r>
              <a:rPr sz="1000" b="0">
                <a:solidFill>
                  <a:srgbClr val="A1A1A6"/>
                </a:solidFill>
                <a:latin typeface="Segoe UI Light"/>
                <a:ea typeface="Segoe UI Light"/>
                <a:cs typeface="Segoe UI Light"/>
              </a:rPr>
              <a:t>05</a:t>
            </a:r>
          </a:p>
        </p:txBody>
      </p:sp>
      <p:pic>
        <p:nvPicPr>
          <p:cNvPr id="13" name="Picture 5"/>
          <p:cNvPicPr>
            <a:picLocks xmlns:a="http://schemas.openxmlformats.org/drawingml/2006/main" noChangeAspect="1"/>
          </p:cNvPicPr>
          <p:nvPr/>
        </p:nvPicPr>
        <p:blipFill>
          <a:blip xmlns:r="http://schemas.openxmlformats.org/officeDocument/2006/relationships" xmlns:a="http://schemas.openxmlformats.org/drawingml/2006/main" r:embed="R61320b1acaa84a1a"/>
          <a:stretch xmlns:a="http://schemas.openxmlformats.org/drawingml/2006/main"/>
        </p:blipFill>
        <p:spPr>
          <a:xfrm xmlns:a="http://schemas.openxmlformats.org/drawingml/2006/main">
            <a:off x="640081" y="2011680"/>
            <a:ext cx="7589519" cy="2307624"/>
          </a:xfrm>
          <a:prstGeom xmlns:a="http://schemas.openxmlformats.org/drawingml/2006/main" prst="rect">
            <a:avLst/>
          </a:prstGeom>
        </p:spPr>
      </p:pic>
      <p:sp>
        <p:nvSpPr>
          <p:cNvPr id="7" name="TextBox 6">
            <a:extLst xmlns:a="http://schemas.openxmlformats.org/drawingml/2006/main">
              <a:ext uri="{FF2B5EF4-FFF2-40B4-BE49-F238E27FC236}">
                <a16:creationId xmlns:a16="http://schemas.microsoft.com/office/drawing/2014/main" id="{8CAAD232-F97B-47FD-9662-71F531103225}"/>
              </a:ext>
            </a:extLst>
          </p:cNvPr>
          <p:cNvSpPr>
            <a:spLocks xmlns:a="http://schemas.openxmlformats.org/drawingml/2006/main" noGrp="1"/>
          </p:cNvSpPr>
          <p:nvPr/>
        </p:nvSpPr>
        <p:spPr>
          <a:xfrm xmlns:a="http://schemas.openxmlformats.org/drawingml/2006/main">
            <a:off x="8595360" y="2468880"/>
            <a:ext cx="3108960" cy="329184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spcAft>
                <a:spcPts val="200"/>
              </a:spcAft>
              <a:buNone/>
            </a:pPr>
            <a:r>
              <a:rPr sz="6000" b="1">
                <a:solidFill>
                  <a:srgbClr val="0066CC"/>
                </a:solidFill>
                <a:latin typeface="Segoe UI Semibold"/>
                <a:ea typeface="Segoe UI Semibold"/>
                <a:cs typeface="Segoe UI Semibold"/>
              </a:rPr>
              <a:t>~15×</a:t>
            </a:r>
          </a:p>
          <a:p xmlns:a="http://schemas.openxmlformats.org/drawingml/2006/main">
            <a:pPr algn="ctr">
              <a:spcAft>
                <a:spcPts val="1400"/>
              </a:spcAft>
              <a:buNone/>
            </a:pPr>
            <a:r>
              <a:rPr sz="1800" b="0">
                <a:solidFill>
                  <a:srgbClr val="1D1D1F"/>
                </a:solidFill>
                <a:latin typeface="Segoe UI Light"/>
                <a:ea typeface="Segoe UI Light"/>
                <a:cs typeface="Segoe UI Light"/>
              </a:rPr>
              <a:t>smaller gap than the</a:t>
            </a:r>
            <a:br/>
            <a:r>
              <a:t>strongest LCNN</a:t>
            </a:r>
          </a:p>
          <a:p xmlns:a="http://schemas.openxmlformats.org/drawingml/2006/main">
            <a:pPr algn="ctr">
              <a:spcAft>
                <a:spcPts val="1000"/>
              </a:spcAft>
              <a:buNone/>
            </a:pPr>
            <a:r>
              <a:rPr sz="1600" b="0">
                <a:solidFill>
                  <a:srgbClr val="6E6E73"/>
                </a:solidFill>
                <a:latin typeface="Segoe UI Light"/>
                <a:ea typeface="Segoe UI Light"/>
                <a:cs typeface="Segoe UI Light"/>
              </a:rPr>
              <a:t>0.64 pp vs 9.45 pp</a:t>
            </a:r>
          </a:p>
        </p:txBody>
      </p:sp>
    </p:spTree>
    <p:extLst>
      <p:ext uri="{BB962C8B-B14F-4D97-AF65-F5344CB8AC3E}">
        <p14:creationId xmlns:p14="http://schemas.microsoft.com/office/powerpoint/2010/main" val="109530804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1AE9ABCD-454D-4F47-938E-1B68FD927DB0}"/>
              </a:ext>
            </a:extLst>
          </p:cNvPr>
          <p:cNvSpPr>
            <a:spLocks xmlns:a="http://schemas.openxmlformats.org/drawingml/2006/main" noGrp="1"/>
          </p:cNvSpPr>
          <p:nvPr/>
        </p:nvSpPr>
        <p:spPr>
          <a:xfrm xmlns:a="http://schemas.openxmlformats.org/drawingml/2006/main">
            <a:off x="841248" y="603504"/>
            <a:ext cx="457200" cy="45720"/>
          </a:xfrm>
          <a:prstGeom xmlns:a="http://schemas.openxmlformats.org/drawingml/2006/main" prst="rect">
            <a:avLst/>
          </a:prstGeom>
          <a:solidFill xmlns:a="http://schemas.openxmlformats.org/drawingml/2006/main">
            <a:srgbClr val="0066C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77784D70-BDCE-441B-93D5-CB030D9AFD01}"/>
              </a:ext>
            </a:extLst>
          </p:cNvPr>
          <p:cNvSpPr>
            <a:spLocks xmlns:a="http://schemas.openxmlformats.org/drawingml/2006/main" noGrp="1"/>
          </p:cNvSpPr>
          <p:nvPr/>
        </p:nvSpPr>
        <p:spPr>
          <a:xfrm xmlns:a="http://schemas.openxmlformats.org/drawingml/2006/main">
            <a:off x="822960" y="749808"/>
            <a:ext cx="10515600" cy="155448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spcAft>
                <a:spcPts val="500"/>
              </a:spcAft>
              <a:buNone/>
            </a:pPr>
            <a:r>
              <a:rPr sz="1300" b="1">
                <a:solidFill>
                  <a:srgbClr val="0066CC"/>
                </a:solidFill>
                <a:latin typeface="Segoe UI Semibold"/>
                <a:ea typeface="Segoe UI Semibold"/>
                <a:cs typeface="Segoe UI Semibold"/>
              </a:rPr>
              <a:t>RESULTS</a:t>
            </a:r>
          </a:p>
          <a:p xmlns:a="http://schemas.openxmlformats.org/drawingml/2006/main">
            <a:pPr algn="l">
              <a:spcAft>
                <a:spcPts val="1000"/>
              </a:spcAft>
              <a:buNone/>
            </a:pPr>
            <a:r>
              <a:rPr sz="3300" b="1">
                <a:solidFill>
                  <a:srgbClr val="1D1D1F"/>
                </a:solidFill>
                <a:latin typeface="Segoe UI Semibold"/>
                <a:ea typeface="Segoe UI Semibold"/>
                <a:cs typeface="Segoe UI Semibold"/>
              </a:rPr>
              <a:t>Where exactly the CNN fails</a:t>
            </a:r>
          </a:p>
        </p:txBody>
      </p:sp>
      <p:sp>
        <p:nvSpPr>
          <p:cNvPr id="4" name="TextBox 3">
            <a:extLst xmlns:a="http://schemas.openxmlformats.org/drawingml/2006/main">
              <a:ext uri="{FF2B5EF4-FFF2-40B4-BE49-F238E27FC236}">
                <a16:creationId xmlns:a16="http://schemas.microsoft.com/office/drawing/2014/main" id="{CFC2A490-3275-4510-A1A7-B5917FFD45BF}"/>
              </a:ext>
            </a:extLst>
          </p:cNvPr>
          <p:cNvSpPr>
            <a:spLocks xmlns:a="http://schemas.openxmlformats.org/drawingml/2006/main" noGrp="1"/>
          </p:cNvSpPr>
          <p:nvPr/>
        </p:nvSpPr>
        <p:spPr>
          <a:xfrm xmlns:a="http://schemas.openxmlformats.org/drawingml/2006/main">
            <a:off x="822960" y="6419088"/>
            <a:ext cx="731520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spcAft>
                <a:spcPts val="1000"/>
              </a:spcAft>
              <a:buNone/>
            </a:pPr>
            <a:r>
              <a:rPr sz="1000" b="0">
                <a:solidFill>
                  <a:srgbClr val="A1A1A6"/>
                </a:solidFill>
                <a:latin typeface="Segoe UI Light"/>
                <a:ea typeface="Segoe UI Light"/>
                <a:cs typeface="Segoe UI Light"/>
              </a:rPr>
              <a:t>Fake It Till You Make It  ·  00460217 Deep Learning</a:t>
            </a:r>
          </a:p>
        </p:txBody>
      </p:sp>
      <p:sp>
        <p:nvSpPr>
          <p:cNvPr id="5" name="TextBox 4">
            <a:extLst xmlns:a="http://schemas.openxmlformats.org/drawingml/2006/main">
              <a:ext uri="{FF2B5EF4-FFF2-40B4-BE49-F238E27FC236}">
                <a16:creationId xmlns:a16="http://schemas.microsoft.com/office/drawing/2014/main" id="{C5CC96DD-A71F-4996-A921-1D06792A6BBF}"/>
              </a:ext>
            </a:extLst>
          </p:cNvPr>
          <p:cNvSpPr>
            <a:spLocks xmlns:a="http://schemas.openxmlformats.org/drawingml/2006/main" noGrp="1"/>
          </p:cNvSpPr>
          <p:nvPr/>
        </p:nvSpPr>
        <p:spPr>
          <a:xfrm xmlns:a="http://schemas.openxmlformats.org/drawingml/2006/main">
            <a:off x="10607040" y="6419088"/>
            <a:ext cx="82296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spcAft>
                <a:spcPts val="1000"/>
              </a:spcAft>
              <a:buNone/>
            </a:pPr>
            <a:r>
              <a:rPr sz="1000" b="0">
                <a:solidFill>
                  <a:srgbClr val="A1A1A6"/>
                </a:solidFill>
                <a:latin typeface="Segoe UI Light"/>
                <a:ea typeface="Segoe UI Light"/>
                <a:cs typeface="Segoe UI Light"/>
              </a:rPr>
              <a:t>06</a:t>
            </a:r>
          </a:p>
        </p:txBody>
      </p:sp>
      <p:pic>
        <p:nvPicPr>
          <p:cNvPr id="13" name="Picture 5"/>
          <p:cNvPicPr>
            <a:picLocks xmlns:a="http://schemas.openxmlformats.org/drawingml/2006/main" noChangeAspect="1"/>
          </p:cNvPicPr>
          <p:nvPr/>
        </p:nvPicPr>
        <p:blipFill>
          <a:blip xmlns:r="http://schemas.openxmlformats.org/officeDocument/2006/relationships" xmlns:a="http://schemas.openxmlformats.org/drawingml/2006/main" r:embed="Rc8ec24fa05274219"/>
          <a:stretch xmlns:a="http://schemas.openxmlformats.org/drawingml/2006/main"/>
        </p:blipFill>
        <p:spPr>
          <a:xfrm xmlns:a="http://schemas.openxmlformats.org/drawingml/2006/main">
            <a:off x="1737207" y="2103120"/>
            <a:ext cx="8717280" cy="3566160"/>
          </a:xfrm>
          <a:prstGeom xmlns:a="http://schemas.openxmlformats.org/drawingml/2006/main" prst="rect">
            <a:avLst/>
          </a:prstGeom>
        </p:spPr>
      </p:pic>
      <p:sp>
        <p:nvSpPr>
          <p:cNvPr id="7" name="TextBox 6">
            <a:extLst xmlns:a="http://schemas.openxmlformats.org/drawingml/2006/main">
              <a:ext uri="{FF2B5EF4-FFF2-40B4-BE49-F238E27FC236}">
                <a16:creationId xmlns:a16="http://schemas.microsoft.com/office/drawing/2014/main" id="{38D108D5-D1D9-4335-9404-C9C6BB102E60}"/>
              </a:ext>
            </a:extLst>
          </p:cNvPr>
          <p:cNvSpPr>
            <a:spLocks xmlns:a="http://schemas.openxmlformats.org/drawingml/2006/main" noGrp="1"/>
          </p:cNvSpPr>
          <p:nvPr/>
        </p:nvSpPr>
        <p:spPr>
          <a:xfrm xmlns:a="http://schemas.openxmlformats.org/drawingml/2006/main">
            <a:off x="868680" y="5989320"/>
            <a:ext cx="10424160" cy="45720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spcAft>
                <a:spcPts val="1000"/>
              </a:spcAft>
              <a:buNone/>
            </a:pPr>
            <a:r>
              <a:rPr sz="1400" b="0">
                <a:solidFill>
                  <a:srgbClr val="6E6E73"/>
                </a:solidFill>
                <a:latin typeface="Segoe UI Light"/>
                <a:ea typeface="Segoe UI Light"/>
                <a:cs typeface="Segoe UI Light"/>
              </a:rPr>
              <a:t>In this evaluation, LFCC+LCNN peaks above 20% on A12/A13/A17/A18; LoRA stays below 2.7%.</a:t>
            </a:r>
          </a:p>
        </p:txBody>
      </p:sp>
    </p:spTree>
    <p:extLst>
      <p:ext uri="{BB962C8B-B14F-4D97-AF65-F5344CB8AC3E}">
        <p14:creationId xmlns:p14="http://schemas.microsoft.com/office/powerpoint/2010/main" val="79345411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3E32BA80-D918-422D-AD38-1197997BC53B}"/>
              </a:ext>
            </a:extLst>
          </p:cNvPr>
          <p:cNvSpPr>
            <a:spLocks xmlns:a="http://schemas.openxmlformats.org/drawingml/2006/main" noGrp="1"/>
          </p:cNvSpPr>
          <p:nvPr/>
        </p:nvSpPr>
        <p:spPr>
          <a:xfrm xmlns:a="http://schemas.openxmlformats.org/drawingml/2006/main">
            <a:off x="841248" y="603504"/>
            <a:ext cx="457200" cy="45720"/>
          </a:xfrm>
          <a:prstGeom xmlns:a="http://schemas.openxmlformats.org/drawingml/2006/main" prst="rect">
            <a:avLst/>
          </a:prstGeom>
          <a:solidFill xmlns:a="http://schemas.openxmlformats.org/drawingml/2006/main">
            <a:srgbClr val="0066C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5FE1C211-CA93-45B1-9ECB-99694F97C094}"/>
              </a:ext>
            </a:extLst>
          </p:cNvPr>
          <p:cNvSpPr>
            <a:spLocks xmlns:a="http://schemas.openxmlformats.org/drawingml/2006/main" noGrp="1"/>
          </p:cNvSpPr>
          <p:nvPr/>
        </p:nvSpPr>
        <p:spPr>
          <a:xfrm xmlns:a="http://schemas.openxmlformats.org/drawingml/2006/main">
            <a:off x="822960" y="749808"/>
            <a:ext cx="10515600" cy="155448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spcAft>
                <a:spcPts val="500"/>
              </a:spcAft>
              <a:buNone/>
            </a:pPr>
            <a:r>
              <a:rPr sz="1300" b="1">
                <a:solidFill>
                  <a:srgbClr val="0066CC"/>
                </a:solidFill>
                <a:latin typeface="Segoe UI Semibold"/>
                <a:ea typeface="Segoe UI Semibold"/>
                <a:cs typeface="Segoe UI Semibold"/>
              </a:rPr>
              <a:t>ABLATION</a:t>
            </a:r>
          </a:p>
          <a:p xmlns:a="http://schemas.openxmlformats.org/drawingml/2006/main">
            <a:pPr algn="l">
              <a:spcAft>
                <a:spcPts val="1000"/>
              </a:spcAft>
              <a:buNone/>
            </a:pPr>
            <a:r>
              <a:rPr sz="3300" b="1">
                <a:solidFill>
                  <a:srgbClr val="1D1D1F"/>
                </a:solidFill>
                <a:latin typeface="Segoe UI Semibold"/>
                <a:ea typeface="Segoe UI Semibold"/>
                <a:cs typeface="Segoe UI Semibold"/>
              </a:rPr>
              <a:t>Adaptation matters, not just features</a:t>
            </a:r>
          </a:p>
        </p:txBody>
      </p:sp>
      <p:sp>
        <p:nvSpPr>
          <p:cNvPr id="4" name="TextBox 3">
            <a:extLst xmlns:a="http://schemas.openxmlformats.org/drawingml/2006/main">
              <a:ext uri="{FF2B5EF4-FFF2-40B4-BE49-F238E27FC236}">
                <a16:creationId xmlns:a16="http://schemas.microsoft.com/office/drawing/2014/main" id="{8334C962-3669-445D-BBB7-C8FCAA0E7C11}"/>
              </a:ext>
            </a:extLst>
          </p:cNvPr>
          <p:cNvSpPr>
            <a:spLocks xmlns:a="http://schemas.openxmlformats.org/drawingml/2006/main" noGrp="1"/>
          </p:cNvSpPr>
          <p:nvPr/>
        </p:nvSpPr>
        <p:spPr>
          <a:xfrm xmlns:a="http://schemas.openxmlformats.org/drawingml/2006/main">
            <a:off x="822960" y="6419088"/>
            <a:ext cx="731520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spcAft>
                <a:spcPts val="1000"/>
              </a:spcAft>
              <a:buNone/>
            </a:pPr>
            <a:r>
              <a:rPr sz="1000" b="0">
                <a:solidFill>
                  <a:srgbClr val="A1A1A6"/>
                </a:solidFill>
                <a:latin typeface="Segoe UI Light"/>
                <a:ea typeface="Segoe UI Light"/>
                <a:cs typeface="Segoe UI Light"/>
              </a:rPr>
              <a:t>Fake It Till You Make It  ·  00460217 Deep Learning</a:t>
            </a:r>
          </a:p>
        </p:txBody>
      </p:sp>
      <p:sp>
        <p:nvSpPr>
          <p:cNvPr id="5" name="TextBox 4">
            <a:extLst xmlns:a="http://schemas.openxmlformats.org/drawingml/2006/main">
              <a:ext uri="{FF2B5EF4-FFF2-40B4-BE49-F238E27FC236}">
                <a16:creationId xmlns:a16="http://schemas.microsoft.com/office/drawing/2014/main" id="{1A488531-C201-41CD-B0B2-C14B8A90BA63}"/>
              </a:ext>
            </a:extLst>
          </p:cNvPr>
          <p:cNvSpPr>
            <a:spLocks xmlns:a="http://schemas.openxmlformats.org/drawingml/2006/main" noGrp="1"/>
          </p:cNvSpPr>
          <p:nvPr/>
        </p:nvSpPr>
        <p:spPr>
          <a:xfrm xmlns:a="http://schemas.openxmlformats.org/drawingml/2006/main">
            <a:off x="10607040" y="6419088"/>
            <a:ext cx="82296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spcAft>
                <a:spcPts val="1000"/>
              </a:spcAft>
              <a:buNone/>
            </a:pPr>
            <a:r>
              <a:rPr sz="1000" b="0">
                <a:solidFill>
                  <a:srgbClr val="A1A1A6"/>
                </a:solidFill>
                <a:latin typeface="Segoe UI Light"/>
                <a:ea typeface="Segoe UI Light"/>
                <a:cs typeface="Segoe UI Light"/>
              </a:rPr>
              <a:t>07</a:t>
            </a:r>
          </a:p>
        </p:txBody>
      </p:sp>
      <p:sp>
        <p:nvSpPr>
          <p:cNvPr id="6" name="TextBox 5">
            <a:extLst xmlns:a="http://schemas.openxmlformats.org/drawingml/2006/main">
              <a:ext uri="{FF2B5EF4-FFF2-40B4-BE49-F238E27FC236}">
                <a16:creationId xmlns:a16="http://schemas.microsoft.com/office/drawing/2014/main" id="{29F15161-38C0-48EA-A9A9-976719CCC912}"/>
              </a:ext>
            </a:extLst>
          </p:cNvPr>
          <p:cNvSpPr>
            <a:spLocks xmlns:a="http://schemas.openxmlformats.org/drawingml/2006/main" noGrp="1"/>
          </p:cNvSpPr>
          <p:nvPr/>
        </p:nvSpPr>
        <p:spPr>
          <a:xfrm xmlns:a="http://schemas.openxmlformats.org/drawingml/2006/main">
            <a:off x="1005840" y="2194560"/>
            <a:ext cx="5669280" cy="603504"/>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spcAft>
                <a:spcPts val="0"/>
              </a:spcAft>
              <a:buNone/>
            </a:pPr>
            <a:r>
              <a:rPr sz="2000" b="1">
                <a:solidFill>
                  <a:srgbClr val="1D1D1F"/>
                </a:solidFill>
                <a:latin typeface="Segoe UI Semibold"/>
                <a:ea typeface="Segoe UI Semibold"/>
                <a:cs typeface="Segoe UI Semibold"/>
              </a:rPr>
              <a:t>Adaptation</a:t>
            </a:r>
          </a:p>
        </p:txBody>
      </p:sp>
      <p:sp>
        <p:nvSpPr>
          <p:cNvPr id="7" name="TextBox 6">
            <a:extLst xmlns:a="http://schemas.openxmlformats.org/drawingml/2006/main">
              <a:ext uri="{FF2B5EF4-FFF2-40B4-BE49-F238E27FC236}">
                <a16:creationId xmlns:a16="http://schemas.microsoft.com/office/drawing/2014/main" id="{1859172F-1410-44AE-9499-80EB136349FB}"/>
              </a:ext>
            </a:extLst>
          </p:cNvPr>
          <p:cNvSpPr>
            <a:spLocks xmlns:a="http://schemas.openxmlformats.org/drawingml/2006/main" noGrp="1"/>
          </p:cNvSpPr>
          <p:nvPr/>
        </p:nvSpPr>
        <p:spPr>
          <a:xfrm xmlns:a="http://schemas.openxmlformats.org/drawingml/2006/main">
            <a:off x="6766560" y="2194560"/>
            <a:ext cx="2194560" cy="603504"/>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spcAft>
                <a:spcPts val="0"/>
              </a:spcAft>
              <a:buNone/>
            </a:pPr>
            <a:r>
              <a:rPr sz="2000" b="1">
                <a:solidFill>
                  <a:srgbClr val="1D1D1F"/>
                </a:solidFill>
                <a:latin typeface="Segoe UI Semibold"/>
                <a:ea typeface="Segoe UI Semibold"/>
                <a:cs typeface="Segoe UI Semibold"/>
              </a:rPr>
              <a:t>Trainable</a:t>
            </a:r>
          </a:p>
        </p:txBody>
      </p:sp>
      <p:sp>
        <p:nvSpPr>
          <p:cNvPr id="8" name="TextBox 7">
            <a:extLst xmlns:a="http://schemas.openxmlformats.org/drawingml/2006/main">
              <a:ext uri="{FF2B5EF4-FFF2-40B4-BE49-F238E27FC236}">
                <a16:creationId xmlns:a16="http://schemas.microsoft.com/office/drawing/2014/main" id="{E16FCB3B-2FCF-4AB8-96A0-191EFAB2E369}"/>
              </a:ext>
            </a:extLst>
          </p:cNvPr>
          <p:cNvSpPr>
            <a:spLocks xmlns:a="http://schemas.openxmlformats.org/drawingml/2006/main" noGrp="1"/>
          </p:cNvSpPr>
          <p:nvPr/>
        </p:nvSpPr>
        <p:spPr>
          <a:xfrm xmlns:a="http://schemas.openxmlformats.org/drawingml/2006/main">
            <a:off x="9052560" y="2194560"/>
            <a:ext cx="2103120" cy="603504"/>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spcAft>
                <a:spcPts val="0"/>
              </a:spcAft>
              <a:buNone/>
            </a:pPr>
            <a:r>
              <a:rPr sz="2000" b="1">
                <a:solidFill>
                  <a:srgbClr val="1D1D1F"/>
                </a:solidFill>
                <a:latin typeface="Segoe UI Semibold"/>
                <a:ea typeface="Segoe UI Semibold"/>
                <a:cs typeface="Segoe UI Semibold"/>
              </a:rPr>
              <a:t>Unseen EER</a:t>
            </a:r>
          </a:p>
        </p:txBody>
      </p:sp>
      <p:sp>
        <p:nvSpPr>
          <p:cNvPr id="9" name="Rectangle 8">
            <a:extLst xmlns:a="http://schemas.openxmlformats.org/drawingml/2006/main">
              <a:ext uri="{FF2B5EF4-FFF2-40B4-BE49-F238E27FC236}">
                <a16:creationId xmlns:a16="http://schemas.microsoft.com/office/drawing/2014/main" id="{F89B834B-8901-4B23-8780-00193BC00EE3}"/>
              </a:ext>
            </a:extLst>
          </p:cNvPr>
          <p:cNvSpPr>
            <a:spLocks xmlns:a="http://schemas.openxmlformats.org/drawingml/2006/main" noGrp="1"/>
          </p:cNvSpPr>
          <p:nvPr/>
        </p:nvSpPr>
        <p:spPr>
          <a:xfrm xmlns:a="http://schemas.openxmlformats.org/drawingml/2006/main">
            <a:off x="1005840" y="2761488"/>
            <a:ext cx="10149840" cy="13716"/>
          </a:xfrm>
          <a:prstGeom xmlns:a="http://schemas.openxmlformats.org/drawingml/2006/main" prst="rect">
            <a:avLst/>
          </a:prstGeom>
          <a:solidFill xmlns:a="http://schemas.openxmlformats.org/drawingml/2006/main">
            <a:srgbClr val="D2D2D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07052A30-EB91-4DC1-9E0D-2AFB5C9520ED}"/>
              </a:ext>
            </a:extLst>
          </p:cNvPr>
          <p:cNvSpPr>
            <a:spLocks xmlns:a="http://schemas.openxmlformats.org/drawingml/2006/main" noGrp="1"/>
          </p:cNvSpPr>
          <p:nvPr/>
        </p:nvSpPr>
        <p:spPr>
          <a:xfrm xmlns:a="http://schemas.openxmlformats.org/drawingml/2006/main">
            <a:off x="1005840" y="2816352"/>
            <a:ext cx="5669280" cy="603504"/>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spcAft>
                <a:spcPts val="0"/>
              </a:spcAft>
              <a:buNone/>
            </a:pPr>
            <a:r>
              <a:rPr sz="2000" b="0">
                <a:solidFill>
                  <a:srgbClr val="6E6E73"/>
                </a:solidFill>
                <a:latin typeface="Segoe UI Light"/>
                <a:ea typeface="Segoe UI Light"/>
                <a:cs typeface="Segoe UI Light"/>
              </a:rPr>
              <a:t>Linear probe (frozen features)</a:t>
            </a:r>
          </a:p>
        </p:txBody>
      </p:sp>
      <p:sp>
        <p:nvSpPr>
          <p:cNvPr id="11" name="TextBox 10">
            <a:extLst xmlns:a="http://schemas.openxmlformats.org/drawingml/2006/main">
              <a:ext uri="{FF2B5EF4-FFF2-40B4-BE49-F238E27FC236}">
                <a16:creationId xmlns:a16="http://schemas.microsoft.com/office/drawing/2014/main" id="{95DBDC96-CE50-4BCA-B8DF-644FFC358952}"/>
              </a:ext>
            </a:extLst>
          </p:cNvPr>
          <p:cNvSpPr>
            <a:spLocks xmlns:a="http://schemas.openxmlformats.org/drawingml/2006/main" noGrp="1"/>
          </p:cNvSpPr>
          <p:nvPr/>
        </p:nvSpPr>
        <p:spPr>
          <a:xfrm xmlns:a="http://schemas.openxmlformats.org/drawingml/2006/main">
            <a:off x="6766560" y="2816352"/>
            <a:ext cx="2194560" cy="603504"/>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spcAft>
                <a:spcPts val="0"/>
              </a:spcAft>
              <a:buNone/>
            </a:pPr>
            <a:r>
              <a:rPr sz="2000" b="0">
                <a:solidFill>
                  <a:srgbClr val="6E6E73"/>
                </a:solidFill>
                <a:latin typeface="Segoe UI Light"/>
                <a:ea typeface="Segoe UI Light"/>
                <a:cs typeface="Segoe UI Light"/>
              </a:rPr>
              <a:t>0.002 M</a:t>
            </a:r>
          </a:p>
        </p:txBody>
      </p:sp>
      <p:sp>
        <p:nvSpPr>
          <p:cNvPr id="12" name="TextBox 11">
            <a:extLst xmlns:a="http://schemas.openxmlformats.org/drawingml/2006/main">
              <a:ext uri="{FF2B5EF4-FFF2-40B4-BE49-F238E27FC236}">
                <a16:creationId xmlns:a16="http://schemas.microsoft.com/office/drawing/2014/main" id="{65F31333-16AF-4391-9559-0C34388C9BF7}"/>
              </a:ext>
            </a:extLst>
          </p:cNvPr>
          <p:cNvSpPr>
            <a:spLocks xmlns:a="http://schemas.openxmlformats.org/drawingml/2006/main" noGrp="1"/>
          </p:cNvSpPr>
          <p:nvPr/>
        </p:nvSpPr>
        <p:spPr>
          <a:xfrm xmlns:a="http://schemas.openxmlformats.org/drawingml/2006/main">
            <a:off x="9052560" y="2816352"/>
            <a:ext cx="2103120" cy="603504"/>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spcAft>
                <a:spcPts val="0"/>
              </a:spcAft>
              <a:buNone/>
            </a:pPr>
            <a:r>
              <a:rPr sz="2000" b="0">
                <a:solidFill>
                  <a:srgbClr val="6E6E73"/>
                </a:solidFill>
                <a:latin typeface="Segoe UI Light"/>
                <a:ea typeface="Segoe UI Light"/>
                <a:cs typeface="Segoe UI Light"/>
              </a:rPr>
              <a:t>7.04%</a:t>
            </a:r>
          </a:p>
        </p:txBody>
      </p:sp>
      <p:sp>
        <p:nvSpPr>
          <p:cNvPr id="13" name="TextBox 12">
            <a:extLst xmlns:a="http://schemas.openxmlformats.org/drawingml/2006/main">
              <a:ext uri="{FF2B5EF4-FFF2-40B4-BE49-F238E27FC236}">
                <a16:creationId xmlns:a16="http://schemas.microsoft.com/office/drawing/2014/main" id="{FC93A646-C675-4F64-97E0-7069BF6E522F}"/>
              </a:ext>
            </a:extLst>
          </p:cNvPr>
          <p:cNvSpPr>
            <a:spLocks xmlns:a="http://schemas.openxmlformats.org/drawingml/2006/main" noGrp="1"/>
          </p:cNvSpPr>
          <p:nvPr/>
        </p:nvSpPr>
        <p:spPr>
          <a:xfrm xmlns:a="http://schemas.openxmlformats.org/drawingml/2006/main">
            <a:off x="1005840" y="3438144"/>
            <a:ext cx="5669280" cy="603504"/>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spcAft>
                <a:spcPts val="0"/>
              </a:spcAft>
              <a:buNone/>
            </a:pPr>
            <a:r>
              <a:rPr sz="2000" b="0">
                <a:solidFill>
                  <a:srgbClr val="6E6E73"/>
                </a:solidFill>
                <a:latin typeface="Segoe UI Light"/>
                <a:ea typeface="Segoe UI Light"/>
                <a:cs typeface="Segoe UI Light"/>
              </a:rPr>
              <a:t>LoRA</a:t>
            </a:r>
          </a:p>
        </p:txBody>
      </p:sp>
      <p:sp>
        <p:nvSpPr>
          <p:cNvPr id="14" name="TextBox 13">
            <a:extLst xmlns:a="http://schemas.openxmlformats.org/drawingml/2006/main">
              <a:ext uri="{FF2B5EF4-FFF2-40B4-BE49-F238E27FC236}">
                <a16:creationId xmlns:a16="http://schemas.microsoft.com/office/drawing/2014/main" id="{C8A7803E-6FA3-4F2F-89A4-3F16F744CD0A}"/>
              </a:ext>
            </a:extLst>
          </p:cNvPr>
          <p:cNvSpPr>
            <a:spLocks xmlns:a="http://schemas.openxmlformats.org/drawingml/2006/main" noGrp="1"/>
          </p:cNvSpPr>
          <p:nvPr/>
        </p:nvSpPr>
        <p:spPr>
          <a:xfrm xmlns:a="http://schemas.openxmlformats.org/drawingml/2006/main">
            <a:off x="6766560" y="3438144"/>
            <a:ext cx="2194560" cy="603504"/>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spcAft>
                <a:spcPts val="0"/>
              </a:spcAft>
              <a:buNone/>
            </a:pPr>
            <a:r>
              <a:rPr sz="2000" b="0">
                <a:solidFill>
                  <a:srgbClr val="6E6E73"/>
                </a:solidFill>
                <a:latin typeface="Segoe UI Light"/>
                <a:ea typeface="Segoe UI Light"/>
                <a:cs typeface="Segoe UI Light"/>
              </a:rPr>
              <a:t>0.59 M</a:t>
            </a:r>
          </a:p>
        </p:txBody>
      </p:sp>
      <p:sp>
        <p:nvSpPr>
          <p:cNvPr id="15" name="TextBox 14">
            <a:extLst xmlns:a="http://schemas.openxmlformats.org/drawingml/2006/main">
              <a:ext uri="{FF2B5EF4-FFF2-40B4-BE49-F238E27FC236}">
                <a16:creationId xmlns:a16="http://schemas.microsoft.com/office/drawing/2014/main" id="{E8FF1B5E-525C-48D3-AAC6-D15F0667BE05}"/>
              </a:ext>
            </a:extLst>
          </p:cNvPr>
          <p:cNvSpPr>
            <a:spLocks xmlns:a="http://schemas.openxmlformats.org/drawingml/2006/main" noGrp="1"/>
          </p:cNvSpPr>
          <p:nvPr/>
        </p:nvSpPr>
        <p:spPr>
          <a:xfrm xmlns:a="http://schemas.openxmlformats.org/drawingml/2006/main">
            <a:off x="9052560" y="3438144"/>
            <a:ext cx="2103120" cy="603504"/>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spcAft>
                <a:spcPts val="0"/>
              </a:spcAft>
              <a:buNone/>
            </a:pPr>
            <a:r>
              <a:rPr sz="2000" b="0">
                <a:solidFill>
                  <a:srgbClr val="6E6E73"/>
                </a:solidFill>
                <a:latin typeface="Segoe UI Light"/>
                <a:ea typeface="Segoe UI Light"/>
                <a:cs typeface="Segoe UI Light"/>
              </a:rPr>
              <a:t>0.80%</a:t>
            </a:r>
          </a:p>
        </p:txBody>
      </p:sp>
      <p:sp>
        <p:nvSpPr>
          <p:cNvPr id="16" name="TextBox 15">
            <a:extLst xmlns:a="http://schemas.openxmlformats.org/drawingml/2006/main">
              <a:ext uri="{FF2B5EF4-FFF2-40B4-BE49-F238E27FC236}">
                <a16:creationId xmlns:a16="http://schemas.microsoft.com/office/drawing/2014/main" id="{BA8D8052-E0A8-45DD-9F57-D44EB27885D7}"/>
              </a:ext>
            </a:extLst>
          </p:cNvPr>
          <p:cNvSpPr>
            <a:spLocks xmlns:a="http://schemas.openxmlformats.org/drawingml/2006/main" noGrp="1"/>
          </p:cNvSpPr>
          <p:nvPr/>
        </p:nvSpPr>
        <p:spPr>
          <a:xfrm xmlns:a="http://schemas.openxmlformats.org/drawingml/2006/main">
            <a:off x="1005840" y="4059935"/>
            <a:ext cx="5669280" cy="603504"/>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spcAft>
                <a:spcPts val="0"/>
              </a:spcAft>
              <a:buNone/>
            </a:pPr>
            <a:r>
              <a:rPr sz="2000" b="0">
                <a:solidFill>
                  <a:srgbClr val="6E6E73"/>
                </a:solidFill>
                <a:latin typeface="Segoe UI Light"/>
                <a:ea typeface="Segoe UI Light"/>
                <a:cs typeface="Segoe UI Light"/>
              </a:rPr>
              <a:t>DoRA</a:t>
            </a:r>
          </a:p>
        </p:txBody>
      </p:sp>
      <p:sp>
        <p:nvSpPr>
          <p:cNvPr id="17" name="TextBox 16">
            <a:extLst xmlns:a="http://schemas.openxmlformats.org/drawingml/2006/main">
              <a:ext uri="{FF2B5EF4-FFF2-40B4-BE49-F238E27FC236}">
                <a16:creationId xmlns:a16="http://schemas.microsoft.com/office/drawing/2014/main" id="{08B24262-ABF7-40A3-8003-F6C4B3DF9073}"/>
              </a:ext>
            </a:extLst>
          </p:cNvPr>
          <p:cNvSpPr>
            <a:spLocks xmlns:a="http://schemas.openxmlformats.org/drawingml/2006/main" noGrp="1"/>
          </p:cNvSpPr>
          <p:nvPr/>
        </p:nvSpPr>
        <p:spPr>
          <a:xfrm xmlns:a="http://schemas.openxmlformats.org/drawingml/2006/main">
            <a:off x="6766560" y="4059935"/>
            <a:ext cx="2194560" cy="603504"/>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spcAft>
                <a:spcPts val="0"/>
              </a:spcAft>
              <a:buNone/>
            </a:pPr>
            <a:r>
              <a:rPr sz="2000" b="0">
                <a:solidFill>
                  <a:srgbClr val="6E6E73"/>
                </a:solidFill>
                <a:latin typeface="Segoe UI Light"/>
                <a:ea typeface="Segoe UI Light"/>
                <a:cs typeface="Segoe UI Light"/>
              </a:rPr>
              <a:t>0.63 M</a:t>
            </a:r>
          </a:p>
        </p:txBody>
      </p:sp>
      <p:sp>
        <p:nvSpPr>
          <p:cNvPr id="18" name="TextBox 17">
            <a:extLst xmlns:a="http://schemas.openxmlformats.org/drawingml/2006/main">
              <a:ext uri="{FF2B5EF4-FFF2-40B4-BE49-F238E27FC236}">
                <a16:creationId xmlns:a16="http://schemas.microsoft.com/office/drawing/2014/main" id="{8CEBBD86-47CB-45AB-BBA9-B2BC03D1463A}"/>
              </a:ext>
            </a:extLst>
          </p:cNvPr>
          <p:cNvSpPr>
            <a:spLocks xmlns:a="http://schemas.openxmlformats.org/drawingml/2006/main" noGrp="1"/>
          </p:cNvSpPr>
          <p:nvPr/>
        </p:nvSpPr>
        <p:spPr>
          <a:xfrm xmlns:a="http://schemas.openxmlformats.org/drawingml/2006/main">
            <a:off x="9052560" y="4059935"/>
            <a:ext cx="2103120" cy="603504"/>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spcAft>
                <a:spcPts val="0"/>
              </a:spcAft>
              <a:buNone/>
            </a:pPr>
            <a:r>
              <a:rPr sz="2000" b="0">
                <a:solidFill>
                  <a:srgbClr val="6E6E73"/>
                </a:solidFill>
                <a:latin typeface="Segoe UI Light"/>
                <a:ea typeface="Segoe UI Light"/>
                <a:cs typeface="Segoe UI Light"/>
              </a:rPr>
              <a:t>0.80%</a:t>
            </a:r>
          </a:p>
        </p:txBody>
      </p:sp>
      <p:sp>
        <p:nvSpPr>
          <p:cNvPr id="19" name="TextBox 18">
            <a:extLst xmlns:a="http://schemas.openxmlformats.org/drawingml/2006/main">
              <a:ext uri="{FF2B5EF4-FFF2-40B4-BE49-F238E27FC236}">
                <a16:creationId xmlns:a16="http://schemas.microsoft.com/office/drawing/2014/main" id="{2A094D4E-FD1C-40BF-A968-9CC0A0074E14}"/>
              </a:ext>
            </a:extLst>
          </p:cNvPr>
          <p:cNvSpPr>
            <a:spLocks xmlns:a="http://schemas.openxmlformats.org/drawingml/2006/main" noGrp="1"/>
          </p:cNvSpPr>
          <p:nvPr/>
        </p:nvSpPr>
        <p:spPr>
          <a:xfrm xmlns:a="http://schemas.openxmlformats.org/drawingml/2006/main">
            <a:off x="868680" y="4937760"/>
            <a:ext cx="10424160" cy="615553"/>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spcAft>
                <a:spcPts val="1000"/>
              </a:spcAft>
              <a:buNone/>
            </a:pPr>
            <a:r>
              <a:rPr sz="1700" b="0">
                <a:solidFill>
                  <a:srgbClr val="6E6E73"/>
                </a:solidFill>
                <a:latin typeface="Segoe UI Light"/>
                <a:ea typeface="Segoe UI Light"/>
                <a:cs typeface="Segoe UI Light"/>
              </a:rPr>
              <a:t>Same frozen backbone: probe 7.04% vs </a:t>
            </a:r>
            <a:r>
              <a:rPr sz="1700" b="0">
                <a:solidFill>
                  <a:srgbClr val="6E6E73"/>
                </a:solidFill>
                <a:latin typeface="Segoe UI Light"/>
                <a:ea typeface="Segoe UI Light"/>
                <a:cs typeface="Segoe UI Light"/>
              </a:rPr>
              <a:t>LoRA</a:t>
            </a:r>
            <a:r>
              <a:rPr sz="1700" b="0">
                <a:solidFill>
                  <a:srgbClr val="6E6E73"/>
                </a:solidFill>
                <a:latin typeface="Segoe UI Light"/>
                <a:ea typeface="Segoe UI Light"/>
                <a:cs typeface="Segoe UI Light"/>
              </a:rPr>
              <a:t> 0.80% unseen EER. </a:t>
            </a:r>
            <a:r>
              <a:rPr sz="1700" b="0">
                <a:solidFill>
                  <a:srgbClr val="6E6E73"/>
                </a:solidFill>
                <a:latin typeface="Segoe UI Light"/>
                <a:ea typeface="Segoe UI Light"/>
                <a:cs typeface="Segoe UI Light"/>
              </a:rPr>
              <a:t>RawBoost</a:t>
            </a:r>
            <a:r>
              <a:rPr sz="1700" b="0">
                <a:solidFill>
                  <a:srgbClr val="6E6E73"/>
                </a:solidFill>
                <a:latin typeface="Segoe UI Light"/>
                <a:ea typeface="Segoe UI Light"/>
                <a:cs typeface="Segoe UI Light"/>
              </a:rPr>
              <a:t> changes the </a:t>
            </a:r>
            <a:r>
              <a:rPr sz="1700" b="0">
                <a:solidFill>
                  <a:srgbClr val="6E6E73"/>
                </a:solidFill>
                <a:latin typeface="Segoe UI Light"/>
                <a:ea typeface="Segoe UI Light"/>
                <a:cs typeface="Segoe UI Light"/>
              </a:rPr>
              <a:t>LoRA</a:t>
            </a:r>
            <a:r>
              <a:rPr sz="1700" b="0">
                <a:solidFill>
                  <a:srgbClr val="6E6E73"/>
                </a:solidFill>
                <a:latin typeface="Segoe UI Light"/>
                <a:ea typeface="Segoe UI Light"/>
                <a:cs typeface="Segoe UI Light"/>
              </a:rPr>
              <a:t> gap 0.64→0.60 pp</a:t>
            </a:r>
            <a:r>
              <a:rPr sz="1700" b="0">
                <a:solidFill>
                  <a:srgbClr val="6E6E73"/>
                </a:solidFill>
                <a:latin typeface="Segoe UI Light"/>
                <a:ea typeface="Segoe UI Light"/>
                <a:cs typeface="Segoe UI Light"/>
              </a:rPr>
              <a:t> </a:t>
            </a:r>
            <a:r>
              <a:rPr sz="1700" b="0">
                <a:solidFill>
                  <a:srgbClr val="6E6E73"/>
                </a:solidFill>
                <a:latin typeface="Segoe UI Light"/>
                <a:ea typeface="Segoe UI Light"/>
                <a:cs typeface="Segoe UI Light"/>
              </a:rPr>
              <a:t>no clear effect from one seed.</a:t>
            </a:r>
          </a:p>
        </p:txBody>
      </p:sp>
    </p:spTree>
    <p:extLst>
      <p:ext uri="{BB962C8B-B14F-4D97-AF65-F5344CB8AC3E}">
        <p14:creationId xmlns:p14="http://schemas.microsoft.com/office/powerpoint/2010/main" val="98567672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711FADB-F907-4087-9723-A6E1CEC5F151}"/>
              </a:ext>
            </a:extLst>
          </p:cNvPr>
          <p:cNvSpPr>
            <a:spLocks xmlns:a="http://schemas.openxmlformats.org/drawingml/2006/main" noGrp="1"/>
          </p:cNvSpPr>
          <p:nvPr/>
        </p:nvSpPr>
        <p:spPr>
          <a:xfrm xmlns:a="http://schemas.openxmlformats.org/drawingml/2006/main">
            <a:off x="841248" y="603504"/>
            <a:ext cx="457200" cy="45720"/>
          </a:xfrm>
          <a:prstGeom xmlns:a="http://schemas.openxmlformats.org/drawingml/2006/main" prst="rect">
            <a:avLst/>
          </a:prstGeom>
          <a:solidFill xmlns:a="http://schemas.openxmlformats.org/drawingml/2006/main">
            <a:srgbClr val="0066C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34148D66-F9D1-47CB-ACBF-6EC9A842EB50}"/>
              </a:ext>
            </a:extLst>
          </p:cNvPr>
          <p:cNvSpPr>
            <a:spLocks xmlns:a="http://schemas.openxmlformats.org/drawingml/2006/main" noGrp="1"/>
          </p:cNvSpPr>
          <p:nvPr/>
        </p:nvSpPr>
        <p:spPr>
          <a:xfrm xmlns:a="http://schemas.openxmlformats.org/drawingml/2006/main">
            <a:off x="822960" y="749808"/>
            <a:ext cx="10515600" cy="155448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spcAft>
                <a:spcPts val="500"/>
              </a:spcAft>
              <a:buNone/>
            </a:pPr>
            <a:r>
              <a:rPr sz="1300" b="1">
                <a:solidFill>
                  <a:srgbClr val="0066CC"/>
                </a:solidFill>
                <a:latin typeface="Segoe UI Semibold"/>
                <a:ea typeface="Segoe UI Semibold"/>
                <a:cs typeface="Segoe UI Semibold"/>
              </a:rPr>
              <a:t>ANALYSIS</a:t>
            </a:r>
          </a:p>
          <a:p xmlns:a="http://schemas.openxmlformats.org/drawingml/2006/main">
            <a:pPr algn="l">
              <a:spcAft>
                <a:spcPts val="1000"/>
              </a:spcAft>
              <a:buNone/>
            </a:pPr>
            <a:r>
              <a:rPr sz="3300" b="1">
                <a:solidFill>
                  <a:srgbClr val="1D1D1F"/>
                </a:solidFill>
                <a:latin typeface="Segoe UI Semibold"/>
                <a:ea typeface="Segoe UI Semibold"/>
                <a:cs typeface="Segoe UI Semibold"/>
              </a:rPr>
              <a:t>Clear separation, but validation is narrow</a:t>
            </a:r>
          </a:p>
        </p:txBody>
      </p:sp>
      <p:sp>
        <p:nvSpPr>
          <p:cNvPr id="4" name="TextBox 3">
            <a:extLst xmlns:a="http://schemas.openxmlformats.org/drawingml/2006/main">
              <a:ext uri="{FF2B5EF4-FFF2-40B4-BE49-F238E27FC236}">
                <a16:creationId xmlns:a16="http://schemas.microsoft.com/office/drawing/2014/main" id="{C7F06C59-CA03-442D-8C61-B23123BB67A8}"/>
              </a:ext>
            </a:extLst>
          </p:cNvPr>
          <p:cNvSpPr>
            <a:spLocks xmlns:a="http://schemas.openxmlformats.org/drawingml/2006/main" noGrp="1"/>
          </p:cNvSpPr>
          <p:nvPr/>
        </p:nvSpPr>
        <p:spPr>
          <a:xfrm xmlns:a="http://schemas.openxmlformats.org/drawingml/2006/main">
            <a:off x="822960" y="6419088"/>
            <a:ext cx="731520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spcAft>
                <a:spcPts val="1000"/>
              </a:spcAft>
              <a:buNone/>
            </a:pPr>
            <a:r>
              <a:rPr sz="1000" b="0">
                <a:solidFill>
                  <a:srgbClr val="A1A1A6"/>
                </a:solidFill>
                <a:latin typeface="Segoe UI Light"/>
                <a:ea typeface="Segoe UI Light"/>
                <a:cs typeface="Segoe UI Light"/>
              </a:rPr>
              <a:t>Fake It Till You Make It  ·  00460217 Deep Learning</a:t>
            </a:r>
          </a:p>
        </p:txBody>
      </p:sp>
      <p:sp>
        <p:nvSpPr>
          <p:cNvPr id="5" name="TextBox 4">
            <a:extLst xmlns:a="http://schemas.openxmlformats.org/drawingml/2006/main">
              <a:ext uri="{FF2B5EF4-FFF2-40B4-BE49-F238E27FC236}">
                <a16:creationId xmlns:a16="http://schemas.microsoft.com/office/drawing/2014/main" id="{99C0383F-20AE-430E-BF0E-5FBB7C325195}"/>
              </a:ext>
            </a:extLst>
          </p:cNvPr>
          <p:cNvSpPr>
            <a:spLocks xmlns:a="http://schemas.openxmlformats.org/drawingml/2006/main" noGrp="1"/>
          </p:cNvSpPr>
          <p:nvPr/>
        </p:nvSpPr>
        <p:spPr>
          <a:xfrm xmlns:a="http://schemas.openxmlformats.org/drawingml/2006/main">
            <a:off x="10607040" y="6419088"/>
            <a:ext cx="82296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spcAft>
                <a:spcPts val="1000"/>
              </a:spcAft>
              <a:buNone/>
            </a:pPr>
            <a:r>
              <a:rPr sz="1000" b="0">
                <a:solidFill>
                  <a:srgbClr val="A1A1A6"/>
                </a:solidFill>
                <a:latin typeface="Segoe UI Light"/>
                <a:ea typeface="Segoe UI Light"/>
                <a:cs typeface="Segoe UI Light"/>
              </a:rPr>
              <a:t>08</a:t>
            </a:r>
          </a:p>
        </p:txBody>
      </p:sp>
      <p:pic>
        <p:nvPicPr>
          <p:cNvPr id="13" name="Picture 5"/>
          <p:cNvPicPr>
            <a:picLocks xmlns:a="http://schemas.openxmlformats.org/drawingml/2006/main" noChangeAspect="1"/>
          </p:cNvPicPr>
          <p:nvPr/>
        </p:nvPicPr>
        <p:blipFill>
          <a:blip xmlns:r="http://schemas.openxmlformats.org/officeDocument/2006/relationships" xmlns:a="http://schemas.openxmlformats.org/drawingml/2006/main" r:embed="Rcc385b1ef4d14409"/>
          <a:stretch xmlns:a="http://schemas.openxmlformats.org/drawingml/2006/main">
            <a:fillRect l="0" t="0" r="0" b="0"/>
          </a:stretch>
        </p:blipFill>
        <p:spPr>
          <a:xfrm xmlns:a="http://schemas.openxmlformats.org/drawingml/2006/main">
            <a:off x="822960" y="2194560"/>
            <a:ext cx="4480560" cy="3840480"/>
          </a:xfrm>
          <a:prstGeom xmlns:a="http://schemas.openxmlformats.org/drawingml/2006/main" prst="rect">
            <a:avLst/>
          </a:prstGeom>
        </p:spPr>
      </p:pic>
      <p:sp>
        <p:nvSpPr>
          <p:cNvPr id="7" name="TextBox 6">
            <a:extLst xmlns:a="http://schemas.openxmlformats.org/drawingml/2006/main">
              <a:ext uri="{FF2B5EF4-FFF2-40B4-BE49-F238E27FC236}">
                <a16:creationId xmlns:a16="http://schemas.microsoft.com/office/drawing/2014/main" id="{8040E97F-17ED-4DB1-A29F-6B5A124B8A0C}"/>
              </a:ext>
            </a:extLst>
          </p:cNvPr>
          <p:cNvSpPr>
            <a:spLocks xmlns:a="http://schemas.openxmlformats.org/drawingml/2006/main" noGrp="1"/>
          </p:cNvSpPr>
          <p:nvPr/>
        </p:nvSpPr>
        <p:spPr>
          <a:xfrm xmlns:a="http://schemas.openxmlformats.org/drawingml/2006/main">
            <a:off x="6309360" y="2286000"/>
            <a:ext cx="4937760" cy="2811026"/>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spcAft>
                <a:spcPts val="1800"/>
              </a:spcAft>
              <a:buNone/>
            </a:pPr>
            <a:r>
              <a:rPr sz="1900" b="0">
                <a:solidFill>
                  <a:srgbClr val="6E6E73"/>
                </a:solidFill>
                <a:latin typeface="Segoe UI Light"/>
                <a:ea typeface="Segoe UI Light"/>
                <a:cs typeface="Segoe UI Light"/>
              </a:rPr>
              <a:t>On </a:t>
            </a:r>
            <a:r>
              <a:rPr sz="1900" b="0">
                <a:solidFill>
                  <a:srgbClr val="6E6E73"/>
                </a:solidFill>
                <a:latin typeface="Segoe UI Light"/>
                <a:ea typeface="Segoe UI Light"/>
                <a:cs typeface="Segoe UI Light"/>
              </a:rPr>
              <a:t>ASVspoof</a:t>
            </a:r>
            <a:r>
              <a:rPr sz="1900" b="0">
                <a:solidFill>
                  <a:srgbClr val="6E6E73"/>
                </a:solidFill>
                <a:latin typeface="Segoe UI Light"/>
                <a:ea typeface="Segoe UI Light"/>
                <a:cs typeface="Segoe UI Light"/>
              </a:rPr>
              <a:t> evaluation, bona fide speech and unseen spoofs separate in this 2D projection. This is descriptive</a:t>
            </a:r>
            <a:r>
              <a:rPr sz="1900" b="0">
                <a:solidFill>
                  <a:srgbClr val="6E6E73"/>
                </a:solidFill>
                <a:latin typeface="Segoe UI Light"/>
                <a:ea typeface="Segoe UI Light"/>
                <a:cs typeface="Segoe UI Light"/>
              </a:rPr>
              <a:t> </a:t>
            </a:r>
            <a:r>
              <a:rPr sz="1900" b="0">
                <a:solidFill>
                  <a:srgbClr val="6E6E73"/>
                </a:solidFill>
                <a:latin typeface="Segoe UI Light"/>
                <a:ea typeface="Segoe UI Light"/>
                <a:cs typeface="Segoe UI Light"/>
              </a:rPr>
              <a:t>not a causal explanation or cross-corpus proof.</a:t>
            </a:r>
          </a:p>
          <a:p xmlns:a="http://schemas.openxmlformats.org/drawingml/2006/main">
            <a:pPr algn="l">
              <a:spcAft>
                <a:spcPts val="800"/>
              </a:spcAft>
              <a:buNone/>
            </a:pPr>
            <a:r>
              <a:rPr sz="1800" b="1">
                <a:solidFill>
                  <a:srgbClr val="1D1D1F"/>
                </a:solidFill>
                <a:latin typeface="Segoe UI Semibold"/>
                <a:ea typeface="Segoe UI Semibold"/>
                <a:cs typeface="Segoe UI Semibold"/>
              </a:rPr>
              <a:t>Limitations:</a:t>
            </a:r>
          </a:p>
          <a:p xmlns:a="http://schemas.openxmlformats.org/drawingml/2006/main">
            <a:pPr algn="l">
              <a:spcAft>
                <a:spcPts val="600"/>
              </a:spcAft>
              <a:buNone/>
            </a:pPr>
            <a:r>
              <a:rPr sz="1700" b="0">
                <a:solidFill>
                  <a:srgbClr val="6E6E73"/>
                </a:solidFill>
                <a:latin typeface="Segoe UI Light"/>
                <a:ea typeface="Segoe UI Light"/>
                <a:cs typeface="Segoe UI Light"/>
              </a:rPr>
              <a:t>–  one random seed</a:t>
            </a:r>
          </a:p>
          <a:p xmlns:a="http://schemas.openxmlformats.org/drawingml/2006/main">
            <a:pPr algn="l">
              <a:spcAft>
                <a:spcPts val="600"/>
              </a:spcAft>
              <a:buNone/>
            </a:pPr>
            <a:r>
              <a:rPr sz="1700" b="0">
                <a:solidFill>
                  <a:srgbClr val="6E6E73"/>
                </a:solidFill>
                <a:latin typeface="Segoe UI Light"/>
                <a:ea typeface="Segoe UI Light"/>
                <a:cs typeface="Segoe UI Light"/>
              </a:rPr>
              <a:t>–  one base-size backbone</a:t>
            </a:r>
          </a:p>
          <a:p xmlns:a="http://schemas.openxmlformats.org/drawingml/2006/main">
            <a:pPr algn="l">
              <a:spcAft>
                <a:spcPts val="600"/>
              </a:spcAft>
              <a:buNone/>
            </a:pPr>
            <a:r>
              <a:rPr sz="1700" b="0">
                <a:solidFill>
                  <a:srgbClr val="6E6E73"/>
                </a:solidFill>
                <a:latin typeface="Segoe UI Light"/>
                <a:ea typeface="Segoe UI Light"/>
                <a:cs typeface="Segoe UI Light"/>
              </a:rPr>
              <a:t>–  no cross-corpus test</a:t>
            </a:r>
          </a:p>
        </p:txBody>
      </p:sp>
    </p:spTree>
    <p:extLst>
      <p:ext uri="{BB962C8B-B14F-4D97-AF65-F5344CB8AC3E}">
        <p14:creationId xmlns:p14="http://schemas.microsoft.com/office/powerpoint/2010/main" val="861097359"/>
      </p:ext>
    </p:extLst>
  </p:cSld>
</p:sld>
</file>

<file path=ppt/slides/slide10.xml><?xml version="1.0" encoding="utf-8"?>
<p:sld xmlns:p="http://schemas.openxmlformats.org/presentationml/2006/main">
  <p:cSld>
    <p:bg>
      <p:bgPr>
        <a:solidFill xmlns:a="http://schemas.openxmlformats.org/drawingml/2006/main">
          <a:srgbClr val="0B1F3A"/>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118F4362-D867-43AD-AD7E-8DC3C7B0A307}"/>
              </a:ext>
            </a:extLst>
          </p:cNvPr>
          <p:cNvSpPr>
            <a:spLocks xmlns:a="http://schemas.openxmlformats.org/drawingml/2006/main" noGrp="1"/>
          </p:cNvSpPr>
          <p:nvPr/>
        </p:nvSpPr>
        <p:spPr>
          <a:xfrm xmlns:a="http://schemas.openxmlformats.org/drawingml/2006/main">
            <a:off x="749808" y="1024128"/>
            <a:ext cx="128016" cy="1234440"/>
          </a:xfrm>
          <a:prstGeom xmlns:a="http://schemas.openxmlformats.org/drawingml/2006/main" prst="rect">
            <a:avLst/>
          </a:prstGeom>
          <a:solidFill xmlns:a="http://schemas.openxmlformats.org/drawingml/2006/main">
            <a:srgbClr val="0066C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9D63FDEF-59D1-488C-97A3-FC788541CE72}"/>
              </a:ext>
            </a:extLst>
          </p:cNvPr>
          <p:cNvSpPr>
            <a:spLocks xmlns:a="http://schemas.openxmlformats.org/drawingml/2006/main" noGrp="1"/>
          </p:cNvSpPr>
          <p:nvPr/>
        </p:nvSpPr>
        <p:spPr>
          <a:xfrm xmlns:a="http://schemas.openxmlformats.org/drawingml/2006/main">
            <a:off x="1051560" y="960120"/>
            <a:ext cx="10515600" cy="91440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spcAft>
                <a:spcPts val="400"/>
              </a:spcAft>
              <a:buNone/>
            </a:pPr>
            <a:r>
              <a:rPr sz="1300" b="1">
                <a:solidFill>
                  <a:srgbClr val="C9DAF0"/>
                </a:solidFill>
                <a:latin typeface="Segoe UI Semibold"/>
                <a:ea typeface="Segoe UI Semibold"/>
                <a:cs typeface="Segoe UI Semibold"/>
              </a:rPr>
              <a:t>TAKEAWAYS</a:t>
            </a:r>
          </a:p>
          <a:p xmlns:a="http://schemas.openxmlformats.org/drawingml/2006/main">
            <a:pPr algn="l">
              <a:spcAft>
                <a:spcPts val="1000"/>
              </a:spcAft>
              <a:buNone/>
            </a:pPr>
            <a:r>
              <a:rPr sz="3000" b="1">
                <a:solidFill>
                  <a:srgbClr val="FFFFFF"/>
                </a:solidFill>
                <a:latin typeface="Segoe UI Semibold"/>
                <a:ea typeface="Segoe UI Semibold"/>
                <a:cs typeface="Segoe UI Semibold"/>
              </a:rPr>
              <a:t>What the results support</a:t>
            </a:r>
          </a:p>
        </p:txBody>
      </p:sp>
      <p:sp>
        <p:nvSpPr>
          <p:cNvPr id="4" name="TextBox 3">
            <a:extLst xmlns:a="http://schemas.openxmlformats.org/drawingml/2006/main">
              <a:ext uri="{FF2B5EF4-FFF2-40B4-BE49-F238E27FC236}">
                <a16:creationId xmlns:a16="http://schemas.microsoft.com/office/drawing/2014/main" id="{1F826D7A-4114-416E-8863-2E2A2E0F682E}"/>
              </a:ext>
            </a:extLst>
          </p:cNvPr>
          <p:cNvSpPr>
            <a:spLocks xmlns:a="http://schemas.openxmlformats.org/drawingml/2006/main" noGrp="1"/>
          </p:cNvSpPr>
          <p:nvPr/>
        </p:nvSpPr>
        <p:spPr>
          <a:xfrm xmlns:a="http://schemas.openxmlformats.org/drawingml/2006/main">
            <a:off x="868680" y="2651760"/>
            <a:ext cx="10424160" cy="31089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spcAft>
                <a:spcPts val="2000"/>
              </a:spcAft>
              <a:buNone/>
            </a:pPr>
            <a:r>
              <a:rPr sz="2000" b="0">
                <a:solidFill>
                  <a:srgbClr val="C9DAF0"/>
                </a:solidFill>
                <a:latin typeface="Segoe UI Light"/>
                <a:ea typeface="Segoe UI Light"/>
                <a:cs typeface="Segoe UI Light"/>
              </a:rPr>
              <a:t>1.  One ASVspoof run: gap ≥9.45 pp (LCNNs) → 0.64 pp (LoRA), with 0.59M trainable parameters.</a:t>
            </a:r>
          </a:p>
          <a:p xmlns:a="http://schemas.openxmlformats.org/drawingml/2006/main">
            <a:pPr algn="l">
              <a:spcAft>
                <a:spcPts val="2000"/>
              </a:spcAft>
              <a:buNone/>
            </a:pPr>
            <a:r>
              <a:rPr sz="2000" b="0">
                <a:solidFill>
                  <a:srgbClr val="C9DAF0"/>
                </a:solidFill>
                <a:latin typeface="Segoe UI Light"/>
                <a:ea typeface="Segoe UI Light"/>
                <a:cs typeface="Segoe UI Light"/>
              </a:rPr>
              <a:t>2.  Frozen probe 7.04% vs LoRA 0.80% unseen EER: adaptation drove the gain in this setup.</a:t>
            </a:r>
          </a:p>
          <a:p xmlns:a="http://schemas.openxmlformats.org/drawingml/2006/main">
            <a:pPr algn="l">
              <a:spcAft>
                <a:spcPts val="2000"/>
              </a:spcAft>
              <a:buNone/>
            </a:pPr>
            <a:r>
              <a:rPr sz="2000" b="0">
                <a:solidFill>
                  <a:srgbClr val="C9DAF0"/>
                </a:solidFill>
                <a:latin typeface="Segoe UI Light"/>
                <a:ea typeface="Segoe UI Light"/>
                <a:cs typeface="Segoe UI Light"/>
              </a:rPr>
              <a:t>3.  A detector score is evidence, not proof; cross-corpus and multi-seed validation remain open.</a:t>
            </a:r>
          </a:p>
        </p:txBody>
      </p:sp>
      <p:sp>
        <p:nvSpPr>
          <p:cNvPr id="5" name="TextBox 4">
            <a:extLst xmlns:a="http://schemas.openxmlformats.org/drawingml/2006/main">
              <a:ext uri="{FF2B5EF4-FFF2-40B4-BE49-F238E27FC236}">
                <a16:creationId xmlns:a16="http://schemas.microsoft.com/office/drawing/2014/main" id="{8DFFCDE0-4AD5-4AE8-9493-333473B61FBB}"/>
              </a:ext>
            </a:extLst>
          </p:cNvPr>
          <p:cNvSpPr>
            <a:spLocks xmlns:a="http://schemas.openxmlformats.org/drawingml/2006/main" noGrp="1"/>
          </p:cNvSpPr>
          <p:nvPr/>
        </p:nvSpPr>
        <p:spPr>
          <a:xfrm xmlns:a="http://schemas.openxmlformats.org/drawingml/2006/main">
            <a:off x="868680" y="6126480"/>
            <a:ext cx="10424160" cy="5486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spcAft>
                <a:spcPts val="1000"/>
              </a:spcAft>
              <a:buNone/>
            </a:pPr>
            <a:r>
              <a:rPr sz="1600" b="0">
                <a:solidFill>
                  <a:srgbClr val="FFFFFF"/>
                </a:solidFill>
                <a:latin typeface="Segoe UI Light"/>
                <a:ea typeface="Segoe UI Light"/>
                <a:cs typeface="Segoe UI Light"/>
              </a:rPr>
              <a:t>github.com/taha-tahaa/fake-it-till-you-make-it     ·     Thank you</a:t>
            </a:r>
          </a:p>
        </p:txBody>
      </p:sp>
    </p:spTree>
    <p:extLst>
      <p:ext uri="{BB962C8B-B14F-4D97-AF65-F5344CB8AC3E}">
        <p14:creationId xmlns:p14="http://schemas.microsoft.com/office/powerpoint/2010/main" val="54286881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41FBDAB-7859-4843-A9E0-616B44BDE2BA}"/>
              </a:ext>
            </a:extLst>
          </p:cNvPr>
          <p:cNvSpPr>
            <a:spLocks xmlns:a="http://schemas.openxmlformats.org/drawingml/2006/main" noGrp="1"/>
          </p:cNvSpPr>
          <p:nvPr/>
        </p:nvSpPr>
        <p:spPr>
          <a:xfrm xmlns:a="http://schemas.openxmlformats.org/drawingml/2006/main">
            <a:off x="841248" y="603504"/>
            <a:ext cx="457200" cy="45720"/>
          </a:xfrm>
          <a:prstGeom xmlns:a="http://schemas.openxmlformats.org/drawingml/2006/main" prst="rect">
            <a:avLst/>
          </a:prstGeom>
          <a:solidFill xmlns:a="http://schemas.openxmlformats.org/drawingml/2006/main">
            <a:srgbClr val="0066C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1C82AD0C-74EB-4583-AFE5-9F0B8E4C71E7}"/>
              </a:ext>
            </a:extLst>
          </p:cNvPr>
          <p:cNvSpPr>
            <a:spLocks xmlns:a="http://schemas.openxmlformats.org/drawingml/2006/main" noGrp="1"/>
          </p:cNvSpPr>
          <p:nvPr/>
        </p:nvSpPr>
        <p:spPr>
          <a:xfrm xmlns:a="http://schemas.openxmlformats.org/drawingml/2006/main">
            <a:off x="822960" y="749808"/>
            <a:ext cx="10515600" cy="155448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spcAft>
                <a:spcPts val="500"/>
              </a:spcAft>
              <a:buNone/>
            </a:pPr>
            <a:r>
              <a:rPr sz="1300" b="1">
                <a:solidFill>
                  <a:srgbClr val="0066CC"/>
                </a:solidFill>
                <a:latin typeface="Segoe UI Semibold"/>
                <a:ea typeface="Segoe UI Semibold"/>
                <a:cs typeface="Segoe UI Semibold"/>
              </a:rPr>
              <a:t>BACKUP</a:t>
            </a:r>
          </a:p>
          <a:p xmlns:a="http://schemas.openxmlformats.org/drawingml/2006/main">
            <a:pPr algn="l">
              <a:spcAft>
                <a:spcPts val="1000"/>
              </a:spcAft>
              <a:buNone/>
            </a:pPr>
            <a:r>
              <a:rPr sz="3300" b="1">
                <a:solidFill>
                  <a:srgbClr val="1D1D1F"/>
                </a:solidFill>
                <a:latin typeface="Segoe UI Semibold"/>
                <a:ea typeface="Segoe UI Semibold"/>
                <a:cs typeface="Segoe UI Semibold"/>
              </a:rPr>
              <a:t>AUC 0.9996 on unseen ASVspoof attacks</a:t>
            </a:r>
          </a:p>
        </p:txBody>
      </p:sp>
      <p:sp>
        <p:nvSpPr>
          <p:cNvPr id="4" name="TextBox 3">
            <a:extLst xmlns:a="http://schemas.openxmlformats.org/drawingml/2006/main">
              <a:ext uri="{FF2B5EF4-FFF2-40B4-BE49-F238E27FC236}">
                <a16:creationId xmlns:a16="http://schemas.microsoft.com/office/drawing/2014/main" id="{63AC7FDB-4B24-4B61-81CE-2849AC07E442}"/>
              </a:ext>
            </a:extLst>
          </p:cNvPr>
          <p:cNvSpPr>
            <a:spLocks xmlns:a="http://schemas.openxmlformats.org/drawingml/2006/main" noGrp="1"/>
          </p:cNvSpPr>
          <p:nvPr/>
        </p:nvSpPr>
        <p:spPr>
          <a:xfrm xmlns:a="http://schemas.openxmlformats.org/drawingml/2006/main">
            <a:off x="822960" y="6419088"/>
            <a:ext cx="731520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spcAft>
                <a:spcPts val="1000"/>
              </a:spcAft>
              <a:buNone/>
            </a:pPr>
            <a:r>
              <a:rPr sz="1000" b="0">
                <a:solidFill>
                  <a:srgbClr val="A1A1A6"/>
                </a:solidFill>
                <a:latin typeface="Segoe UI Light"/>
                <a:ea typeface="Segoe UI Light"/>
                <a:cs typeface="Segoe UI Light"/>
              </a:rPr>
              <a:t>Fake It Till You Make It  ·  00460217 Deep Learning</a:t>
            </a:r>
          </a:p>
        </p:txBody>
      </p:sp>
      <p:sp>
        <p:nvSpPr>
          <p:cNvPr id="5" name="TextBox 4">
            <a:extLst xmlns:a="http://schemas.openxmlformats.org/drawingml/2006/main">
              <a:ext uri="{FF2B5EF4-FFF2-40B4-BE49-F238E27FC236}">
                <a16:creationId xmlns:a16="http://schemas.microsoft.com/office/drawing/2014/main" id="{AC2196CE-270F-4777-AE25-C8CE63442E93}"/>
              </a:ext>
            </a:extLst>
          </p:cNvPr>
          <p:cNvSpPr>
            <a:spLocks xmlns:a="http://schemas.openxmlformats.org/drawingml/2006/main" noGrp="1"/>
          </p:cNvSpPr>
          <p:nvPr/>
        </p:nvSpPr>
        <p:spPr>
          <a:xfrm xmlns:a="http://schemas.openxmlformats.org/drawingml/2006/main">
            <a:off x="10607040" y="6419088"/>
            <a:ext cx="82296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spcAft>
                <a:spcPts val="1000"/>
              </a:spcAft>
              <a:buNone/>
            </a:pPr>
            <a:r>
              <a:rPr sz="1000" b="0">
                <a:solidFill>
                  <a:srgbClr val="A1A1A6"/>
                </a:solidFill>
                <a:latin typeface="Segoe UI Light"/>
                <a:ea typeface="Segoe UI Light"/>
                <a:cs typeface="Segoe UI Light"/>
              </a:rPr>
              <a:t>B0</a:t>
            </a:r>
          </a:p>
        </p:txBody>
      </p:sp>
      <p:sp>
        <p:nvSpPr>
          <p:cNvPr id="7" name="TextBox 6">
            <a:extLst xmlns:a="http://schemas.openxmlformats.org/drawingml/2006/main">
              <a:ext uri="{FF2B5EF4-FFF2-40B4-BE49-F238E27FC236}">
                <a16:creationId xmlns:a16="http://schemas.microsoft.com/office/drawing/2014/main" id="{C6A9E300-469E-42B9-BB64-7411F71CA063}"/>
              </a:ext>
            </a:extLst>
          </p:cNvPr>
          <p:cNvSpPr>
            <a:spLocks xmlns:a="http://schemas.openxmlformats.org/drawingml/2006/main" noGrp="1"/>
          </p:cNvSpPr>
          <p:nvPr/>
        </p:nvSpPr>
        <p:spPr>
          <a:xfrm xmlns:a="http://schemas.openxmlformats.org/drawingml/2006/main">
            <a:off x="868680" y="5989320"/>
            <a:ext cx="10424160" cy="45720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spcAft>
                <a:spcPts val="1000"/>
              </a:spcAft>
              <a:buNone/>
            </a:pPr>
            <a:r>
              <a:rPr sz="1400" b="0">
                <a:solidFill>
                  <a:srgbClr val="6E6E73"/>
                </a:solidFill>
                <a:latin typeface="Segoe UI Light"/>
                <a:ea typeface="Segoe UI Light"/>
                <a:cs typeface="Segoe UI Light"/>
              </a:rPr>
              <a:t>Within ASVspoof: AUC 0.9996 vs 0.952; BCE scores are strongly separated, not cross-corpus validated.</a:t>
            </a:r>
          </a:p>
        </p:txBody>
      </p:sp>
      <p:pic>
        <p:nvPicPr>
          <p:cNvPr id="17" name="Picture 16"/>
          <p:cNvPicPr>
            <a:picLocks xmlns:a="http://schemas.openxmlformats.org/drawingml/2006/main" noChangeAspect="1"/>
          </p:cNvPicPr>
          <p:nvPr/>
        </p:nvPicPr>
        <p:blipFill>
          <a:blip xmlns:r="http://schemas.openxmlformats.org/officeDocument/2006/relationships" xmlns:a="http://schemas.openxmlformats.org/drawingml/2006/main" r:embed="R895ea4e49ff34b9c"/>
          <a:srcRect xmlns:a="http://schemas.openxmlformats.org/drawingml/2006/main" l="0" t="0" r="0" b="0"/>
          <a:stretch xmlns:a="http://schemas.openxmlformats.org/drawingml/2006/main">
            <a:fillRect l="0" t="0" r="0" b="0"/>
          </a:stretch>
        </p:blipFill>
        <p:spPr>
          <a:xfrm xmlns:a="http://schemas.openxmlformats.org/drawingml/2006/main">
            <a:off x="1562195" y="2103120"/>
            <a:ext cx="9067324" cy="3566160"/>
          </a:xfrm>
          <a:prstGeom xmlns:a="http://schemas.openxmlformats.org/drawingml/2006/main" prst="rect">
            <a:avLst/>
          </a:prstGeom>
        </p:spPr>
      </p:pic>
      <p:sp>
        <p:nvSpPr>
          <p:cNvPr id="9" name="EER reference y equals one minus x">
            <a:extLst xmlns:a="http://schemas.openxmlformats.org/drawingml/2006/main">
              <a:ext uri="{FF2B5EF4-FFF2-40B4-BE49-F238E27FC236}">
                <a16:creationId xmlns:a16="http://schemas.microsoft.com/office/drawing/2014/main" id="{CB4C4103-1A00-4DD4-92A6-3B9ABEEB54C2}"/>
              </a:ext>
            </a:extLst>
          </p:cNvPr>
          <p:cNvSpPr>
            <a:spLocks xmlns:a="http://schemas.openxmlformats.org/drawingml/2006/main" noGrp="1"/>
          </p:cNvSpPr>
          <p:nvPr/>
        </p:nvSpPr>
        <p:spPr>
          <a:xfrm xmlns:a="http://schemas.openxmlformats.org/drawingml/2006/main">
            <a:off x="2048828" y="2348865"/>
            <a:ext cx="3694748" cy="2684145"/>
          </a:xfrm>
          <a:prstGeom xmlns:a="http://schemas.openxmlformats.org/drawingml/2006/main" prst="line">
            <a:avLst/>
          </a:prstGeom>
          <a:noFill xmlns:a="http://schemas.openxmlformats.org/drawingml/2006/main"/>
          <a:ln xmlns:a="http://schemas.openxmlformats.org/drawingml/2006/main" w="14288">
            <a:solidFill>
              <a:srgbClr val="7A7A80"/>
            </a:solidFill>
            <a:prstDash val="dash"/>
          </a:ln>
        </p:spPr>
        <p:txBody>
          <a:bodyPr xmlns:a="http://schemas.openxmlformats.org/drawingml/2006/main"/>
          <a:lstStyle xmlns:a="http://schemas.openxmlformats.org/drawingml/2006/main"/>
          <a:p xmlns:a="http://schemas.openxmlformats.org/drawingml/2006/main"/>
        </p:txBody>
      </p:sp>
      <p:sp>
        <p:nvSpPr>
          <p:cNvPr id="10" name="EER reference label">
            <a:extLst xmlns:a="http://schemas.openxmlformats.org/drawingml/2006/main">
              <a:ext uri="{FF2B5EF4-FFF2-40B4-BE49-F238E27FC236}">
                <a16:creationId xmlns:a16="http://schemas.microsoft.com/office/drawing/2014/main" id="{EB71A08B-E751-4EED-BDB3-19AB31A5C544}"/>
              </a:ext>
            </a:extLst>
          </p:cNvPr>
          <p:cNvSpPr>
            <a:spLocks xmlns:a="http://schemas.openxmlformats.org/drawingml/2006/main" noGrp="1"/>
          </p:cNvSpPr>
          <p:nvPr/>
        </p:nvSpPr>
        <p:spPr>
          <a:xfrm xmlns:a="http://schemas.openxmlformats.org/drawingml/2006/main">
            <a:off x="3209925" y="2886075"/>
            <a:ext cx="2438400" cy="285750"/>
          </a:xfrm>
          <a:prstGeom xmlns:a="http://schemas.openxmlformats.org/drawingml/2006/main" prst="roundRect">
            <a:avLst>
              <a:gd name="adj" fmla="val 16667"/>
            </a:avLst>
          </a:prstGeom>
          <a:solidFill xmlns:a="http://schemas.openxmlformats.org/drawingml/2006/main">
            <a:srgbClr val="FFFFFF">
              <a:alpha val="90980"/>
            </a:srgbClr>
          </a:solidFill>
          <a:ln xmlns:a="http://schemas.openxmlformats.org/drawingml/2006/main" w="5715">
            <a:solidFill>
              <a:srgbClr val="C7C7CC"/>
            </a:solidFill>
            <a:prstDash val="solid"/>
          </a:ln>
        </p:spPr>
        <p:txBody>
          <a:bodyPr xmlns:a="http://schemas.openxmlformats.org/drawingml/2006/main" wrap="none" lIns="38100" tIns="19050" rIns="38100" bIns="19050" anchor="ctr">
            <a:normAutofit/>
          </a:bodyPr>
          <a:lstStyle xmlns:a="http://schemas.openxmlformats.org/drawingml/2006/main"/>
          <a:p xmlns:a="http://schemas.openxmlformats.org/drawingml/2006/main">
            <a:pPr algn="ctr">
              <a:buNone/>
              <a:defRPr sz="1000" b="1">
                <a:solidFill>
                  <a:srgbClr val="5D5D62"/>
                </a:solidFill>
                <a:latin typeface="Segoe UI Semibold"/>
                <a:ea typeface="Segoe UI Semibold"/>
                <a:cs typeface="Segoe UI Semibold"/>
              </a:defRPr>
            </a:pPr>
            <a:r>
              <a:rPr sz="1000" b="1">
                <a:solidFill>
                  <a:srgbClr val="5D5D62"/>
                </a:solidFill>
                <a:latin typeface="Segoe UI Semibold"/>
                <a:ea typeface="Segoe UI Semibold"/>
                <a:cs typeface="Segoe UI Semibold"/>
              </a:rPr>
              <a:t>EER reference: FPR ≈ FNR</a:t>
            </a:r>
          </a:p>
        </p:txBody>
      </p:sp>
    </p:spTree>
    <p:extLst>
      <p:ext uri="{BB962C8B-B14F-4D97-AF65-F5344CB8AC3E}">
        <p14:creationId xmlns:p14="http://schemas.microsoft.com/office/powerpoint/2010/main" val="131546707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E94094E-8E46-4911-81E0-D6F5D8F90004}"/>
              </a:ext>
            </a:extLst>
          </p:cNvPr>
          <p:cNvSpPr>
            <a:spLocks xmlns:a="http://schemas.openxmlformats.org/drawingml/2006/main" noGrp="1"/>
          </p:cNvSpPr>
          <p:nvPr/>
        </p:nvSpPr>
        <p:spPr>
          <a:xfrm xmlns:a="http://schemas.openxmlformats.org/drawingml/2006/main">
            <a:off x="841248" y="603504"/>
            <a:ext cx="457200" cy="45720"/>
          </a:xfrm>
          <a:prstGeom xmlns:a="http://schemas.openxmlformats.org/drawingml/2006/main" prst="rect">
            <a:avLst/>
          </a:prstGeom>
          <a:solidFill xmlns:a="http://schemas.openxmlformats.org/drawingml/2006/main">
            <a:srgbClr val="0066C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649AC99D-E634-4A95-8A2A-D3B6012A70F6}"/>
              </a:ext>
            </a:extLst>
          </p:cNvPr>
          <p:cNvSpPr>
            <a:spLocks xmlns:a="http://schemas.openxmlformats.org/drawingml/2006/main" noGrp="1"/>
          </p:cNvSpPr>
          <p:nvPr/>
        </p:nvSpPr>
        <p:spPr>
          <a:xfrm xmlns:a="http://schemas.openxmlformats.org/drawingml/2006/main">
            <a:off x="822960" y="749808"/>
            <a:ext cx="10515600" cy="155448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spcAft>
                <a:spcPts val="500"/>
              </a:spcAft>
              <a:buNone/>
            </a:pPr>
            <a:r>
              <a:rPr sz="1300" b="1">
                <a:solidFill>
                  <a:srgbClr val="0066CC"/>
                </a:solidFill>
                <a:latin typeface="Segoe UI Semibold"/>
                <a:ea typeface="Segoe UI Semibold"/>
                <a:cs typeface="Segoe UI Semibold"/>
              </a:rPr>
              <a:t>BACKUP</a:t>
            </a:r>
          </a:p>
          <a:p xmlns:a="http://schemas.openxmlformats.org/drawingml/2006/main">
            <a:pPr algn="l">
              <a:spcAft>
                <a:spcPts val="1000"/>
              </a:spcAft>
              <a:buNone/>
            </a:pPr>
            <a:r>
              <a:rPr sz="3300" b="1">
                <a:solidFill>
                  <a:srgbClr val="1D1D1F"/>
                </a:solidFill>
                <a:latin typeface="Segoe UI Semibold"/>
                <a:ea typeface="Segoe UI Semibold"/>
                <a:cs typeface="Segoe UI Semibold"/>
              </a:rPr>
              <a:t>All eight experiment pipelines</a:t>
            </a:r>
          </a:p>
        </p:txBody>
      </p:sp>
      <p:sp>
        <p:nvSpPr>
          <p:cNvPr id="4" name="TextBox 3">
            <a:extLst xmlns:a="http://schemas.openxmlformats.org/drawingml/2006/main">
              <a:ext uri="{FF2B5EF4-FFF2-40B4-BE49-F238E27FC236}">
                <a16:creationId xmlns:a16="http://schemas.microsoft.com/office/drawing/2014/main" id="{8917BD7E-00AA-4043-A5D0-31EF6D0BD364}"/>
              </a:ext>
            </a:extLst>
          </p:cNvPr>
          <p:cNvSpPr>
            <a:spLocks xmlns:a="http://schemas.openxmlformats.org/drawingml/2006/main" noGrp="1"/>
          </p:cNvSpPr>
          <p:nvPr/>
        </p:nvSpPr>
        <p:spPr>
          <a:xfrm xmlns:a="http://schemas.openxmlformats.org/drawingml/2006/main">
            <a:off x="822960" y="6419088"/>
            <a:ext cx="731520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spcAft>
                <a:spcPts val="1000"/>
              </a:spcAft>
              <a:buNone/>
            </a:pPr>
            <a:r>
              <a:rPr sz="1000" b="0">
                <a:solidFill>
                  <a:srgbClr val="A1A1A6"/>
                </a:solidFill>
                <a:latin typeface="Segoe UI Light"/>
                <a:ea typeface="Segoe UI Light"/>
                <a:cs typeface="Segoe UI Light"/>
              </a:rPr>
              <a:t>Fake It Till You Make It  ·  00460217 Deep Learning</a:t>
            </a:r>
          </a:p>
        </p:txBody>
      </p:sp>
      <p:sp>
        <p:nvSpPr>
          <p:cNvPr id="5" name="TextBox 4">
            <a:extLst xmlns:a="http://schemas.openxmlformats.org/drawingml/2006/main">
              <a:ext uri="{FF2B5EF4-FFF2-40B4-BE49-F238E27FC236}">
                <a16:creationId xmlns:a16="http://schemas.microsoft.com/office/drawing/2014/main" id="{C4257AE8-8BC9-4DB8-9B0F-CB5E121C7E18}"/>
              </a:ext>
            </a:extLst>
          </p:cNvPr>
          <p:cNvSpPr>
            <a:spLocks xmlns:a="http://schemas.openxmlformats.org/drawingml/2006/main" noGrp="1"/>
          </p:cNvSpPr>
          <p:nvPr/>
        </p:nvSpPr>
        <p:spPr>
          <a:xfrm xmlns:a="http://schemas.openxmlformats.org/drawingml/2006/main">
            <a:off x="10607040" y="6419088"/>
            <a:ext cx="82296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spcAft>
                <a:spcPts val="1000"/>
              </a:spcAft>
              <a:buNone/>
            </a:pPr>
            <a:r>
              <a:rPr sz="1000" b="0">
                <a:solidFill>
                  <a:srgbClr val="A1A1A6"/>
                </a:solidFill>
                <a:latin typeface="Segoe UI Light"/>
                <a:ea typeface="Segoe UI Light"/>
                <a:cs typeface="Segoe UI Light"/>
              </a:rPr>
              <a:t>B1</a:t>
            </a:r>
          </a:p>
        </p:txBody>
      </p:sp>
      <p:sp>
        <p:nvSpPr>
          <p:cNvPr id="7" name="TextBox 6">
            <a:extLst xmlns:a="http://schemas.openxmlformats.org/drawingml/2006/main">
              <a:ext uri="{FF2B5EF4-FFF2-40B4-BE49-F238E27FC236}">
                <a16:creationId xmlns:a16="http://schemas.microsoft.com/office/drawing/2014/main" id="{655DF6BA-E23F-4793-BE32-AC1332FA510A}"/>
              </a:ext>
            </a:extLst>
          </p:cNvPr>
          <p:cNvSpPr>
            <a:spLocks xmlns:a="http://schemas.openxmlformats.org/drawingml/2006/main" noGrp="1"/>
          </p:cNvSpPr>
          <p:nvPr/>
        </p:nvSpPr>
        <p:spPr>
          <a:xfrm xmlns:a="http://schemas.openxmlformats.org/drawingml/2006/main">
            <a:off x="868680" y="5989320"/>
            <a:ext cx="10424160" cy="45720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spcAft>
                <a:spcPts val="1000"/>
              </a:spcAft>
              <a:buNone/>
            </a:pPr>
            <a:r>
              <a:rPr sz="1400" b="0">
                <a:solidFill>
                  <a:srgbClr val="6E6E73"/>
                </a:solidFill>
                <a:latin typeface="Segoe UI Light"/>
                <a:ea typeface="Segoe UI Light"/>
                <a:cs typeface="Segoe UI Light"/>
              </a:rPr>
              <a:t>Diagram shorthand: BCE rows omit dropout; the OC model head exists but is ignored by the task loss.</a:t>
            </a:r>
          </a:p>
        </p:txBody>
      </p:sp>
      <p:pic>
        <p:nvPicPr>
          <p:cNvPr id="14" name="Picture 13"/>
          <p:cNvPicPr>
            <a:picLocks xmlns:a="http://schemas.openxmlformats.org/drawingml/2006/main" noChangeAspect="1"/>
          </p:cNvPicPr>
          <p:nvPr/>
        </p:nvPicPr>
        <p:blipFill>
          <a:blip xmlns:r="http://schemas.openxmlformats.org/officeDocument/2006/relationships" xmlns:a="http://schemas.openxmlformats.org/drawingml/2006/main" r:embed="R3881aca1e69b43a9"/>
          <a:srcRect xmlns:a="http://schemas.openxmlformats.org/drawingml/2006/main" l="0" t="7829" r="0" b="7829"/>
          <a:stretch xmlns:a="http://schemas.openxmlformats.org/drawingml/2006/main">
            <a:fillRect l="0" t="0" r="0" b="0"/>
          </a:stretch>
        </p:blipFill>
        <p:spPr>
          <a:xfrm xmlns:a="http://schemas.openxmlformats.org/drawingml/2006/main">
            <a:off x="2143125" y="1600200"/>
            <a:ext cx="7905750" cy="4448175"/>
          </a:xfrm>
          <a:prstGeom xmlns:a="http://schemas.openxmlformats.org/drawingml/2006/main" prst="rect">
            <a:avLst/>
          </a:prstGeom>
        </p:spPr>
      </p:pic>
    </p:spTree>
    <p:extLst>
      <p:ext uri="{BB962C8B-B14F-4D97-AF65-F5344CB8AC3E}">
        <p14:creationId xmlns:p14="http://schemas.microsoft.com/office/powerpoint/2010/main" val="66486124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D08198F-8681-4532-85B0-DB71033BDA67}"/>
              </a:ext>
            </a:extLst>
          </p:cNvPr>
          <p:cNvSpPr>
            <a:spLocks xmlns:a="http://schemas.openxmlformats.org/drawingml/2006/main" noGrp="1"/>
          </p:cNvSpPr>
          <p:nvPr/>
        </p:nvSpPr>
        <p:spPr>
          <a:xfrm xmlns:a="http://schemas.openxmlformats.org/drawingml/2006/main">
            <a:off x="841248" y="603504"/>
            <a:ext cx="457200" cy="45720"/>
          </a:xfrm>
          <a:prstGeom xmlns:a="http://schemas.openxmlformats.org/drawingml/2006/main" prst="rect">
            <a:avLst/>
          </a:prstGeom>
          <a:solidFill xmlns:a="http://schemas.openxmlformats.org/drawingml/2006/main">
            <a:srgbClr val="0066C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B2271EA7-4847-43DB-BADB-0DC5A4DB76E9}"/>
              </a:ext>
            </a:extLst>
          </p:cNvPr>
          <p:cNvSpPr>
            <a:spLocks xmlns:a="http://schemas.openxmlformats.org/drawingml/2006/main" noGrp="1"/>
          </p:cNvSpPr>
          <p:nvPr/>
        </p:nvSpPr>
        <p:spPr>
          <a:xfrm xmlns:a="http://schemas.openxmlformats.org/drawingml/2006/main">
            <a:off x="822960" y="749808"/>
            <a:ext cx="10515600" cy="155448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spcAft>
                <a:spcPts val="500"/>
              </a:spcAft>
              <a:buNone/>
            </a:pPr>
            <a:r>
              <a:rPr sz="1300" b="1">
                <a:solidFill>
                  <a:srgbClr val="0066CC"/>
                </a:solidFill>
                <a:latin typeface="Segoe UI Semibold"/>
                <a:ea typeface="Segoe UI Semibold"/>
                <a:cs typeface="Segoe UI Semibold"/>
              </a:rPr>
              <a:t>BACKUP</a:t>
            </a:r>
          </a:p>
          <a:p xmlns:a="http://schemas.openxmlformats.org/drawingml/2006/main">
            <a:pPr algn="l">
              <a:spcAft>
                <a:spcPts val="1000"/>
              </a:spcAft>
              <a:buNone/>
            </a:pPr>
            <a:r>
              <a:rPr sz="3300" b="1">
                <a:solidFill>
                  <a:srgbClr val="1D1D1F"/>
                </a:solidFill>
                <a:latin typeface="Segoe UI Semibold"/>
                <a:ea typeface="Segoe UI Semibold"/>
                <a:cs typeface="Segoe UI Semibold"/>
              </a:rPr>
              <a:t>EER and thresholds</a:t>
            </a:r>
          </a:p>
        </p:txBody>
      </p:sp>
      <p:sp>
        <p:nvSpPr>
          <p:cNvPr id="4" name="TextBox 3">
            <a:extLst xmlns:a="http://schemas.openxmlformats.org/drawingml/2006/main">
              <a:ext uri="{FF2B5EF4-FFF2-40B4-BE49-F238E27FC236}">
                <a16:creationId xmlns:a16="http://schemas.microsoft.com/office/drawing/2014/main" id="{D87D673C-0A96-49AA-A9DF-D7282EC45D15}"/>
              </a:ext>
            </a:extLst>
          </p:cNvPr>
          <p:cNvSpPr>
            <a:spLocks xmlns:a="http://schemas.openxmlformats.org/drawingml/2006/main" noGrp="1"/>
          </p:cNvSpPr>
          <p:nvPr/>
        </p:nvSpPr>
        <p:spPr>
          <a:xfrm xmlns:a="http://schemas.openxmlformats.org/drawingml/2006/main">
            <a:off x="822960" y="6419088"/>
            <a:ext cx="731520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spcAft>
                <a:spcPts val="1000"/>
              </a:spcAft>
              <a:buNone/>
            </a:pPr>
            <a:r>
              <a:rPr sz="1000" b="0">
                <a:solidFill>
                  <a:srgbClr val="A1A1A6"/>
                </a:solidFill>
                <a:latin typeface="Segoe UI Light"/>
                <a:ea typeface="Segoe UI Light"/>
                <a:cs typeface="Segoe UI Light"/>
              </a:rPr>
              <a:t>Fake It Till You Make It  ·  00460217 Deep Learning</a:t>
            </a:r>
          </a:p>
        </p:txBody>
      </p:sp>
      <p:sp>
        <p:nvSpPr>
          <p:cNvPr id="5" name="TextBox 4">
            <a:extLst xmlns:a="http://schemas.openxmlformats.org/drawingml/2006/main">
              <a:ext uri="{FF2B5EF4-FFF2-40B4-BE49-F238E27FC236}">
                <a16:creationId xmlns:a16="http://schemas.microsoft.com/office/drawing/2014/main" id="{0D5C91BD-90B5-4400-9256-1DB78B604363}"/>
              </a:ext>
            </a:extLst>
          </p:cNvPr>
          <p:cNvSpPr>
            <a:spLocks xmlns:a="http://schemas.openxmlformats.org/drawingml/2006/main" noGrp="1"/>
          </p:cNvSpPr>
          <p:nvPr/>
        </p:nvSpPr>
        <p:spPr>
          <a:xfrm xmlns:a="http://schemas.openxmlformats.org/drawingml/2006/main">
            <a:off x="10607040" y="6419088"/>
            <a:ext cx="82296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spcAft>
                <a:spcPts val="1000"/>
              </a:spcAft>
              <a:buNone/>
            </a:pPr>
            <a:r>
              <a:rPr sz="1000" b="0">
                <a:solidFill>
                  <a:srgbClr val="A1A1A6"/>
                </a:solidFill>
                <a:latin typeface="Segoe UI Light"/>
                <a:ea typeface="Segoe UI Light"/>
                <a:cs typeface="Segoe UI Light"/>
              </a:rPr>
              <a:t>B2</a:t>
            </a:r>
          </a:p>
        </p:txBody>
      </p:sp>
      <p:sp>
        <p:nvSpPr>
          <p:cNvPr id="6" name="Rounded Rectangle 5">
            <a:extLst xmlns:a="http://schemas.openxmlformats.org/drawingml/2006/main">
              <a:ext uri="{FF2B5EF4-FFF2-40B4-BE49-F238E27FC236}">
                <a16:creationId xmlns:a16="http://schemas.microsoft.com/office/drawing/2014/main" id="{585DCC94-9079-47A6-927F-409E240DCD0B}"/>
              </a:ext>
            </a:extLst>
          </p:cNvPr>
          <p:cNvSpPr>
            <a:spLocks xmlns:a="http://schemas.openxmlformats.org/drawingml/2006/main" noGrp="1"/>
          </p:cNvSpPr>
          <p:nvPr/>
        </p:nvSpPr>
        <p:spPr>
          <a:xfrm xmlns:a="http://schemas.openxmlformats.org/drawingml/2006/main">
            <a:off x="2194560" y="2286000"/>
            <a:ext cx="7772400" cy="1051560"/>
          </a:xfrm>
          <a:prstGeom xmlns:a="http://schemas.openxmlformats.org/drawingml/2006/main" prst="roundRect">
            <a:avLst/>
          </a:prstGeom>
          <a:solidFill xmlns:a="http://schemas.openxmlformats.org/drawingml/2006/main">
            <a:srgbClr val="F2F6FC"/>
          </a:solidFill>
          <a:ln xmlns:a="http://schemas.openxmlformats.org/drawingml/2006/main" w="15240">
            <a:solidFill>
              <a:srgbClr val="0066C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none" anchor="ctr">
            <a:normAutofit/>
          </a:bodyPr>
          <a:lstStyle xmlns:a="http://schemas.openxmlformats.org/drawingml/2006/main"/>
          <a:p xmlns:a="http://schemas.openxmlformats.org/drawingml/2006/main">
            <a:pPr algn="ctr">
              <a:spcAft>
                <a:spcPts val="1000"/>
              </a:spcAft>
              <a:buNone/>
            </a:pPr>
            <a:r>
              <a:rPr sz="2400" b="1">
                <a:solidFill>
                  <a:srgbClr val="1D1D1F"/>
                </a:solidFill>
                <a:latin typeface="Cambria Math"/>
                <a:ea typeface="Cambria Math"/>
                <a:cs typeface="Cambria Math"/>
              </a:rPr>
              <a:t>s ≥ τ  →  bona fide     ·     s &lt; τ  →  spoof</a:t>
            </a:r>
          </a:p>
        </p:txBody>
      </p:sp>
      <p:sp>
        <p:nvSpPr>
          <p:cNvPr id="7" name="TextBox 6">
            <a:extLst xmlns:a="http://schemas.openxmlformats.org/drawingml/2006/main">
              <a:ext uri="{FF2B5EF4-FFF2-40B4-BE49-F238E27FC236}">
                <a16:creationId xmlns:a16="http://schemas.microsoft.com/office/drawing/2014/main" id="{810F4D01-DC14-4821-B085-B70E0B83C333}"/>
              </a:ext>
            </a:extLst>
          </p:cNvPr>
          <p:cNvSpPr>
            <a:spLocks xmlns:a="http://schemas.openxmlformats.org/drawingml/2006/main" noGrp="1"/>
          </p:cNvSpPr>
          <p:nvPr/>
        </p:nvSpPr>
        <p:spPr>
          <a:xfrm xmlns:a="http://schemas.openxmlformats.org/drawingml/2006/main">
            <a:off x="868680" y="3667125"/>
            <a:ext cx="10424160" cy="2447925"/>
          </a:xfrm>
          <a:prstGeom xmlns:a="http://schemas.openxmlformats.org/drawingml/2006/main" prst="rect">
            <a:avLst/>
          </a:prstGeom>
          <a:noFill xmlns:a="http://schemas.openxmlformats.org/drawingml/2006/main"/>
        </p:spPr>
        <p:txBody>
          <a:bodyPr xmlns:a="http://schemas.openxmlformats.org/drawingml/2006/main" wrap="square" anchor="t">
            <a:normAutofit fontScale="92500" lnSpcReduction="20000"/>
          </a:bodyPr>
          <a:lstStyle xmlns:a="http://schemas.openxmlformats.org/drawingml/2006/main"/>
          <a:p xmlns:a="http://schemas.openxmlformats.org/drawingml/2006/main">
            <a:pPr algn="l">
              <a:spcAft>
                <a:spcPts val="1200"/>
              </a:spcAft>
              <a:buNone/>
            </a:pPr>
            <a:r>
              <a:rPr sz="1700" b="0">
                <a:solidFill>
                  <a:srgbClr val="6E6E73"/>
                </a:solidFill>
                <a:latin typeface="Cambria Math"/>
                <a:ea typeface="Cambria Math"/>
                <a:cs typeface="Cambria Math"/>
              </a:rPr>
              <a:t>FRR(τ) = #{bona fide: s &lt; τ} / #{bona fide}</a:t>
            </a:r>
          </a:p>
          <a:p xmlns:a="http://schemas.openxmlformats.org/drawingml/2006/main">
            <a:pPr algn="l">
              <a:spcAft>
                <a:spcPts val="1200"/>
              </a:spcAft>
              <a:buNone/>
            </a:pPr>
            <a:r>
              <a:rPr sz="1700" b="0">
                <a:solidFill>
                  <a:srgbClr val="6E6E73"/>
                </a:solidFill>
                <a:latin typeface="Cambria Math"/>
                <a:ea typeface="Cambria Math"/>
                <a:cs typeface="Cambria Math"/>
              </a:rPr>
              <a:t>FAR(τ) = #{spoof: s ≥ τ} / #{spoof}</a:t>
            </a:r>
          </a:p>
          <a:p xmlns:a="http://schemas.openxmlformats.org/drawingml/2006/main">
            <a:pPr algn="l">
              <a:spcAft>
                <a:spcPts val="1200"/>
              </a:spcAft>
              <a:buNone/>
            </a:pPr>
          </a:p>
          <a:p xmlns:a="http://schemas.openxmlformats.org/drawingml/2006/main">
            <a:pPr algn="l">
              <a:spcAft>
                <a:spcPts val="1200"/>
              </a:spcAft>
              <a:buNone/>
            </a:pPr>
            <a:r>
              <a:rPr sz="1700" b="0">
                <a:solidFill>
                  <a:srgbClr val="6E6E73"/>
                </a:solidFill>
                <a:latin typeface="Cambria Math"/>
                <a:ea typeface="Cambria Math"/>
                <a:cs typeface="Cambria Math"/>
              </a:rPr>
              <a:t>τ*EER = argminτ |FRR(τ) − FAR(τ)|</a:t>
            </a:r>
          </a:p>
          <a:p xmlns:a="http://schemas.openxmlformats.org/drawingml/2006/main">
            <a:pPr algn="l">
              <a:spcAft>
                <a:spcPts val="1200"/>
              </a:spcAft>
              <a:buNone/>
            </a:pPr>
            <a:r>
              <a:rPr sz="1700" b="0">
                <a:solidFill>
                  <a:srgbClr val="6E6E73"/>
                </a:solidFill>
                <a:latin typeface="Cambria Math"/>
                <a:ea typeface="Cambria Math"/>
                <a:cs typeface="Cambria Math"/>
              </a:rPr>
              <a:t>EER = [FRR(τ_EER) + FAR(τ_EER)] / 2</a:t>
            </a:r>
          </a:p>
          <a:p xmlns:a="http://schemas.openxmlformats.org/drawingml/2006/main">
            <a:pPr algn="l">
              <a:spcAft>
                <a:spcPts val="1200"/>
              </a:spcAft>
              <a:buNone/>
            </a:pPr>
          </a:p>
          <a:p xmlns:a="http://schemas.openxmlformats.org/drawingml/2006/main">
            <a:pPr algn="l">
              <a:spcAft>
                <a:spcPts val="1200"/>
              </a:spcAft>
              <a:buNone/>
            </a:pPr>
            <a:r>
              <a:rPr sz="1700" b="0">
                <a:solidFill>
                  <a:srgbClr val="6E6E73"/>
                </a:solidFill>
                <a:latin typeface="Cambria Math"/>
                <a:ea typeface="Cambria Math"/>
                <a:cs typeface="Cambria Math"/>
              </a:rPr>
              <a:t>The repository sweeps observed scores, uses no interpolation, and does not save τ_EER.</a:t>
            </a:r>
          </a:p>
        </p:txBody>
      </p:sp>
    </p:spTree>
    <p:extLst>
      <p:ext uri="{BB962C8B-B14F-4D97-AF65-F5344CB8AC3E}">
        <p14:creationId xmlns:p14="http://schemas.microsoft.com/office/powerpoint/2010/main" val="163768339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D08198F-8681-4532-85B0-DB71033BDA67}"/>
              </a:ext>
            </a:extLst>
          </p:cNvPr>
          <p:cNvSpPr>
            <a:spLocks xmlns:a="http://schemas.openxmlformats.org/drawingml/2006/main" noGrp="1"/>
          </p:cNvSpPr>
          <p:nvPr/>
        </p:nvSpPr>
        <p:spPr>
          <a:xfrm xmlns:a="http://schemas.openxmlformats.org/drawingml/2006/main">
            <a:off x="841248" y="603504"/>
            <a:ext cx="457200" cy="45720"/>
          </a:xfrm>
          <a:prstGeom xmlns:a="http://schemas.openxmlformats.org/drawingml/2006/main" prst="rect">
            <a:avLst/>
          </a:prstGeom>
          <a:solidFill xmlns:a="http://schemas.openxmlformats.org/drawingml/2006/main">
            <a:srgbClr val="0066C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B2271EA7-4847-43DB-BADB-0DC5A4DB76E9}"/>
              </a:ext>
            </a:extLst>
          </p:cNvPr>
          <p:cNvSpPr>
            <a:spLocks xmlns:a="http://schemas.openxmlformats.org/drawingml/2006/main" noGrp="1"/>
          </p:cNvSpPr>
          <p:nvPr/>
        </p:nvSpPr>
        <p:spPr>
          <a:xfrm xmlns:a="http://schemas.openxmlformats.org/drawingml/2006/main">
            <a:off x="822960" y="749808"/>
            <a:ext cx="10515600" cy="155448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spcAft>
                <a:spcPts val="500"/>
              </a:spcAft>
              <a:buNone/>
            </a:pPr>
            <a:r>
              <a:rPr sz="1300" b="1">
                <a:solidFill>
                  <a:srgbClr val="0066CC"/>
                </a:solidFill>
                <a:latin typeface="Segoe UI Semibold"/>
                <a:ea typeface="Segoe UI Semibold"/>
                <a:cs typeface="Segoe UI Semibold"/>
              </a:rPr>
              <a:t>BACKUP</a:t>
            </a:r>
          </a:p>
          <a:p xmlns:a="http://schemas.openxmlformats.org/drawingml/2006/main">
            <a:pPr algn="l">
              <a:spcAft>
                <a:spcPts val="1000"/>
              </a:spcAft>
              <a:buNone/>
            </a:pPr>
            <a:r>
              <a:rPr sz="3300" b="1">
                <a:solidFill>
                  <a:srgbClr val="1D1D1F"/>
                </a:solidFill>
                <a:latin typeface="Segoe UI Semibold"/>
                <a:ea typeface="Segoe UI Semibold"/>
                <a:cs typeface="Segoe UI Semibold"/>
              </a:rPr>
              <a:t>ROC-AUC</a:t>
            </a:r>
          </a:p>
        </p:txBody>
      </p:sp>
      <p:sp>
        <p:nvSpPr>
          <p:cNvPr id="4" name="TextBox 3">
            <a:extLst xmlns:a="http://schemas.openxmlformats.org/drawingml/2006/main">
              <a:ext uri="{FF2B5EF4-FFF2-40B4-BE49-F238E27FC236}">
                <a16:creationId xmlns:a16="http://schemas.microsoft.com/office/drawing/2014/main" id="{D87D673C-0A96-49AA-A9DF-D7282EC45D15}"/>
              </a:ext>
            </a:extLst>
          </p:cNvPr>
          <p:cNvSpPr>
            <a:spLocks xmlns:a="http://schemas.openxmlformats.org/drawingml/2006/main" noGrp="1"/>
          </p:cNvSpPr>
          <p:nvPr/>
        </p:nvSpPr>
        <p:spPr>
          <a:xfrm xmlns:a="http://schemas.openxmlformats.org/drawingml/2006/main">
            <a:off x="822960" y="6419088"/>
            <a:ext cx="731520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spcAft>
                <a:spcPts val="1000"/>
              </a:spcAft>
              <a:buNone/>
            </a:pPr>
            <a:r>
              <a:rPr sz="1000" b="0">
                <a:solidFill>
                  <a:srgbClr val="A1A1A6"/>
                </a:solidFill>
                <a:latin typeface="Segoe UI Light"/>
                <a:ea typeface="Segoe UI Light"/>
                <a:cs typeface="Segoe UI Light"/>
              </a:rPr>
              <a:t>Fake It Till You Make It  ·  00460217 Deep Learning</a:t>
            </a:r>
          </a:p>
        </p:txBody>
      </p:sp>
      <p:sp>
        <p:nvSpPr>
          <p:cNvPr id="5" name="TextBox 4">
            <a:extLst xmlns:a="http://schemas.openxmlformats.org/drawingml/2006/main">
              <a:ext uri="{FF2B5EF4-FFF2-40B4-BE49-F238E27FC236}">
                <a16:creationId xmlns:a16="http://schemas.microsoft.com/office/drawing/2014/main" id="{0D5C91BD-90B5-4400-9256-1DB78B604363}"/>
              </a:ext>
            </a:extLst>
          </p:cNvPr>
          <p:cNvSpPr>
            <a:spLocks xmlns:a="http://schemas.openxmlformats.org/drawingml/2006/main" noGrp="1"/>
          </p:cNvSpPr>
          <p:nvPr/>
        </p:nvSpPr>
        <p:spPr>
          <a:xfrm xmlns:a="http://schemas.openxmlformats.org/drawingml/2006/main">
            <a:off x="10607040" y="6419088"/>
            <a:ext cx="82296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spcAft>
                <a:spcPts val="1000"/>
              </a:spcAft>
              <a:buNone/>
            </a:pPr>
            <a:r>
              <a:rPr sz="1000" b="0">
                <a:solidFill>
                  <a:srgbClr val="A1A1A6"/>
                </a:solidFill>
                <a:latin typeface="Segoe UI Light"/>
                <a:ea typeface="Segoe UI Light"/>
                <a:cs typeface="Segoe UI Light"/>
              </a:rPr>
              <a:t>B3</a:t>
            </a:r>
          </a:p>
        </p:txBody>
      </p:sp>
      <p:sp>
        <p:nvSpPr>
          <p:cNvPr id="6" name="Rounded Rectangle 5">
            <a:extLst xmlns:a="http://schemas.openxmlformats.org/drawingml/2006/main">
              <a:ext uri="{FF2B5EF4-FFF2-40B4-BE49-F238E27FC236}">
                <a16:creationId xmlns:a16="http://schemas.microsoft.com/office/drawing/2014/main" id="{585DCC94-9079-47A6-927F-409E240DCD0B}"/>
              </a:ext>
            </a:extLst>
          </p:cNvPr>
          <p:cNvSpPr>
            <a:spLocks xmlns:a="http://schemas.openxmlformats.org/drawingml/2006/main" noGrp="1"/>
          </p:cNvSpPr>
          <p:nvPr/>
        </p:nvSpPr>
        <p:spPr>
          <a:xfrm xmlns:a="http://schemas.openxmlformats.org/drawingml/2006/main">
            <a:off x="2194560" y="2286000"/>
            <a:ext cx="7772400" cy="1051560"/>
          </a:xfrm>
          <a:prstGeom xmlns:a="http://schemas.openxmlformats.org/drawingml/2006/main" prst="roundRect">
            <a:avLst/>
          </a:prstGeom>
          <a:solidFill xmlns:a="http://schemas.openxmlformats.org/drawingml/2006/main">
            <a:srgbClr val="F2F6FC"/>
          </a:solidFill>
          <a:ln xmlns:a="http://schemas.openxmlformats.org/drawingml/2006/main" w="15240">
            <a:solidFill>
              <a:srgbClr val="0066C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none" anchor="ctr">
            <a:normAutofit/>
          </a:bodyPr>
          <a:lstStyle xmlns:a="http://schemas.openxmlformats.org/drawingml/2006/main"/>
          <a:p xmlns:a="http://schemas.openxmlformats.org/drawingml/2006/main">
            <a:pPr algn="ctr">
              <a:spcAft>
                <a:spcPts val="1000"/>
              </a:spcAft>
              <a:buNone/>
            </a:pPr>
            <a:r>
              <a:rPr sz="2025" b="1">
                <a:solidFill>
                  <a:srgbClr val="1D1D1F"/>
                </a:solidFill>
                <a:latin typeface="Cambria Math"/>
                <a:ea typeface="Cambria Math"/>
                <a:cs typeface="Cambria Math"/>
              </a:rPr>
              <a:t>TPR(τ) = TP / (TP + FN)     ·     FPR(τ) = FP / (FP + TN)</a:t>
            </a:r>
          </a:p>
        </p:txBody>
      </p:sp>
      <p:sp>
        <p:nvSpPr>
          <p:cNvPr id="7" name="TextBox 6">
            <a:extLst xmlns:a="http://schemas.openxmlformats.org/drawingml/2006/main">
              <a:ext uri="{FF2B5EF4-FFF2-40B4-BE49-F238E27FC236}">
                <a16:creationId xmlns:a16="http://schemas.microsoft.com/office/drawing/2014/main" id="{810F4D01-DC14-4821-B085-B70E0B83C333}"/>
              </a:ext>
            </a:extLst>
          </p:cNvPr>
          <p:cNvSpPr>
            <a:spLocks xmlns:a="http://schemas.openxmlformats.org/drawingml/2006/main" noGrp="1"/>
          </p:cNvSpPr>
          <p:nvPr/>
        </p:nvSpPr>
        <p:spPr>
          <a:xfrm xmlns:a="http://schemas.openxmlformats.org/drawingml/2006/main">
            <a:off x="868680" y="3667125"/>
            <a:ext cx="10424160" cy="2447925"/>
          </a:xfrm>
          <a:prstGeom xmlns:a="http://schemas.openxmlformats.org/drawingml/2006/main" prst="rect">
            <a:avLst/>
          </a:prstGeom>
          <a:noFill xmlns:a="http://schemas.openxmlformats.org/drawingml/2006/main"/>
        </p:spPr>
        <p:txBody>
          <a:bodyPr xmlns:a="http://schemas.openxmlformats.org/drawingml/2006/main" wrap="square" anchor="t">
            <a:normAutofit/>
          </a:bodyPr>
          <a:lstStyle xmlns:a="http://schemas.openxmlformats.org/drawingml/2006/main"/>
          <a:p xmlns:a="http://schemas.openxmlformats.org/drawingml/2006/main">
            <a:pPr algn="l">
              <a:spcAft>
                <a:spcPts val="1200"/>
              </a:spcAft>
              <a:buNone/>
            </a:pPr>
            <a:r>
              <a:rPr sz="1650" b="0">
                <a:solidFill>
                  <a:srgbClr val="6E6E73"/>
                </a:solidFill>
                <a:latin typeface="Cambria Math"/>
                <a:ea typeface="Cambria Math"/>
                <a:cs typeface="Cambria Math"/>
              </a:rPr>
              <a:t>ROC curve: (FPR(τ), TPR(τ)) for all thresholds τ</a:t>
            </a:r>
          </a:p>
          <a:p xmlns:a="http://schemas.openxmlformats.org/drawingml/2006/main">
            <a:pPr algn="l">
              <a:spcAft>
                <a:spcPts val="1200"/>
              </a:spcAft>
              <a:buNone/>
            </a:pPr>
          </a:p>
          <a:p xmlns:a="http://schemas.openxmlformats.org/drawingml/2006/main">
            <a:pPr algn="l">
              <a:spcAft>
                <a:spcPts val="1200"/>
              </a:spcAft>
              <a:buNone/>
            </a:pPr>
            <a:r>
              <a:rPr sz="1650" b="0">
                <a:solidFill>
                  <a:srgbClr val="6E6E73"/>
                </a:solidFill>
                <a:latin typeface="Cambria Math"/>
                <a:ea typeface="Cambria Math"/>
                <a:cs typeface="Cambria Math"/>
              </a:rPr>
              <a:t>AUC = P(</a:t>
            </a:r>
            <a:r>
              <a:rPr sz="1650" b="0">
                <a:solidFill>
                  <a:srgbClr val="6E6E73"/>
                </a:solidFill>
                <a:latin typeface="Cambria Math"/>
                <a:ea typeface="Cambria Math"/>
                <a:cs typeface="Cambria Math"/>
              </a:rPr>
              <a:t>score_bona</a:t>
            </a:r>
            <a:r>
              <a:rPr sz="1650" b="0">
                <a:solidFill>
                  <a:srgbClr val="6E6E73"/>
                </a:solidFill>
                <a:latin typeface="Cambria Math"/>
                <a:ea typeface="Cambria Math"/>
                <a:cs typeface="Cambria Math"/>
              </a:rPr>
              <a:t> fide &gt; </a:t>
            </a:r>
            <a:r>
              <a:rPr sz="1650" b="0">
                <a:solidFill>
                  <a:srgbClr val="6E6E73"/>
                </a:solidFill>
                <a:latin typeface="Cambria Math"/>
                <a:ea typeface="Cambria Math"/>
                <a:cs typeface="Cambria Math"/>
              </a:rPr>
              <a:t>score_spoof</a:t>
            </a:r>
            <a:r>
              <a:rPr sz="1650" b="0">
                <a:solidFill>
                  <a:srgbClr val="6E6E73"/>
                </a:solidFill>
                <a:latin typeface="Cambria Math"/>
                <a:ea typeface="Cambria Math"/>
                <a:cs typeface="Cambria Math"/>
              </a:rPr>
              <a:t>)</a:t>
            </a:r>
          </a:p>
          <a:p xmlns:a="http://schemas.openxmlformats.org/drawingml/2006/main">
            <a:pPr algn="l">
              <a:spcAft>
                <a:spcPts val="1200"/>
              </a:spcAft>
              <a:buNone/>
            </a:pPr>
            <a:r>
              <a:rPr sz="1650" b="0">
                <a:solidFill>
                  <a:srgbClr val="6E6E73"/>
                </a:solidFill>
                <a:latin typeface="Cambria Math"/>
                <a:ea typeface="Cambria Math"/>
                <a:cs typeface="Cambria Math"/>
              </a:rPr>
              <a:t>AUC = 1/(N⁺N⁻) Σᵢ Σⱼ [𝟙(sᵢ⁺ &gt; sⱼ⁻) + 0.5·𝟙(sᵢ⁺ = sⱼ⁻)]</a:t>
            </a:r>
          </a:p>
          <a:p xmlns:a="http://schemas.openxmlformats.org/drawingml/2006/main">
            <a:pPr algn="l">
              <a:spcAft>
                <a:spcPts val="1200"/>
              </a:spcAft>
              <a:buNone/>
            </a:pPr>
          </a:p>
          <a:p xmlns:a="http://schemas.openxmlformats.org/drawingml/2006/main">
            <a:pPr algn="l">
              <a:spcAft>
                <a:spcPts val="1200"/>
              </a:spcAft>
              <a:buNone/>
            </a:pPr>
            <a:r>
              <a:rPr sz="1650" b="0">
                <a:solidFill>
                  <a:srgbClr val="6E6E73"/>
                </a:solidFill>
                <a:latin typeface="Cambria Math"/>
                <a:ea typeface="Cambria Math"/>
                <a:cs typeface="Cambria Math"/>
              </a:rPr>
              <a:t>AUC measures ranking quality of scores, not linear separability of embeddings and not probability calibration.</a:t>
            </a:r>
          </a:p>
        </p:txBody>
      </p:sp>
    </p:spTree>
    <p:extLst>
      <p:ext uri="{BB962C8B-B14F-4D97-AF65-F5344CB8AC3E}">
        <p14:creationId xmlns:p14="http://schemas.microsoft.com/office/powerpoint/2010/main" val="163768339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D08198F-8681-4532-85B0-DB71033BDA67}"/>
              </a:ext>
            </a:extLst>
          </p:cNvPr>
          <p:cNvSpPr>
            <a:spLocks xmlns:a="http://schemas.openxmlformats.org/drawingml/2006/main" noGrp="1"/>
          </p:cNvSpPr>
          <p:nvPr/>
        </p:nvSpPr>
        <p:spPr>
          <a:xfrm xmlns:a="http://schemas.openxmlformats.org/drawingml/2006/main">
            <a:off x="841248" y="603504"/>
            <a:ext cx="457200" cy="45720"/>
          </a:xfrm>
          <a:prstGeom xmlns:a="http://schemas.openxmlformats.org/drawingml/2006/main" prst="rect">
            <a:avLst/>
          </a:prstGeom>
          <a:solidFill xmlns:a="http://schemas.openxmlformats.org/drawingml/2006/main">
            <a:srgbClr val="0066C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B2271EA7-4847-43DB-BADB-0DC5A4DB76E9}"/>
              </a:ext>
            </a:extLst>
          </p:cNvPr>
          <p:cNvSpPr>
            <a:spLocks xmlns:a="http://schemas.openxmlformats.org/drawingml/2006/main" noGrp="1"/>
          </p:cNvSpPr>
          <p:nvPr/>
        </p:nvSpPr>
        <p:spPr>
          <a:xfrm xmlns:a="http://schemas.openxmlformats.org/drawingml/2006/main">
            <a:off x="822960" y="749808"/>
            <a:ext cx="10515600" cy="155448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spcAft>
                <a:spcPts val="500"/>
              </a:spcAft>
              <a:buNone/>
            </a:pPr>
            <a:r>
              <a:rPr sz="1300" b="1">
                <a:solidFill>
                  <a:srgbClr val="0066CC"/>
                </a:solidFill>
                <a:latin typeface="Segoe UI Semibold"/>
                <a:ea typeface="Segoe UI Semibold"/>
                <a:cs typeface="Segoe UI Semibold"/>
              </a:rPr>
              <a:t>BACKUP</a:t>
            </a:r>
          </a:p>
          <a:p xmlns:a="http://schemas.openxmlformats.org/drawingml/2006/main">
            <a:pPr algn="l">
              <a:spcAft>
                <a:spcPts val="1000"/>
              </a:spcAft>
              <a:buNone/>
            </a:pPr>
            <a:r>
              <a:rPr sz="3300" b="1">
                <a:solidFill>
                  <a:srgbClr val="1D1D1F"/>
                </a:solidFill>
                <a:latin typeface="Segoe UI Semibold"/>
                <a:ea typeface="Segoe UI Semibold"/>
                <a:cs typeface="Segoe UI Semibold"/>
              </a:rPr>
              <a:t>Training losses</a:t>
            </a:r>
          </a:p>
        </p:txBody>
      </p:sp>
      <p:sp>
        <p:nvSpPr>
          <p:cNvPr id="4" name="TextBox 3">
            <a:extLst xmlns:a="http://schemas.openxmlformats.org/drawingml/2006/main">
              <a:ext uri="{FF2B5EF4-FFF2-40B4-BE49-F238E27FC236}">
                <a16:creationId xmlns:a16="http://schemas.microsoft.com/office/drawing/2014/main" id="{D87D673C-0A96-49AA-A9DF-D7282EC45D15}"/>
              </a:ext>
            </a:extLst>
          </p:cNvPr>
          <p:cNvSpPr>
            <a:spLocks xmlns:a="http://schemas.openxmlformats.org/drawingml/2006/main" noGrp="1"/>
          </p:cNvSpPr>
          <p:nvPr/>
        </p:nvSpPr>
        <p:spPr>
          <a:xfrm xmlns:a="http://schemas.openxmlformats.org/drawingml/2006/main">
            <a:off x="822960" y="6419088"/>
            <a:ext cx="731520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spcAft>
                <a:spcPts val="1000"/>
              </a:spcAft>
              <a:buNone/>
            </a:pPr>
            <a:r>
              <a:rPr sz="1000" b="0">
                <a:solidFill>
                  <a:srgbClr val="A1A1A6"/>
                </a:solidFill>
                <a:latin typeface="Segoe UI Light"/>
                <a:ea typeface="Segoe UI Light"/>
                <a:cs typeface="Segoe UI Light"/>
              </a:rPr>
              <a:t>Fake It Till You Make It  ·  00460217 Deep Learning</a:t>
            </a:r>
          </a:p>
        </p:txBody>
      </p:sp>
      <p:sp>
        <p:nvSpPr>
          <p:cNvPr id="5" name="TextBox 4">
            <a:extLst xmlns:a="http://schemas.openxmlformats.org/drawingml/2006/main">
              <a:ext uri="{FF2B5EF4-FFF2-40B4-BE49-F238E27FC236}">
                <a16:creationId xmlns:a16="http://schemas.microsoft.com/office/drawing/2014/main" id="{0D5C91BD-90B5-4400-9256-1DB78B604363}"/>
              </a:ext>
            </a:extLst>
          </p:cNvPr>
          <p:cNvSpPr>
            <a:spLocks xmlns:a="http://schemas.openxmlformats.org/drawingml/2006/main" noGrp="1"/>
          </p:cNvSpPr>
          <p:nvPr/>
        </p:nvSpPr>
        <p:spPr>
          <a:xfrm xmlns:a="http://schemas.openxmlformats.org/drawingml/2006/main">
            <a:off x="10607040" y="6419088"/>
            <a:ext cx="82296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spcAft>
                <a:spcPts val="1000"/>
              </a:spcAft>
              <a:buNone/>
            </a:pPr>
            <a:r>
              <a:rPr sz="1000" b="0">
                <a:solidFill>
                  <a:srgbClr val="A1A1A6"/>
                </a:solidFill>
                <a:latin typeface="Segoe UI Light"/>
                <a:ea typeface="Segoe UI Light"/>
                <a:cs typeface="Segoe UI Light"/>
              </a:rPr>
              <a:t>B4</a:t>
            </a:r>
          </a:p>
        </p:txBody>
      </p:sp>
      <p:sp>
        <p:nvSpPr>
          <p:cNvPr id="6" name="Rounded Rectangle 5">
            <a:extLst xmlns:a="http://schemas.openxmlformats.org/drawingml/2006/main">
              <a:ext uri="{FF2B5EF4-FFF2-40B4-BE49-F238E27FC236}">
                <a16:creationId xmlns:a16="http://schemas.microsoft.com/office/drawing/2014/main" id="{585DCC94-9079-47A6-927F-409E240DCD0B}"/>
              </a:ext>
            </a:extLst>
          </p:cNvPr>
          <p:cNvSpPr>
            <a:spLocks xmlns:a="http://schemas.openxmlformats.org/drawingml/2006/main" noGrp="1"/>
          </p:cNvSpPr>
          <p:nvPr/>
        </p:nvSpPr>
        <p:spPr>
          <a:xfrm xmlns:a="http://schemas.openxmlformats.org/drawingml/2006/main">
            <a:off x="2194560" y="2286000"/>
            <a:ext cx="7772400" cy="1051560"/>
          </a:xfrm>
          <a:prstGeom xmlns:a="http://schemas.openxmlformats.org/drawingml/2006/main" prst="roundRect">
            <a:avLst/>
          </a:prstGeom>
          <a:solidFill xmlns:a="http://schemas.openxmlformats.org/drawingml/2006/main">
            <a:srgbClr val="F2F6FC"/>
          </a:solidFill>
          <a:ln xmlns:a="http://schemas.openxmlformats.org/drawingml/2006/main" w="15240">
            <a:solidFill>
              <a:srgbClr val="0066C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none" anchor="ctr">
            <a:normAutofit/>
          </a:bodyPr>
          <a:lstStyle xmlns:a="http://schemas.openxmlformats.org/drawingml/2006/main"/>
          <a:p xmlns:a="http://schemas.openxmlformats.org/drawingml/2006/main">
            <a:pPr algn="ctr">
              <a:spcAft>
                <a:spcPts val="1000"/>
              </a:spcAft>
              <a:buNone/>
            </a:pPr>
            <a:r>
              <a:rPr sz="1700" b="1">
                <a:solidFill>
                  <a:srgbClr val="1D1D1F"/>
                </a:solidFill>
                <a:latin typeface="Cambria Math"/>
                <a:ea typeface="Cambria Math"/>
                <a:cs typeface="Cambria Math"/>
              </a:rPr>
              <a:t>L_BCE = −1/N Σᵢ [w_pos yᵢ log σ(ℓᵢ) + (1−yᵢ) log(1−σ(ℓᵢ))]</a:t>
            </a:r>
          </a:p>
        </p:txBody>
      </p:sp>
      <p:sp>
        <p:nvSpPr>
          <p:cNvPr id="7" name="TextBox 6">
            <a:extLst xmlns:a="http://schemas.openxmlformats.org/drawingml/2006/main">
              <a:ext uri="{FF2B5EF4-FFF2-40B4-BE49-F238E27FC236}">
                <a16:creationId xmlns:a16="http://schemas.microsoft.com/office/drawing/2014/main" id="{810F4D01-DC14-4821-B085-B70E0B83C333}"/>
              </a:ext>
            </a:extLst>
          </p:cNvPr>
          <p:cNvSpPr>
            <a:spLocks xmlns:a="http://schemas.openxmlformats.org/drawingml/2006/main" noGrp="1"/>
          </p:cNvSpPr>
          <p:nvPr/>
        </p:nvSpPr>
        <p:spPr>
          <a:xfrm xmlns:a="http://schemas.openxmlformats.org/drawingml/2006/main">
            <a:off x="868680" y="3619500"/>
            <a:ext cx="10424160" cy="3139440"/>
          </a:xfrm>
          <a:prstGeom xmlns:a="http://schemas.openxmlformats.org/drawingml/2006/main" prst="rect">
            <a:avLst/>
          </a:prstGeom>
          <a:noFill xmlns:a="http://schemas.openxmlformats.org/drawingml/2006/main"/>
        </p:spPr>
        <p:txBody>
          <a:bodyPr xmlns:a="http://schemas.openxmlformats.org/drawingml/2006/main" wrap="square" anchor="t">
            <a:normAutofit/>
          </a:bodyPr>
          <a:lstStyle xmlns:a="http://schemas.openxmlformats.org/drawingml/2006/main"/>
          <a:p xmlns:a="http://schemas.openxmlformats.org/drawingml/2006/main">
            <a:pPr algn="l">
              <a:spcAft>
                <a:spcPts val="1200"/>
              </a:spcAft>
              <a:buNone/>
            </a:pPr>
            <a:r>
              <a:rPr sz="1400" b="0">
                <a:solidFill>
                  <a:srgbClr val="6E6E73"/>
                </a:solidFill>
                <a:latin typeface="Segoe UI Light"/>
                <a:ea typeface="Segoe UI Light"/>
                <a:cs typeface="Segoe UI Light"/>
              </a:rPr>
              <a:t>w_pos = 22,800 / 2,580 = 8.837  ·  y=1 bona fide, y=0 spoof</a:t>
            </a:r>
          </a:p>
          <a:p xmlns:a="http://schemas.openxmlformats.org/drawingml/2006/main">
            <a:pPr algn="l">
              <a:spcAft>
                <a:spcPts val="1200"/>
              </a:spcAft>
              <a:buNone/>
            </a:pPr>
            <a:r>
              <a:rPr sz="1400" b="0">
                <a:solidFill>
                  <a:srgbClr val="6E6E73"/>
                </a:solidFill>
                <a:latin typeface="Segoe UI Light"/>
                <a:ea typeface="Segoe UI Light"/>
                <a:cs typeface="Segoe UI Light"/>
              </a:rPr>
              <a:t>Raw logit ℓ; BCEWithLogitsLoss applies sigmoid internally; evaluation score = sigmoid(ℓ).</a:t>
            </a:r>
          </a:p>
          <a:p xmlns:a="http://schemas.openxmlformats.org/drawingml/2006/main">
            <a:pPr algn="l">
              <a:spcAft>
                <a:spcPts val="1200"/>
              </a:spcAft>
              <a:buNone/>
            </a:pPr>
          </a:p>
          <a:p xmlns:a="http://schemas.openxmlformats.org/drawingml/2006/main">
            <a:pPr algn="l">
              <a:spcAft>
                <a:spcPts val="1200"/>
              </a:spcAft>
              <a:buNone/>
            </a:pPr>
            <a:r>
              <a:rPr sz="1400" b="0">
                <a:solidFill>
                  <a:srgbClr val="6E6E73"/>
                </a:solidFill>
                <a:latin typeface="Segoe UI Light"/>
                <a:ea typeface="Segoe UI Light"/>
                <a:cs typeface="Segoe UI Light"/>
              </a:rPr>
              <a:t>OC-Softmax:  sᵢ = cos(zᵢ,c) = zᵢᵀc / (‖zᵢ‖ ‖c‖)</a:t>
            </a:r>
          </a:p>
          <a:p xmlns:a="http://schemas.openxmlformats.org/drawingml/2006/main">
            <a:pPr algn="l">
              <a:spcAft>
                <a:spcPts val="1200"/>
              </a:spcAft>
              <a:buNone/>
            </a:pPr>
            <a:r>
              <a:rPr sz="1400" b="0">
                <a:solidFill>
                  <a:srgbClr val="6E6E73"/>
                </a:solidFill>
                <a:latin typeface="Segoe UI Light"/>
                <a:ea typeface="Segoe UI Light"/>
                <a:cs typeface="Segoe UI Light"/>
              </a:rPr>
              <a:t>yᵢ=1: softplus(20(0.9 − sᵢ))</a:t>
            </a:r>
          </a:p>
          <a:p xmlns:a="http://schemas.openxmlformats.org/drawingml/2006/main">
            <a:pPr algn="l">
              <a:spcAft>
                <a:spcPts val="1200"/>
              </a:spcAft>
              <a:buNone/>
            </a:pPr>
            <a:r>
              <a:rPr sz="1400" b="0">
                <a:solidFill>
                  <a:srgbClr val="6E6E73"/>
                </a:solidFill>
                <a:latin typeface="Segoe UI Light"/>
                <a:ea typeface="Segoe UI Light"/>
                <a:cs typeface="Segoe UI Light"/>
              </a:rPr>
              <a:t>yᵢ=0: softplus(20(sᵢ − 0.2))</a:t>
            </a:r>
          </a:p>
          <a:p xmlns:a="http://schemas.openxmlformats.org/drawingml/2006/main">
            <a:pPr algn="l">
              <a:spcAft>
                <a:spcPts val="1200"/>
              </a:spcAft>
              <a:buNone/>
            </a:pPr>
            <a:r>
              <a:rPr sz="1400" b="0">
                <a:solidFill>
                  <a:srgbClr val="6E6E73"/>
                </a:solidFill>
                <a:latin typeface="Segoe UI Light"/>
                <a:ea typeface="Segoe UI Light"/>
                <a:cs typeface="Segoe UI Light"/>
              </a:rPr>
              <a:t>c is one learned bona-fide center, shape 1×768; 0.9 and 0.2 are training margins—not evaluation thresholds.</a:t>
            </a:r>
          </a:p>
          <a:p xmlns:a="http://schemas.openxmlformats.org/drawingml/2006/main">
            <a:pPr algn="l">
              <a:spcAft>
                <a:spcPts val="1200"/>
              </a:spcAft>
              <a:buNone/>
            </a:pPr>
            <a:r>
              <a:rPr sz="1400" b="0">
                <a:solidFill>
                  <a:srgbClr val="6E6E73"/>
                </a:solidFill>
                <a:latin typeface="Segoe UI Light"/>
                <a:ea typeface="Segoe UI Light"/>
                <a:cs typeface="Segoe UI Light"/>
              </a:rPr>
              <a:t>Evaluation score is cosine similarity, not probability; the linear head exists but the OC-Softmax loss ignores it.</a:t>
            </a:r>
          </a:p>
        </p:txBody>
      </p:sp>
    </p:spTree>
    <p:extLst>
      <p:ext uri="{BB962C8B-B14F-4D97-AF65-F5344CB8AC3E}">
        <p14:creationId xmlns:p14="http://schemas.microsoft.com/office/powerpoint/2010/main" val="163768339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711FADB-F907-4087-9723-A6E1CEC5F151}"/>
              </a:ext>
            </a:extLst>
          </p:cNvPr>
          <p:cNvSpPr>
            <a:spLocks xmlns:a="http://schemas.openxmlformats.org/drawingml/2006/main" noGrp="1"/>
          </p:cNvSpPr>
          <p:nvPr/>
        </p:nvSpPr>
        <p:spPr>
          <a:xfrm xmlns:a="http://schemas.openxmlformats.org/drawingml/2006/main">
            <a:off x="841248" y="603504"/>
            <a:ext cx="457200" cy="45720"/>
          </a:xfrm>
          <a:prstGeom xmlns:a="http://schemas.openxmlformats.org/drawingml/2006/main" prst="rect">
            <a:avLst/>
          </a:prstGeom>
          <a:solidFill xmlns:a="http://schemas.openxmlformats.org/drawingml/2006/main">
            <a:srgbClr val="0066C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34148D66-F9D1-47CB-ACBF-6EC9A842EB50}"/>
              </a:ext>
            </a:extLst>
          </p:cNvPr>
          <p:cNvSpPr>
            <a:spLocks xmlns:a="http://schemas.openxmlformats.org/drawingml/2006/main" noGrp="1"/>
          </p:cNvSpPr>
          <p:nvPr/>
        </p:nvSpPr>
        <p:spPr>
          <a:xfrm xmlns:a="http://schemas.openxmlformats.org/drawingml/2006/main">
            <a:off x="822960" y="749808"/>
            <a:ext cx="10515600" cy="155448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spcAft>
                <a:spcPts val="500"/>
              </a:spcAft>
              <a:buNone/>
            </a:pPr>
            <a:r>
              <a:rPr sz="1300" b="1">
                <a:solidFill>
                  <a:srgbClr val="0066CC"/>
                </a:solidFill>
                <a:latin typeface="Segoe UI Semibold"/>
                <a:ea typeface="Segoe UI Semibold"/>
                <a:cs typeface="Segoe UI Semibold"/>
              </a:rPr>
              <a:t>BACKUP</a:t>
            </a:r>
          </a:p>
          <a:p xmlns:a="http://schemas.openxmlformats.org/drawingml/2006/main">
            <a:pPr algn="l">
              <a:spcAft>
                <a:spcPts val="1000"/>
              </a:spcAft>
              <a:buNone/>
            </a:pPr>
            <a:r>
              <a:rPr sz="3300" b="1">
                <a:solidFill>
                  <a:srgbClr val="1D1D1F"/>
                </a:solidFill>
                <a:latin typeface="Segoe UI Semibold"/>
                <a:ea typeface="Segoe UI Semibold"/>
                <a:cs typeface="Segoe UI Semibold"/>
              </a:rPr>
              <a:t>Embeddings and t-SNE</a:t>
            </a:r>
          </a:p>
        </p:txBody>
      </p:sp>
      <p:sp>
        <p:nvSpPr>
          <p:cNvPr id="4" name="TextBox 3">
            <a:extLst xmlns:a="http://schemas.openxmlformats.org/drawingml/2006/main">
              <a:ext uri="{FF2B5EF4-FFF2-40B4-BE49-F238E27FC236}">
                <a16:creationId xmlns:a16="http://schemas.microsoft.com/office/drawing/2014/main" id="{C7F06C59-CA03-442D-8C61-B23123BB67A8}"/>
              </a:ext>
            </a:extLst>
          </p:cNvPr>
          <p:cNvSpPr>
            <a:spLocks xmlns:a="http://schemas.openxmlformats.org/drawingml/2006/main" noGrp="1"/>
          </p:cNvSpPr>
          <p:nvPr/>
        </p:nvSpPr>
        <p:spPr>
          <a:xfrm xmlns:a="http://schemas.openxmlformats.org/drawingml/2006/main">
            <a:off x="822960" y="6419088"/>
            <a:ext cx="731520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spcAft>
                <a:spcPts val="1000"/>
              </a:spcAft>
              <a:buNone/>
            </a:pPr>
            <a:r>
              <a:rPr sz="1000" b="0">
                <a:solidFill>
                  <a:srgbClr val="A1A1A6"/>
                </a:solidFill>
                <a:latin typeface="Segoe UI Light"/>
                <a:ea typeface="Segoe UI Light"/>
                <a:cs typeface="Segoe UI Light"/>
              </a:rPr>
              <a:t>Fake It Till You Make It  ·  00460217 Deep Learning</a:t>
            </a:r>
          </a:p>
        </p:txBody>
      </p:sp>
      <p:sp>
        <p:nvSpPr>
          <p:cNvPr id="5" name="TextBox 4">
            <a:extLst xmlns:a="http://schemas.openxmlformats.org/drawingml/2006/main">
              <a:ext uri="{FF2B5EF4-FFF2-40B4-BE49-F238E27FC236}">
                <a16:creationId xmlns:a16="http://schemas.microsoft.com/office/drawing/2014/main" id="{99C0383F-20AE-430E-BF0E-5FBB7C325195}"/>
              </a:ext>
            </a:extLst>
          </p:cNvPr>
          <p:cNvSpPr>
            <a:spLocks xmlns:a="http://schemas.openxmlformats.org/drawingml/2006/main" noGrp="1"/>
          </p:cNvSpPr>
          <p:nvPr/>
        </p:nvSpPr>
        <p:spPr>
          <a:xfrm xmlns:a="http://schemas.openxmlformats.org/drawingml/2006/main">
            <a:off x="10607040" y="6419088"/>
            <a:ext cx="82296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spcAft>
                <a:spcPts val="1000"/>
              </a:spcAft>
              <a:buNone/>
            </a:pPr>
            <a:r>
              <a:rPr sz="1000" b="0">
                <a:solidFill>
                  <a:srgbClr val="A1A1A6"/>
                </a:solidFill>
                <a:latin typeface="Segoe UI Light"/>
                <a:ea typeface="Segoe UI Light"/>
                <a:cs typeface="Segoe UI Light"/>
              </a:rPr>
              <a:t>B5</a:t>
            </a:r>
          </a:p>
        </p:txBody>
      </p:sp>
      <p:pic>
        <p:nvPicPr>
          <p:cNvPr id="13" name="Picture 5"/>
          <p:cNvPicPr>
            <a:picLocks xmlns:a="http://schemas.openxmlformats.org/drawingml/2006/main" noChangeAspect="1"/>
          </p:cNvPicPr>
          <p:nvPr/>
        </p:nvPicPr>
        <p:blipFill>
          <a:blip xmlns:r="http://schemas.openxmlformats.org/officeDocument/2006/relationships" xmlns:a="http://schemas.openxmlformats.org/drawingml/2006/main" r:embed="R231e0c29435c4320"/>
          <a:stretch xmlns:a="http://schemas.openxmlformats.org/drawingml/2006/main">
            <a:fillRect l="0" t="0" r="0" b="0"/>
          </a:stretch>
        </p:blipFill>
        <p:spPr>
          <a:xfrm xmlns:a="http://schemas.openxmlformats.org/drawingml/2006/main">
            <a:off x="822960" y="2194560"/>
            <a:ext cx="4480560" cy="3840480"/>
          </a:xfrm>
          <a:prstGeom xmlns:a="http://schemas.openxmlformats.org/drawingml/2006/main" prst="rect">
            <a:avLst/>
          </a:prstGeom>
        </p:spPr>
      </p:pic>
      <p:sp>
        <p:nvSpPr>
          <p:cNvPr id="7" name="TextBox 6">
            <a:extLst xmlns:a="http://schemas.openxmlformats.org/drawingml/2006/main">
              <a:ext uri="{FF2B5EF4-FFF2-40B4-BE49-F238E27FC236}">
                <a16:creationId xmlns:a16="http://schemas.microsoft.com/office/drawing/2014/main" id="{8040E97F-17ED-4DB1-A29F-6B5A124B8A0C}"/>
              </a:ext>
            </a:extLst>
          </p:cNvPr>
          <p:cNvSpPr>
            <a:spLocks xmlns:a="http://schemas.openxmlformats.org/drawingml/2006/main" noGrp="1"/>
          </p:cNvSpPr>
          <p:nvPr/>
        </p:nvSpPr>
        <p:spPr>
          <a:xfrm xmlns:a="http://schemas.openxmlformats.org/drawingml/2006/main">
            <a:off x="6309360" y="2286000"/>
            <a:ext cx="4937760" cy="3840480"/>
          </a:xfrm>
          <a:prstGeom xmlns:a="http://schemas.openxmlformats.org/drawingml/2006/main" prst="rect">
            <a:avLst/>
          </a:prstGeom>
          <a:noFill xmlns:a="http://schemas.openxmlformats.org/drawingml/2006/main"/>
        </p:spPr>
        <p:txBody>
          <a:bodyPr xmlns:a="http://schemas.openxmlformats.org/drawingml/2006/main" wrap="square" anchor="t">
            <a:normAutofit fontScale="92500" lnSpcReduction="10000"/>
          </a:bodyPr>
          <a:lstStyle xmlns:a="http://schemas.openxmlformats.org/drawingml/2006/main"/>
          <a:p xmlns:a="http://schemas.openxmlformats.org/drawingml/2006/main">
            <a:pPr algn="l">
              <a:spcAft>
                <a:spcPts val="1800"/>
              </a:spcAft>
              <a:buNone/>
            </a:pPr>
            <a:r>
              <a:rPr sz="1400" b="0">
                <a:solidFill>
                  <a:srgbClr val="6E6E73"/>
                </a:solidFill>
                <a:latin typeface="Segoe UI Light"/>
                <a:ea typeface="Segoe UI Light"/>
                <a:cs typeface="Segoe UI Light"/>
              </a:rPr>
              <a:t>wav2vec2 output: B × 199 × 768</a:t>
            </a:r>
          </a:p>
          <a:p xmlns:a="http://schemas.openxmlformats.org/drawingml/2006/main">
            <a:pPr algn="l">
              <a:spcAft>
                <a:spcPts val="800"/>
              </a:spcAft>
              <a:buNone/>
            </a:pPr>
          </a:p>
          <a:p xmlns:a="http://schemas.openxmlformats.org/drawingml/2006/main">
            <a:pPr algn="l">
              <a:spcAft>
                <a:spcPts val="600"/>
              </a:spcAft>
              <a:buNone/>
            </a:pPr>
            <a:r>
              <a:rPr sz="1400" b="0">
                <a:solidFill>
                  <a:srgbClr val="6E6E73"/>
                </a:solidFill>
                <a:latin typeface="Segoe UI Light"/>
                <a:ea typeface="Segoe UI Light"/>
                <a:cs typeface="Segoe UI Light"/>
              </a:rPr>
              <a:t>eₜ = wᵀhₜ + b</a:t>
            </a:r>
          </a:p>
          <a:p xmlns:a="http://schemas.openxmlformats.org/drawingml/2006/main">
            <a:pPr algn="l">
              <a:spcAft>
                <a:spcPts val="600"/>
              </a:spcAft>
              <a:buNone/>
            </a:pPr>
            <a:r>
              <a:rPr sz="1400" b="0">
                <a:solidFill>
                  <a:srgbClr val="6E6E73"/>
                </a:solidFill>
                <a:latin typeface="Segoe UI Light"/>
                <a:ea typeface="Segoe UI Light"/>
                <a:cs typeface="Segoe UI Light"/>
              </a:rPr>
              <a:t>aₜ = exp(eₜ) / Σⱼ exp(eⱼ)</a:t>
            </a:r>
          </a:p>
          <a:p xmlns:a="http://schemas.openxmlformats.org/drawingml/2006/main">
            <a:pPr algn="l">
              <a:spcAft>
                <a:spcPts val="600"/>
              </a:spcAft>
              <a:buNone/>
            </a:pPr>
            <a:r>
              <a:rPr sz="1400" b="0">
                <a:solidFill>
                  <a:srgbClr val="6E6E73"/>
                </a:solidFill>
                <a:latin typeface="Segoe UI Light"/>
                <a:ea typeface="Segoe UI Light"/>
                <a:cs typeface="Segoe UI Light"/>
              </a:rPr>
              <a:t>z = Σₜ aₜhₜ ∈ ℝ⁷⁶⁸</a:t>
            </a:r>
          </a:p>
          <a:p xmlns:a="http://schemas.openxmlformats.org/drawingml/2006/main">
            <a:pPr algn="l">
              <a:spcAft>
                <a:spcPts val="600"/>
              </a:spcAft>
              <a:buNone/>
            </a:pPr>
          </a:p>
          <a:p xmlns:a="http://schemas.openxmlformats.org/drawingml/2006/main">
            <a:pPr algn="l">
              <a:spcAft>
                <a:spcPts val="600"/>
              </a:spcAft>
              <a:buNone/>
            </a:pPr>
            <a:r>
              <a:rPr sz="1400" b="0">
                <a:solidFill>
                  <a:srgbClr val="6E6E73"/>
                </a:solidFill>
                <a:latin typeface="Segoe UI Light"/>
                <a:ea typeface="Segoe UI Light"/>
                <a:cs typeface="Segoe UI Light"/>
              </a:rPr>
              <a:t>t-SNE: ℝ⁷⁶⁸ → ℝ² (visualization only)</a:t>
            </a:r>
          </a:p>
          <a:p xmlns:a="http://schemas.openxmlformats.org/drawingml/2006/main">
            <a:pPr algn="l">
              <a:spcAft>
                <a:spcPts val="600"/>
              </a:spcAft>
              <a:buNone/>
            </a:pPr>
          </a:p>
          <a:p xmlns:a="http://schemas.openxmlformats.org/drawingml/2006/main">
            <a:pPr algn="l">
              <a:spcAft>
                <a:spcPts val="600"/>
              </a:spcAft>
              <a:buNone/>
            </a:pPr>
            <a:r>
              <a:rPr sz="1400" b="0">
                <a:solidFill>
                  <a:srgbClr val="6E6E73"/>
                </a:solidFill>
                <a:latin typeface="Segoe UI Light"/>
                <a:ea typeface="Segoe UI Light"/>
                <a:cs typeface="Segoe UI Light"/>
              </a:rPr>
              <a:t>Limitations</a:t>
            </a:r>
          </a:p>
          <a:p xmlns:a="http://schemas.openxmlformats.org/drawingml/2006/main">
            <a:pPr algn="l">
              <a:spcAft>
                <a:spcPts val="600"/>
              </a:spcAft>
              <a:buNone/>
            </a:pPr>
            <a:r>
              <a:rPr sz="1400" b="0">
                <a:solidFill>
                  <a:srgbClr val="6E6E73"/>
                </a:solidFill>
                <a:latin typeface="Segoe UI Light"/>
                <a:ea typeface="Segoe UI Light"/>
                <a:cs typeface="Segoe UI Light"/>
              </a:rPr>
              <a:t>• wav2vec2 + LoRA + Weighted BCE only</a:t>
            </a:r>
          </a:p>
          <a:p xmlns:a="http://schemas.openxmlformats.org/drawingml/2006/main">
            <a:pPr algn="l">
              <a:spcAft>
                <a:spcPts val="600"/>
              </a:spcAft>
              <a:buNone/>
            </a:pPr>
            <a:r>
              <a:rPr sz="1400" b="0">
                <a:solidFill>
                  <a:srgbClr val="6E6E73"/>
                </a:solidFill>
                <a:latin typeface="Segoe UI Light"/>
                <a:ea typeface="Segoe UI Light"/>
                <a:cs typeface="Segoe UI Light"/>
              </a:rPr>
              <a:t>• not all 8 experiments; not OC-Softmax</a:t>
            </a:r>
          </a:p>
          <a:p xmlns:a="http://schemas.openxmlformats.org/drawingml/2006/main">
            <a:pPr algn="l">
              <a:spcAft>
                <a:spcPts val="600"/>
              </a:spcAft>
              <a:buNone/>
            </a:pPr>
            <a:r>
              <a:rPr sz="1400" b="0">
                <a:solidFill>
                  <a:srgbClr val="6E6E73"/>
                </a:solidFill>
                <a:latin typeface="Segoe UI Light"/>
                <a:ea typeface="Segoe UI Light"/>
                <a:cs typeface="Segoe UI Light"/>
              </a:rPr>
              <a:t>• 4,000 sampled eval points</a:t>
            </a:r>
          </a:p>
          <a:p xmlns:a="http://schemas.openxmlformats.org/drawingml/2006/main">
            <a:pPr algn="l">
              <a:spcAft>
                <a:spcPts val="600"/>
              </a:spcAft>
              <a:buNone/>
            </a:pPr>
            <a:r>
              <a:rPr sz="1400" b="0">
                <a:solidFill>
                  <a:srgbClr val="6E6E73"/>
                </a:solidFill>
                <a:latin typeface="Segoe UI Light"/>
                <a:ea typeface="Segoe UI Light"/>
                <a:cs typeface="Segoe UI Light"/>
              </a:rPr>
              <a:t>• all spoof points are unseen A07–A19</a:t>
            </a:r>
          </a:p>
          <a:p xmlns:a="http://schemas.openxmlformats.org/drawingml/2006/main">
            <a:pPr algn="l">
              <a:spcAft>
                <a:spcPts val="600"/>
              </a:spcAft>
              <a:buNone/>
            </a:pPr>
            <a:r>
              <a:rPr sz="1400" b="0">
                <a:solidFill>
                  <a:srgbClr val="6E6E73"/>
                </a:solidFill>
                <a:latin typeface="Segoe UI Light"/>
                <a:ea typeface="Segoe UI Light"/>
                <a:cs typeface="Segoe UI Light"/>
              </a:rPr>
              <a:t>• distorts geometry; descriptive, not causal proof</a:t>
            </a:r>
          </a:p>
        </p:txBody>
      </p:sp>
    </p:spTree>
    <p:extLst>
      <p:ext uri="{BB962C8B-B14F-4D97-AF65-F5344CB8AC3E}">
        <p14:creationId xmlns:p14="http://schemas.microsoft.com/office/powerpoint/2010/main" val="86109735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D08198F-8681-4532-85B0-DB71033BDA67}"/>
              </a:ext>
            </a:extLst>
          </p:cNvPr>
          <p:cNvSpPr>
            <a:spLocks xmlns:a="http://schemas.openxmlformats.org/drawingml/2006/main" noGrp="1"/>
          </p:cNvSpPr>
          <p:nvPr/>
        </p:nvSpPr>
        <p:spPr>
          <a:xfrm xmlns:a="http://schemas.openxmlformats.org/drawingml/2006/main">
            <a:off x="841248" y="603504"/>
            <a:ext cx="457200" cy="45720"/>
          </a:xfrm>
          <a:prstGeom xmlns:a="http://schemas.openxmlformats.org/drawingml/2006/main" prst="rect">
            <a:avLst/>
          </a:prstGeom>
          <a:solidFill xmlns:a="http://schemas.openxmlformats.org/drawingml/2006/main">
            <a:srgbClr val="0066C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B2271EA7-4847-43DB-BADB-0DC5A4DB76E9}"/>
              </a:ext>
            </a:extLst>
          </p:cNvPr>
          <p:cNvSpPr>
            <a:spLocks xmlns:a="http://schemas.openxmlformats.org/drawingml/2006/main" noGrp="1"/>
          </p:cNvSpPr>
          <p:nvPr/>
        </p:nvSpPr>
        <p:spPr>
          <a:xfrm xmlns:a="http://schemas.openxmlformats.org/drawingml/2006/main">
            <a:off x="822960" y="749808"/>
            <a:ext cx="10515600" cy="155448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spcAft>
                <a:spcPts val="500"/>
              </a:spcAft>
              <a:buNone/>
            </a:pPr>
            <a:r>
              <a:rPr sz="1300" b="1">
                <a:solidFill>
                  <a:srgbClr val="0066CC"/>
                </a:solidFill>
                <a:latin typeface="Segoe UI Semibold"/>
                <a:ea typeface="Segoe UI Semibold"/>
                <a:cs typeface="Segoe UI Semibold"/>
              </a:rPr>
              <a:t>BACKUP</a:t>
            </a:r>
          </a:p>
          <a:p xmlns:a="http://schemas.openxmlformats.org/drawingml/2006/main">
            <a:pPr algn="l">
              <a:spcAft>
                <a:spcPts val="1000"/>
              </a:spcAft>
              <a:buNone/>
            </a:pPr>
            <a:r>
              <a:rPr sz="3300" b="1">
                <a:solidFill>
                  <a:srgbClr val="1D1D1F"/>
                </a:solidFill>
                <a:latin typeface="Segoe UI Semibold"/>
                <a:ea typeface="Segoe UI Semibold"/>
                <a:cs typeface="Segoe UI Semibold"/>
              </a:rPr>
              <a:t>What is frozen and what is trained?</a:t>
            </a:r>
          </a:p>
        </p:txBody>
      </p:sp>
      <p:sp>
        <p:nvSpPr>
          <p:cNvPr id="4" name="TextBox 3">
            <a:extLst xmlns:a="http://schemas.openxmlformats.org/drawingml/2006/main">
              <a:ext uri="{FF2B5EF4-FFF2-40B4-BE49-F238E27FC236}">
                <a16:creationId xmlns:a16="http://schemas.microsoft.com/office/drawing/2014/main" id="{D87D673C-0A96-49AA-A9DF-D7282EC45D15}"/>
              </a:ext>
            </a:extLst>
          </p:cNvPr>
          <p:cNvSpPr>
            <a:spLocks xmlns:a="http://schemas.openxmlformats.org/drawingml/2006/main" noGrp="1"/>
          </p:cNvSpPr>
          <p:nvPr/>
        </p:nvSpPr>
        <p:spPr>
          <a:xfrm xmlns:a="http://schemas.openxmlformats.org/drawingml/2006/main">
            <a:off x="822960" y="6419088"/>
            <a:ext cx="731520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spcAft>
                <a:spcPts val="1000"/>
              </a:spcAft>
              <a:buNone/>
            </a:pPr>
            <a:r>
              <a:rPr sz="1000" b="0">
                <a:solidFill>
                  <a:srgbClr val="A1A1A6"/>
                </a:solidFill>
                <a:latin typeface="Segoe UI Light"/>
                <a:ea typeface="Segoe UI Light"/>
                <a:cs typeface="Segoe UI Light"/>
              </a:rPr>
              <a:t>Fake It Till You Make It  ·  00460217 Deep Learning</a:t>
            </a:r>
          </a:p>
        </p:txBody>
      </p:sp>
      <p:sp>
        <p:nvSpPr>
          <p:cNvPr id="5" name="TextBox 4">
            <a:extLst xmlns:a="http://schemas.openxmlformats.org/drawingml/2006/main">
              <a:ext uri="{FF2B5EF4-FFF2-40B4-BE49-F238E27FC236}">
                <a16:creationId xmlns:a16="http://schemas.microsoft.com/office/drawing/2014/main" id="{0D5C91BD-90B5-4400-9256-1DB78B604363}"/>
              </a:ext>
            </a:extLst>
          </p:cNvPr>
          <p:cNvSpPr>
            <a:spLocks xmlns:a="http://schemas.openxmlformats.org/drawingml/2006/main" noGrp="1"/>
          </p:cNvSpPr>
          <p:nvPr/>
        </p:nvSpPr>
        <p:spPr>
          <a:xfrm xmlns:a="http://schemas.openxmlformats.org/drawingml/2006/main">
            <a:off x="10607040" y="6419088"/>
            <a:ext cx="82296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spcAft>
                <a:spcPts val="1000"/>
              </a:spcAft>
              <a:buNone/>
            </a:pPr>
            <a:r>
              <a:rPr sz="1000" b="0">
                <a:solidFill>
                  <a:srgbClr val="A1A1A6"/>
                </a:solidFill>
                <a:latin typeface="Segoe UI Light"/>
                <a:ea typeface="Segoe UI Light"/>
                <a:cs typeface="Segoe UI Light"/>
              </a:rPr>
              <a:t>B6</a:t>
            </a:r>
          </a:p>
        </p:txBody>
      </p:sp>
      <p:sp>
        <p:nvSpPr>
          <p:cNvPr id="6" name="Origin flow arrow 1">
            <a:extLst xmlns:a="http://schemas.openxmlformats.org/drawingml/2006/main">
              <a:ext uri="{FF2B5EF4-FFF2-40B4-BE49-F238E27FC236}">
                <a16:creationId xmlns:a16="http://schemas.microsoft.com/office/drawing/2014/main" id="{2E622FAF-313A-497D-BEDE-DEC083F43D2A}"/>
              </a:ext>
            </a:extLst>
          </p:cNvPr>
          <p:cNvSpPr>
            <a:spLocks xmlns:a="http://schemas.openxmlformats.org/drawingml/2006/main" noGrp="1"/>
          </p:cNvSpPr>
          <p:nvPr/>
        </p:nvSpPr>
        <p:spPr>
          <a:xfrm xmlns:a="http://schemas.openxmlformats.org/drawingml/2006/main">
            <a:off x="2438400" y="2571750"/>
            <a:ext cx="180975" cy="133350"/>
          </a:xfrm>
          <a:prstGeom xmlns:a="http://schemas.openxmlformats.org/drawingml/2006/main" prst="rightArrow">
            <a:avLst/>
          </a:prstGeom>
          <a:solidFill xmlns:a="http://schemas.openxmlformats.org/drawingml/2006/main">
            <a:srgbClr val="A1A1A6"/>
          </a:solidFill>
          <a:ln xmlns:a="http://schemas.openxmlformats.org/drawingml/2006/main" w="4763">
            <a:solidFill>
              <a:srgbClr val="A1A1A6"/>
            </a:solidFill>
            <a:prstDash val="solid"/>
          </a:ln>
        </p:spPr>
        <p:txBody>
          <a:bodyPr xmlns:a="http://schemas.openxmlformats.org/drawingml/2006/main"/>
          <a:lstStyle xmlns:a="http://schemas.openxmlformats.org/drawingml/2006/main"/>
          <a:p xmlns:a="http://schemas.openxmlformats.org/drawingml/2006/main"/>
        </p:txBody>
      </p:sp>
      <p:sp>
        <p:nvSpPr>
          <p:cNvPr id="7" name="Origin flow arrow 2">
            <a:extLst xmlns:a="http://schemas.openxmlformats.org/drawingml/2006/main">
              <a:ext uri="{FF2B5EF4-FFF2-40B4-BE49-F238E27FC236}">
                <a16:creationId xmlns:a16="http://schemas.microsoft.com/office/drawing/2014/main" id="{E3FF9C41-C1CC-4A21-8456-F49E9586FB64}"/>
              </a:ext>
            </a:extLst>
          </p:cNvPr>
          <p:cNvSpPr>
            <a:spLocks xmlns:a="http://schemas.openxmlformats.org/drawingml/2006/main" noGrp="1"/>
          </p:cNvSpPr>
          <p:nvPr/>
        </p:nvSpPr>
        <p:spPr>
          <a:xfrm xmlns:a="http://schemas.openxmlformats.org/drawingml/2006/main">
            <a:off x="4219575" y="2571750"/>
            <a:ext cx="180975" cy="133350"/>
          </a:xfrm>
          <a:prstGeom xmlns:a="http://schemas.openxmlformats.org/drawingml/2006/main" prst="rightArrow">
            <a:avLst/>
          </a:prstGeom>
          <a:solidFill xmlns:a="http://schemas.openxmlformats.org/drawingml/2006/main">
            <a:srgbClr val="A1A1A6"/>
          </a:solidFill>
          <a:ln xmlns:a="http://schemas.openxmlformats.org/drawingml/2006/main" w="4763">
            <a:solidFill>
              <a:srgbClr val="A1A1A6"/>
            </a:solidFill>
            <a:prstDash val="solid"/>
          </a:ln>
        </p:spPr>
        <p:txBody>
          <a:bodyPr xmlns:a="http://schemas.openxmlformats.org/drawingml/2006/main"/>
          <a:lstStyle xmlns:a="http://schemas.openxmlformats.org/drawingml/2006/main"/>
          <a:p xmlns:a="http://schemas.openxmlformats.org/drawingml/2006/main"/>
        </p:txBody>
      </p:sp>
      <p:sp>
        <p:nvSpPr>
          <p:cNvPr id="8" name="Origin flow arrow 3">
            <a:extLst xmlns:a="http://schemas.openxmlformats.org/drawingml/2006/main">
              <a:ext uri="{FF2B5EF4-FFF2-40B4-BE49-F238E27FC236}">
                <a16:creationId xmlns:a16="http://schemas.microsoft.com/office/drawing/2014/main" id="{FFD678AF-54D5-4ECE-A1E9-B41CDBD93111}"/>
              </a:ext>
            </a:extLst>
          </p:cNvPr>
          <p:cNvSpPr>
            <a:spLocks xmlns:a="http://schemas.openxmlformats.org/drawingml/2006/main" noGrp="1"/>
          </p:cNvSpPr>
          <p:nvPr/>
        </p:nvSpPr>
        <p:spPr>
          <a:xfrm xmlns:a="http://schemas.openxmlformats.org/drawingml/2006/main">
            <a:off x="6000750" y="2571750"/>
            <a:ext cx="180975" cy="133350"/>
          </a:xfrm>
          <a:prstGeom xmlns:a="http://schemas.openxmlformats.org/drawingml/2006/main" prst="rightArrow">
            <a:avLst/>
          </a:prstGeom>
          <a:solidFill xmlns:a="http://schemas.openxmlformats.org/drawingml/2006/main">
            <a:srgbClr val="A1A1A6"/>
          </a:solidFill>
          <a:ln xmlns:a="http://schemas.openxmlformats.org/drawingml/2006/main" w="4763">
            <a:solidFill>
              <a:srgbClr val="A1A1A6"/>
            </a:solidFill>
            <a:prstDash val="solid"/>
          </a:ln>
        </p:spPr>
        <p:txBody>
          <a:bodyPr xmlns:a="http://schemas.openxmlformats.org/drawingml/2006/main"/>
          <a:lstStyle xmlns:a="http://schemas.openxmlformats.org/drawingml/2006/main"/>
          <a:p xmlns:a="http://schemas.openxmlformats.org/drawingml/2006/main"/>
        </p:txBody>
      </p:sp>
      <p:sp>
        <p:nvSpPr>
          <p:cNvPr id="9" name="Origin flow arrow 4">
            <a:extLst xmlns:a="http://schemas.openxmlformats.org/drawingml/2006/main">
              <a:ext uri="{FF2B5EF4-FFF2-40B4-BE49-F238E27FC236}">
                <a16:creationId xmlns:a16="http://schemas.microsoft.com/office/drawing/2014/main" id="{5ABF9CEC-7BDD-4277-A4B2-3A627BC65C34}"/>
              </a:ext>
            </a:extLst>
          </p:cNvPr>
          <p:cNvSpPr>
            <a:spLocks xmlns:a="http://schemas.openxmlformats.org/drawingml/2006/main" noGrp="1"/>
          </p:cNvSpPr>
          <p:nvPr/>
        </p:nvSpPr>
        <p:spPr>
          <a:xfrm xmlns:a="http://schemas.openxmlformats.org/drawingml/2006/main">
            <a:off x="7781925" y="2571750"/>
            <a:ext cx="180975" cy="133350"/>
          </a:xfrm>
          <a:prstGeom xmlns:a="http://schemas.openxmlformats.org/drawingml/2006/main" prst="rightArrow">
            <a:avLst/>
          </a:prstGeom>
          <a:solidFill xmlns:a="http://schemas.openxmlformats.org/drawingml/2006/main">
            <a:srgbClr val="A1A1A6"/>
          </a:solidFill>
          <a:ln xmlns:a="http://schemas.openxmlformats.org/drawingml/2006/main" w="4763">
            <a:solidFill>
              <a:srgbClr val="A1A1A6"/>
            </a:solidFill>
            <a:prstDash val="solid"/>
          </a:ln>
        </p:spPr>
        <p:txBody>
          <a:bodyPr xmlns:a="http://schemas.openxmlformats.org/drawingml/2006/main"/>
          <a:lstStyle xmlns:a="http://schemas.openxmlformats.org/drawingml/2006/main"/>
          <a:p xmlns:a="http://schemas.openxmlformats.org/drawingml/2006/main"/>
        </p:txBody>
      </p:sp>
      <p:sp>
        <p:nvSpPr>
          <p:cNvPr id="10" name="Origin flow arrow 5">
            <a:extLst xmlns:a="http://schemas.openxmlformats.org/drawingml/2006/main">
              <a:ext uri="{FF2B5EF4-FFF2-40B4-BE49-F238E27FC236}">
                <a16:creationId xmlns:a16="http://schemas.microsoft.com/office/drawing/2014/main" id="{33C48DC2-DBDE-440D-B9E3-F22DBD1FC542}"/>
              </a:ext>
            </a:extLst>
          </p:cNvPr>
          <p:cNvSpPr>
            <a:spLocks xmlns:a="http://schemas.openxmlformats.org/drawingml/2006/main" noGrp="1"/>
          </p:cNvSpPr>
          <p:nvPr/>
        </p:nvSpPr>
        <p:spPr>
          <a:xfrm xmlns:a="http://schemas.openxmlformats.org/drawingml/2006/main">
            <a:off x="9563100" y="2571750"/>
            <a:ext cx="180975" cy="133350"/>
          </a:xfrm>
          <a:prstGeom xmlns:a="http://schemas.openxmlformats.org/drawingml/2006/main" prst="rightArrow">
            <a:avLst/>
          </a:prstGeom>
          <a:solidFill xmlns:a="http://schemas.openxmlformats.org/drawingml/2006/main">
            <a:srgbClr val="A1A1A6"/>
          </a:solidFill>
          <a:ln xmlns:a="http://schemas.openxmlformats.org/drawingml/2006/main" w="4763">
            <a:solidFill>
              <a:srgbClr val="A1A1A6"/>
            </a:solidFill>
            <a:prstDash val="solid"/>
          </a:ln>
        </p:spPr>
        <p:txBody>
          <a:bodyPr xmlns:a="http://schemas.openxmlformats.org/drawingml/2006/main"/>
          <a:lstStyle xmlns:a="http://schemas.openxmlformats.org/drawingml/2006/main"/>
          <a:p xmlns:a="http://schemas.openxmlformats.org/drawingml/2006/main"/>
        </p:txBody>
      </p:sp>
      <p:sp>
        <p:nvSpPr>
          <p:cNvPr id="11" name="Origin flow node 1">
            <a:extLst xmlns:a="http://schemas.openxmlformats.org/drawingml/2006/main">
              <a:ext uri="{FF2B5EF4-FFF2-40B4-BE49-F238E27FC236}">
                <a16:creationId xmlns:a16="http://schemas.microsoft.com/office/drawing/2014/main" id="{564AA658-5FD6-4F32-8DC6-8D3343EE1B23}"/>
              </a:ext>
            </a:extLst>
          </p:cNvPr>
          <p:cNvSpPr>
            <a:spLocks xmlns:a="http://schemas.openxmlformats.org/drawingml/2006/main" noGrp="1"/>
          </p:cNvSpPr>
          <p:nvPr/>
        </p:nvSpPr>
        <p:spPr>
          <a:xfrm xmlns:a="http://schemas.openxmlformats.org/drawingml/2006/main">
            <a:off x="876300" y="2343150"/>
            <a:ext cx="1524000" cy="590550"/>
          </a:xfrm>
          <a:prstGeom xmlns:a="http://schemas.openxmlformats.org/drawingml/2006/main" prst="roundRect">
            <a:avLst>
              <a:gd name="adj" fmla="val 12903"/>
            </a:avLst>
          </a:prstGeom>
          <a:solidFill xmlns:a="http://schemas.openxmlformats.org/drawingml/2006/main">
            <a:srgbClr val="F7F7FA"/>
          </a:solidFill>
          <a:ln xmlns:a="http://schemas.openxmlformats.org/drawingml/2006/main" w="10478">
            <a:solidFill>
              <a:srgbClr val="D1D1D6"/>
            </a:solidFill>
            <a:prstDash val="solid"/>
          </a:ln>
        </p:spPr>
        <p:txBody>
          <a:bodyPr xmlns:a="http://schemas.openxmlformats.org/drawingml/2006/main" wrap="square" lIns="38100" tIns="9525" rIns="38100" bIns="9525" anchor="ctr">
            <a:normAutofit/>
          </a:bodyPr>
          <a:lstStyle xmlns:a="http://schemas.openxmlformats.org/drawingml/2006/main"/>
          <a:p xmlns:a="http://schemas.openxmlformats.org/drawingml/2006/main">
            <a:pPr algn="ctr">
              <a:buNone/>
              <a:defRPr sz="1200" b="1">
                <a:solidFill>
                  <a:srgbClr val="4A4A4E"/>
                </a:solidFill>
                <a:latin typeface="Segoe UI Semibold"/>
                <a:ea typeface="Segoe UI Semibold"/>
                <a:cs typeface="Segoe UI Semibold"/>
              </a:defRPr>
            </a:pPr>
            <a:r>
              <a:rPr sz="1200" b="1">
                <a:solidFill>
                  <a:srgbClr val="4A4A4E"/>
                </a:solidFill>
                <a:latin typeface="Segoe UI Semibold"/>
                <a:ea typeface="Segoe UI Semibold"/>
                <a:cs typeface="Segoe UI Semibold"/>
              </a:rPr>
              <a:t>Unlabeled</a:t>
            </a:r>
          </a:p>
          <a:p xmlns:a="http://schemas.openxmlformats.org/drawingml/2006/main">
            <a:pPr algn="ctr">
              <a:buNone/>
              <a:defRPr sz="1200" b="1">
                <a:solidFill>
                  <a:srgbClr val="4A4A4E"/>
                </a:solidFill>
                <a:latin typeface="Segoe UI Semibold"/>
                <a:ea typeface="Segoe UI Semibold"/>
                <a:cs typeface="Segoe UI Semibold"/>
              </a:defRPr>
            </a:pPr>
            <a:r>
              <a:rPr sz="1200" b="1">
                <a:solidFill>
                  <a:srgbClr val="4A4A4E"/>
                </a:solidFill>
                <a:latin typeface="Segoe UI Semibold"/>
                <a:ea typeface="Segoe UI Semibold"/>
                <a:cs typeface="Segoe UI Semibold"/>
              </a:rPr>
              <a:t>natural speech</a:t>
            </a:r>
          </a:p>
        </p:txBody>
      </p:sp>
      <p:sp>
        <p:nvSpPr>
          <p:cNvPr id="12" name="Origin flow node 2">
            <a:extLst xmlns:a="http://schemas.openxmlformats.org/drawingml/2006/main">
              <a:ext uri="{FF2B5EF4-FFF2-40B4-BE49-F238E27FC236}">
                <a16:creationId xmlns:a16="http://schemas.microsoft.com/office/drawing/2014/main" id="{71DD88A3-51E1-412E-B90D-2FB344A4DF1B}"/>
              </a:ext>
            </a:extLst>
          </p:cNvPr>
          <p:cNvSpPr>
            <a:spLocks xmlns:a="http://schemas.openxmlformats.org/drawingml/2006/main" noGrp="1"/>
          </p:cNvSpPr>
          <p:nvPr/>
        </p:nvSpPr>
        <p:spPr>
          <a:xfrm xmlns:a="http://schemas.openxmlformats.org/drawingml/2006/main">
            <a:off x="2657475" y="2343150"/>
            <a:ext cx="1524000" cy="590550"/>
          </a:xfrm>
          <a:prstGeom xmlns:a="http://schemas.openxmlformats.org/drawingml/2006/main" prst="roundRect">
            <a:avLst>
              <a:gd name="adj" fmla="val 12903"/>
            </a:avLst>
          </a:prstGeom>
          <a:solidFill xmlns:a="http://schemas.openxmlformats.org/drawingml/2006/main">
            <a:srgbClr val="EEF2F7"/>
          </a:solidFill>
          <a:ln xmlns:a="http://schemas.openxmlformats.org/drawingml/2006/main" w="10478">
            <a:solidFill>
              <a:srgbClr val="9E9EA5"/>
            </a:solidFill>
            <a:prstDash val="solid"/>
          </a:ln>
        </p:spPr>
        <p:txBody>
          <a:bodyPr xmlns:a="http://schemas.openxmlformats.org/drawingml/2006/main" wrap="square" lIns="38100" tIns="9525" rIns="38100" bIns="9525" anchor="ctr">
            <a:normAutofit fontScale="96031" lnSpcReduction="10000"/>
          </a:bodyPr>
          <a:lstStyle xmlns:a="http://schemas.openxmlformats.org/drawingml/2006/main"/>
          <a:p xmlns:a="http://schemas.openxmlformats.org/drawingml/2006/main">
            <a:pPr algn="ctr">
              <a:buNone/>
              <a:defRPr sz="1200" b="1">
                <a:solidFill>
                  <a:srgbClr val="4A4A4E"/>
                </a:solidFill>
                <a:latin typeface="Segoe UI Semibold"/>
                <a:ea typeface="Segoe UI Semibold"/>
                <a:cs typeface="Segoe UI Semibold"/>
              </a:defRPr>
            </a:pPr>
            <a:r>
              <a:rPr sz="1200" b="1">
                <a:solidFill>
                  <a:srgbClr val="4A4A4E"/>
                </a:solidFill>
                <a:latin typeface="Segoe UI Semibold"/>
                <a:ea typeface="Segoe UI Semibold"/>
                <a:cs typeface="Segoe UI Semibold"/>
              </a:rPr>
              <a:t>Self-supervised</a:t>
            </a:r>
          </a:p>
          <a:p xmlns:a="http://schemas.openxmlformats.org/drawingml/2006/main">
            <a:pPr algn="ctr">
              <a:buNone/>
              <a:defRPr sz="1200" b="1">
                <a:solidFill>
                  <a:srgbClr val="4A4A4E"/>
                </a:solidFill>
                <a:latin typeface="Segoe UI Semibold"/>
                <a:ea typeface="Segoe UI Semibold"/>
                <a:cs typeface="Segoe UI Semibold"/>
              </a:defRPr>
            </a:pPr>
            <a:r>
              <a:rPr sz="1200" b="1">
                <a:solidFill>
                  <a:srgbClr val="4A4A4E"/>
                </a:solidFill>
                <a:latin typeface="Segoe UI Semibold"/>
                <a:ea typeface="Segoe UI Semibold"/>
                <a:cs typeface="Segoe UI Semibold"/>
              </a:rPr>
              <a:t>wav2vec2</a:t>
            </a:r>
          </a:p>
          <a:p xmlns:a="http://schemas.openxmlformats.org/drawingml/2006/main">
            <a:pPr algn="ctr">
              <a:buNone/>
              <a:defRPr sz="1200" b="1">
                <a:solidFill>
                  <a:srgbClr val="4A4A4E"/>
                </a:solidFill>
                <a:latin typeface="Segoe UI Semibold"/>
                <a:ea typeface="Segoe UI Semibold"/>
                <a:cs typeface="Segoe UI Semibold"/>
              </a:defRPr>
            </a:pPr>
            <a:r>
              <a:rPr sz="1200" b="1">
                <a:solidFill>
                  <a:srgbClr val="4A4A4E"/>
                </a:solidFill>
                <a:latin typeface="Segoe UI Semibold"/>
                <a:ea typeface="Segoe UI Semibold"/>
                <a:cs typeface="Segoe UI Semibold"/>
              </a:rPr>
              <a:t>pretraining</a:t>
            </a:r>
          </a:p>
        </p:txBody>
      </p:sp>
      <p:sp>
        <p:nvSpPr>
          <p:cNvPr id="13" name="Origin flow node 3">
            <a:extLst xmlns:a="http://schemas.openxmlformats.org/drawingml/2006/main">
              <a:ext uri="{FF2B5EF4-FFF2-40B4-BE49-F238E27FC236}">
                <a16:creationId xmlns:a16="http://schemas.microsoft.com/office/drawing/2014/main" id="{A100A0FC-208B-4347-B0C6-8EC95DC0B620}"/>
              </a:ext>
            </a:extLst>
          </p:cNvPr>
          <p:cNvSpPr>
            <a:spLocks xmlns:a="http://schemas.openxmlformats.org/drawingml/2006/main" noGrp="1"/>
          </p:cNvSpPr>
          <p:nvPr/>
        </p:nvSpPr>
        <p:spPr>
          <a:xfrm xmlns:a="http://schemas.openxmlformats.org/drawingml/2006/main">
            <a:off x="4438650" y="2343150"/>
            <a:ext cx="1524000" cy="590550"/>
          </a:xfrm>
          <a:prstGeom xmlns:a="http://schemas.openxmlformats.org/drawingml/2006/main" prst="roundRect">
            <a:avLst>
              <a:gd name="adj" fmla="val 12903"/>
            </a:avLst>
          </a:prstGeom>
          <a:solidFill xmlns:a="http://schemas.openxmlformats.org/drawingml/2006/main">
            <a:srgbClr val="EEF2F7"/>
          </a:solidFill>
          <a:ln xmlns:a="http://schemas.openxmlformats.org/drawingml/2006/main" w="10478">
            <a:solidFill>
              <a:srgbClr val="9E9EA5"/>
            </a:solidFill>
            <a:prstDash val="solid"/>
          </a:ln>
        </p:spPr>
        <p:txBody>
          <a:bodyPr xmlns:a="http://schemas.openxmlformats.org/drawingml/2006/main" wrap="square" lIns="38100" tIns="9525" rIns="38100" bIns="9525" anchor="ctr">
            <a:normAutofit fontScale="96031" lnSpcReduction="10000"/>
          </a:bodyPr>
          <a:lstStyle xmlns:a="http://schemas.openxmlformats.org/drawingml/2006/main"/>
          <a:p xmlns:a="http://schemas.openxmlformats.org/drawingml/2006/main">
            <a:pPr algn="ctr">
              <a:buNone/>
              <a:defRPr sz="1200" b="1">
                <a:solidFill>
                  <a:srgbClr val="4A4A4E"/>
                </a:solidFill>
                <a:latin typeface="Segoe UI Semibold"/>
                <a:ea typeface="Segoe UI Semibold"/>
                <a:cs typeface="Segoe UI Semibold"/>
              </a:defRPr>
            </a:pPr>
            <a:r>
              <a:rPr sz="1200" b="1">
                <a:solidFill>
                  <a:srgbClr val="4A4A4E"/>
                </a:solidFill>
                <a:latin typeface="Segoe UI Semibold"/>
                <a:ea typeface="Segoe UI Semibold"/>
                <a:cs typeface="Segoe UI Semibold"/>
              </a:rPr>
              <a:t>Pretrained</a:t>
            </a:r>
          </a:p>
          <a:p xmlns:a="http://schemas.openxmlformats.org/drawingml/2006/main">
            <a:pPr algn="ctr">
              <a:buNone/>
              <a:defRPr sz="1200" b="1">
                <a:solidFill>
                  <a:srgbClr val="4A4A4E"/>
                </a:solidFill>
                <a:latin typeface="Segoe UI Semibold"/>
                <a:ea typeface="Segoe UI Semibold"/>
                <a:cs typeface="Segoe UI Semibold"/>
              </a:defRPr>
            </a:pPr>
            <a:r>
              <a:rPr sz="1200" b="1">
                <a:solidFill>
                  <a:srgbClr val="4A4A4E"/>
                </a:solidFill>
                <a:latin typeface="Segoe UI Semibold"/>
                <a:ea typeface="Segoe UI Semibold"/>
                <a:cs typeface="Segoe UI Semibold"/>
              </a:rPr>
              <a:t>Q / K / V / O</a:t>
            </a:r>
          </a:p>
          <a:p xmlns:a="http://schemas.openxmlformats.org/drawingml/2006/main">
            <a:pPr algn="ctr">
              <a:buNone/>
              <a:defRPr sz="1200" b="1">
                <a:solidFill>
                  <a:srgbClr val="4A4A4E"/>
                </a:solidFill>
                <a:latin typeface="Segoe UI Semibold"/>
                <a:ea typeface="Segoe UI Semibold"/>
                <a:cs typeface="Segoe UI Semibold"/>
              </a:defRPr>
            </a:pPr>
            <a:r>
              <a:rPr sz="1200" b="1">
                <a:solidFill>
                  <a:srgbClr val="4A4A4E"/>
                </a:solidFill>
                <a:latin typeface="Segoe UI Semibold"/>
                <a:ea typeface="Segoe UI Semibold"/>
                <a:cs typeface="Segoe UI Semibold"/>
              </a:rPr>
              <a:t>weights</a:t>
            </a:r>
          </a:p>
        </p:txBody>
      </p:sp>
      <p:sp>
        <p:nvSpPr>
          <p:cNvPr id="14" name="Origin flow node 4">
            <a:extLst xmlns:a="http://schemas.openxmlformats.org/drawingml/2006/main">
              <a:ext uri="{FF2B5EF4-FFF2-40B4-BE49-F238E27FC236}">
                <a16:creationId xmlns:a16="http://schemas.microsoft.com/office/drawing/2014/main" id="{F1A505A8-C784-4CCB-AF28-74F4FFFCAA72}"/>
              </a:ext>
            </a:extLst>
          </p:cNvPr>
          <p:cNvSpPr>
            <a:spLocks xmlns:a="http://schemas.openxmlformats.org/drawingml/2006/main" noGrp="1"/>
          </p:cNvSpPr>
          <p:nvPr/>
        </p:nvSpPr>
        <p:spPr>
          <a:xfrm xmlns:a="http://schemas.openxmlformats.org/drawingml/2006/main">
            <a:off x="6219825" y="2343150"/>
            <a:ext cx="1524000" cy="590550"/>
          </a:xfrm>
          <a:prstGeom xmlns:a="http://schemas.openxmlformats.org/drawingml/2006/main" prst="roundRect">
            <a:avLst>
              <a:gd name="adj" fmla="val 12903"/>
            </a:avLst>
          </a:prstGeom>
          <a:solidFill xmlns:a="http://schemas.openxmlformats.org/drawingml/2006/main">
            <a:srgbClr val="F2F2F7"/>
          </a:solidFill>
          <a:ln xmlns:a="http://schemas.openxmlformats.org/drawingml/2006/main" w="10478">
            <a:solidFill>
              <a:srgbClr val="8E8E93"/>
            </a:solidFill>
            <a:prstDash val="solid"/>
          </a:ln>
        </p:spPr>
        <p:txBody>
          <a:bodyPr xmlns:a="http://schemas.openxmlformats.org/drawingml/2006/main" wrap="square" lIns="38100" tIns="9525" rIns="38100" bIns="9525" anchor="ctr">
            <a:normAutofit/>
          </a:bodyPr>
          <a:lstStyle xmlns:a="http://schemas.openxmlformats.org/drawingml/2006/main"/>
          <a:p xmlns:a="http://schemas.openxmlformats.org/drawingml/2006/main">
            <a:pPr algn="ctr">
              <a:buNone/>
              <a:defRPr sz="1200" b="1">
                <a:solidFill>
                  <a:srgbClr val="4A4A4E"/>
                </a:solidFill>
                <a:latin typeface="Segoe UI Semibold"/>
                <a:ea typeface="Segoe UI Semibold"/>
                <a:cs typeface="Segoe UI Semibold"/>
              </a:defRPr>
            </a:pPr>
            <a:r>
              <a:rPr sz="1200" b="1">
                <a:solidFill>
                  <a:srgbClr val="4A4A4E"/>
                </a:solidFill>
                <a:latin typeface="Segoe UI Semibold"/>
                <a:ea typeface="Segoe UI Semibold"/>
                <a:cs typeface="Segoe UI Semibold"/>
              </a:rPr>
              <a:t>Load + freeze</a:t>
            </a:r>
          </a:p>
          <a:p xmlns:a="http://schemas.openxmlformats.org/drawingml/2006/main">
            <a:pPr algn="ctr">
              <a:buNone/>
              <a:defRPr sz="1200" b="1">
                <a:solidFill>
                  <a:srgbClr val="4A4A4E"/>
                </a:solidFill>
                <a:latin typeface="Segoe UI Semibold"/>
                <a:ea typeface="Segoe UI Semibold"/>
                <a:cs typeface="Segoe UI Semibold"/>
              </a:defRPr>
            </a:pPr>
            <a:r>
              <a:rPr sz="1200" b="1">
                <a:solidFill>
                  <a:srgbClr val="4A4A4E"/>
                </a:solidFill>
                <a:latin typeface="Segoe UI Semibold"/>
                <a:ea typeface="Segoe UI Semibold"/>
                <a:cs typeface="Segoe UI Semibold"/>
              </a:rPr>
              <a:t>in our project</a:t>
            </a:r>
          </a:p>
        </p:txBody>
      </p:sp>
      <p:sp>
        <p:nvSpPr>
          <p:cNvPr id="15" name="Origin flow node 5">
            <a:extLst xmlns:a="http://schemas.openxmlformats.org/drawingml/2006/main">
              <a:ext uri="{FF2B5EF4-FFF2-40B4-BE49-F238E27FC236}">
                <a16:creationId xmlns:a16="http://schemas.microsoft.com/office/drawing/2014/main" id="{8B20B58C-F1D4-4EB4-B0D3-648E13241464}"/>
              </a:ext>
            </a:extLst>
          </p:cNvPr>
          <p:cNvSpPr>
            <a:spLocks xmlns:a="http://schemas.openxmlformats.org/drawingml/2006/main" noGrp="1"/>
          </p:cNvSpPr>
          <p:nvPr/>
        </p:nvSpPr>
        <p:spPr>
          <a:xfrm xmlns:a="http://schemas.openxmlformats.org/drawingml/2006/main">
            <a:off x="8001000" y="2343150"/>
            <a:ext cx="1524000" cy="590550"/>
          </a:xfrm>
          <a:prstGeom xmlns:a="http://schemas.openxmlformats.org/drawingml/2006/main" prst="roundRect">
            <a:avLst>
              <a:gd name="adj" fmla="val 12903"/>
            </a:avLst>
          </a:prstGeom>
          <a:solidFill xmlns:a="http://schemas.openxmlformats.org/drawingml/2006/main">
            <a:srgbClr val="FFF4E5"/>
          </a:solidFill>
          <a:ln xmlns:a="http://schemas.openxmlformats.org/drawingml/2006/main" w="10478">
            <a:solidFill>
              <a:srgbClr val="F5A623"/>
            </a:solidFill>
            <a:prstDash val="solid"/>
          </a:ln>
        </p:spPr>
        <p:txBody>
          <a:bodyPr xmlns:a="http://schemas.openxmlformats.org/drawingml/2006/main" wrap="square" lIns="38100" tIns="9525" rIns="38100" bIns="9525" anchor="ctr">
            <a:normAutofit fontScale="96031" lnSpcReduction="10000"/>
          </a:bodyPr>
          <a:lstStyle xmlns:a="http://schemas.openxmlformats.org/drawingml/2006/main"/>
          <a:p xmlns:a="http://schemas.openxmlformats.org/drawingml/2006/main">
            <a:pPr algn="ctr">
              <a:buNone/>
              <a:defRPr sz="1200" b="1">
                <a:solidFill>
                  <a:srgbClr val="5B4420"/>
                </a:solidFill>
                <a:latin typeface="Segoe UI Semibold"/>
                <a:ea typeface="Segoe UI Semibold"/>
                <a:cs typeface="Segoe UI Semibold"/>
              </a:defRPr>
            </a:pPr>
            <a:r>
              <a:rPr sz="1200" b="1">
                <a:solidFill>
                  <a:srgbClr val="5B4420"/>
                </a:solidFill>
                <a:latin typeface="Segoe UI Semibold"/>
                <a:ea typeface="Segoe UI Semibold"/>
                <a:cs typeface="Segoe UI Semibold"/>
              </a:rPr>
              <a:t>ASVspoof 2019</a:t>
            </a:r>
          </a:p>
          <a:p xmlns:a="http://schemas.openxmlformats.org/drawingml/2006/main">
            <a:pPr algn="ctr">
              <a:buNone/>
              <a:defRPr sz="1200" b="1">
                <a:solidFill>
                  <a:srgbClr val="5B4420"/>
                </a:solidFill>
                <a:latin typeface="Segoe UI Semibold"/>
                <a:ea typeface="Segoe UI Semibold"/>
                <a:cs typeface="Segoe UI Semibold"/>
              </a:defRPr>
            </a:pPr>
            <a:r>
              <a:rPr sz="1200" b="1">
                <a:solidFill>
                  <a:srgbClr val="5B4420"/>
                </a:solidFill>
                <a:latin typeface="Segoe UI Semibold"/>
                <a:ea typeface="Segoe UI Semibold"/>
                <a:cs typeface="Segoe UI Semibold"/>
              </a:rPr>
              <a:t>bona fide / spoof</a:t>
            </a:r>
          </a:p>
          <a:p xmlns:a="http://schemas.openxmlformats.org/drawingml/2006/main">
            <a:pPr algn="ctr">
              <a:buNone/>
              <a:defRPr sz="1200" b="1">
                <a:solidFill>
                  <a:srgbClr val="5B4420"/>
                </a:solidFill>
                <a:latin typeface="Segoe UI Semibold"/>
                <a:ea typeface="Segoe UI Semibold"/>
                <a:cs typeface="Segoe UI Semibold"/>
              </a:defRPr>
            </a:pPr>
            <a:r>
              <a:rPr sz="1200" b="1">
                <a:solidFill>
                  <a:srgbClr val="5B4420"/>
                </a:solidFill>
                <a:latin typeface="Segoe UI Semibold"/>
                <a:ea typeface="Segoe UI Semibold"/>
                <a:cs typeface="Segoe UI Semibold"/>
              </a:rPr>
              <a:t>labels</a:t>
            </a:r>
          </a:p>
        </p:txBody>
      </p:sp>
      <p:sp>
        <p:nvSpPr>
          <p:cNvPr id="16" name="Origin flow node 6">
            <a:extLst xmlns:a="http://schemas.openxmlformats.org/drawingml/2006/main">
              <a:ext uri="{FF2B5EF4-FFF2-40B4-BE49-F238E27FC236}">
                <a16:creationId xmlns:a16="http://schemas.microsoft.com/office/drawing/2014/main" id="{49353C1B-CF49-47A0-999E-C59EE990EB02}"/>
              </a:ext>
            </a:extLst>
          </p:cNvPr>
          <p:cNvSpPr>
            <a:spLocks xmlns:a="http://schemas.openxmlformats.org/drawingml/2006/main" noGrp="1"/>
          </p:cNvSpPr>
          <p:nvPr/>
        </p:nvSpPr>
        <p:spPr>
          <a:xfrm xmlns:a="http://schemas.openxmlformats.org/drawingml/2006/main">
            <a:off x="9782175" y="2343150"/>
            <a:ext cx="1524000" cy="590550"/>
          </a:xfrm>
          <a:prstGeom xmlns:a="http://schemas.openxmlformats.org/drawingml/2006/main" prst="roundRect">
            <a:avLst>
              <a:gd name="adj" fmla="val 12903"/>
            </a:avLst>
          </a:prstGeom>
          <a:solidFill xmlns:a="http://schemas.openxmlformats.org/drawingml/2006/main">
            <a:srgbClr val="EAF3FF"/>
          </a:solidFill>
          <a:ln xmlns:a="http://schemas.openxmlformats.org/drawingml/2006/main" w="10478">
            <a:solidFill>
              <a:srgbClr val="0066CC"/>
            </a:solidFill>
            <a:prstDash val="solid"/>
          </a:ln>
        </p:spPr>
        <p:txBody>
          <a:bodyPr xmlns:a="http://schemas.openxmlformats.org/drawingml/2006/main" wrap="square" lIns="38100" tIns="9525" rIns="38100" bIns="9525" anchor="ctr">
            <a:normAutofit/>
          </a:bodyPr>
          <a:lstStyle xmlns:a="http://schemas.openxmlformats.org/drawingml/2006/main"/>
          <a:p xmlns:a="http://schemas.openxmlformats.org/drawingml/2006/main">
            <a:pPr algn="ctr">
              <a:buNone/>
              <a:defRPr sz="1200" b="1">
                <a:solidFill>
                  <a:srgbClr val="0066CC"/>
                </a:solidFill>
                <a:latin typeface="Segoe UI Semibold"/>
                <a:ea typeface="Segoe UI Semibold"/>
                <a:cs typeface="Segoe UI Semibold"/>
              </a:defRPr>
            </a:pPr>
            <a:r>
              <a:rPr sz="1200" b="1">
                <a:solidFill>
                  <a:srgbClr val="0066CC"/>
                </a:solidFill>
                <a:latin typeface="Segoe UI Semibold"/>
                <a:ea typeface="Segoe UI Semibold"/>
                <a:cs typeface="Segoe UI Semibold"/>
              </a:rPr>
              <a:t>Train pooling,</a:t>
            </a:r>
          </a:p>
          <a:p xmlns:a="http://schemas.openxmlformats.org/drawingml/2006/main">
            <a:pPr algn="ctr">
              <a:buNone/>
              <a:defRPr sz="1200" b="1">
                <a:solidFill>
                  <a:srgbClr val="0066CC"/>
                </a:solidFill>
                <a:latin typeface="Segoe UI Semibold"/>
                <a:ea typeface="Segoe UI Semibold"/>
                <a:cs typeface="Segoe UI Semibold"/>
              </a:defRPr>
            </a:pPr>
            <a:r>
              <a:rPr sz="1200" b="1">
                <a:solidFill>
                  <a:srgbClr val="0066CC"/>
                </a:solidFill>
                <a:latin typeface="Segoe UI Semibold"/>
                <a:ea typeface="Segoe UI Semibold"/>
                <a:cs typeface="Segoe UI Semibold"/>
              </a:rPr>
              <a:t>head + adapters</a:t>
            </a:r>
          </a:p>
        </p:txBody>
      </p:sp>
      <p:sp>
        <p:nvSpPr>
          <p:cNvPr id="17" name="LoRA formula panel">
            <a:extLst xmlns:a="http://schemas.openxmlformats.org/drawingml/2006/main">
              <a:ext uri="{FF2B5EF4-FFF2-40B4-BE49-F238E27FC236}">
                <a16:creationId xmlns:a16="http://schemas.microsoft.com/office/drawing/2014/main" id="{DBA2D7A2-1F84-4596-A524-578F760E5F14}"/>
              </a:ext>
            </a:extLst>
          </p:cNvPr>
          <p:cNvSpPr>
            <a:spLocks xmlns:a="http://schemas.openxmlformats.org/drawingml/2006/main" noGrp="1"/>
          </p:cNvSpPr>
          <p:nvPr/>
        </p:nvSpPr>
        <p:spPr>
          <a:xfrm xmlns:a="http://schemas.openxmlformats.org/drawingml/2006/main">
            <a:off x="876300" y="3086100"/>
            <a:ext cx="3333750" cy="2209800"/>
          </a:xfrm>
          <a:prstGeom xmlns:a="http://schemas.openxmlformats.org/drawingml/2006/main" prst="roundRect">
            <a:avLst>
              <a:gd name="adj" fmla="val 4310"/>
            </a:avLst>
          </a:prstGeom>
          <a:solidFill xmlns:a="http://schemas.openxmlformats.org/drawingml/2006/main">
            <a:srgbClr val="F2F6FC"/>
          </a:solidFill>
          <a:ln xmlns:a="http://schemas.openxmlformats.org/drawingml/2006/main" w="13335">
            <a:solidFill>
              <a:srgbClr val="0066CC"/>
            </a:solidFill>
            <a:prstDash val="solid"/>
          </a:ln>
        </p:spPr>
        <p:txBody>
          <a:bodyPr xmlns:a="http://schemas.openxmlformats.org/drawingml/2006/main"/>
          <a:lstStyle xmlns:a="http://schemas.openxmlformats.org/drawingml/2006/main"/>
          <a:p xmlns:a="http://schemas.openxmlformats.org/drawingml/2006/main"/>
        </p:txBody>
      </p:sp>
      <p:sp>
        <p:nvSpPr>
          <p:cNvPr id="18" name="LoRA formula label">
            <a:extLst xmlns:a="http://schemas.openxmlformats.org/drawingml/2006/main">
              <a:ext uri="{FF2B5EF4-FFF2-40B4-BE49-F238E27FC236}">
                <a16:creationId xmlns:a16="http://schemas.microsoft.com/office/drawing/2014/main" id="{A2649C7E-9E00-40A7-993F-38F0C9432546}"/>
              </a:ext>
            </a:extLst>
          </p:cNvPr>
          <p:cNvSpPr>
            <a:spLocks xmlns:a="http://schemas.openxmlformats.org/drawingml/2006/main" noGrp="1"/>
          </p:cNvSpPr>
          <p:nvPr/>
        </p:nvSpPr>
        <p:spPr>
          <a:xfrm xmlns:a="http://schemas.openxmlformats.org/drawingml/2006/main">
            <a:off x="1066800" y="320992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a:bodyPr>
          <a:lstStyle xmlns:a="http://schemas.openxmlformats.org/drawingml/2006/main"/>
          <a:p xmlns:a="http://schemas.openxmlformats.org/drawingml/2006/main">
            <a:pPr algn="l">
              <a:buNone/>
              <a:defRPr sz="1300" b="1">
                <a:solidFill>
                  <a:srgbClr val="0066CC"/>
                </a:solidFill>
                <a:latin typeface="Segoe UI Semibold"/>
                <a:ea typeface="Segoe UI Semibold"/>
                <a:cs typeface="Segoe UI Semibold"/>
              </a:defRPr>
            </a:pPr>
            <a:r>
              <a:rPr sz="1300" b="1">
                <a:solidFill>
                  <a:srgbClr val="0066CC"/>
                </a:solidFill>
                <a:latin typeface="Segoe UI Semibold"/>
                <a:ea typeface="Segoe UI Semibold"/>
                <a:cs typeface="Segoe UI Semibold"/>
              </a:rPr>
              <a:t>LoRA update</a:t>
            </a:r>
          </a:p>
        </p:txBody>
      </p:sp>
      <p:sp>
        <p:nvSpPr>
          <p:cNvPr id="19" name="LoRA formula">
            <a:extLst xmlns:a="http://schemas.openxmlformats.org/drawingml/2006/main">
              <a:ext uri="{FF2B5EF4-FFF2-40B4-BE49-F238E27FC236}">
                <a16:creationId xmlns:a16="http://schemas.microsoft.com/office/drawing/2014/main" id="{989D2D29-93B5-4AEA-A42C-F5C9392B34E2}"/>
              </a:ext>
            </a:extLst>
          </p:cNvPr>
          <p:cNvSpPr>
            <a:spLocks xmlns:a="http://schemas.openxmlformats.org/drawingml/2006/main" noGrp="1"/>
          </p:cNvSpPr>
          <p:nvPr/>
        </p:nvSpPr>
        <p:spPr>
          <a:xfrm xmlns:a="http://schemas.openxmlformats.org/drawingml/2006/main">
            <a:off x="1028700" y="3486150"/>
            <a:ext cx="30289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a:bodyPr>
          <a:lstStyle xmlns:a="http://schemas.openxmlformats.org/drawingml/2006/main"/>
          <a:p xmlns:a="http://schemas.openxmlformats.org/drawingml/2006/main">
            <a:pPr algn="ctr">
              <a:buNone/>
              <a:defRPr sz="2300" b="1">
                <a:solidFill>
                  <a:srgbClr val="1D1D1F"/>
                </a:solidFill>
                <a:latin typeface="Cambria Math"/>
                <a:ea typeface="Cambria Math"/>
                <a:cs typeface="Cambria Math"/>
              </a:defRPr>
            </a:pPr>
            <a:r>
              <a:rPr sz="2300" b="1">
                <a:solidFill>
                  <a:srgbClr val="1D1D1F"/>
                </a:solidFill>
                <a:latin typeface="Cambria Math"/>
                <a:ea typeface="Cambria Math"/>
                <a:cs typeface="Cambria Math"/>
              </a:rPr>
              <a:t>W′ = W₀ + (α / r)BA</a:t>
            </a:r>
          </a:p>
        </p:txBody>
      </p:sp>
      <p:sp>
        <p:nvSpPr>
          <p:cNvPr id="20" name="LoRA formula definitions">
            <a:extLst xmlns:a="http://schemas.openxmlformats.org/drawingml/2006/main">
              <a:ext uri="{FF2B5EF4-FFF2-40B4-BE49-F238E27FC236}">
                <a16:creationId xmlns:a16="http://schemas.microsoft.com/office/drawing/2014/main" id="{A39ED10E-69CD-4CE0-9C1A-C9EBF344D257}"/>
              </a:ext>
            </a:extLst>
          </p:cNvPr>
          <p:cNvSpPr>
            <a:spLocks xmlns:a="http://schemas.openxmlformats.org/drawingml/2006/main" noGrp="1"/>
          </p:cNvSpPr>
          <p:nvPr/>
        </p:nvSpPr>
        <p:spPr>
          <a:xfrm xmlns:a="http://schemas.openxmlformats.org/drawingml/2006/main">
            <a:off x="1066800" y="4048125"/>
            <a:ext cx="2952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50" b="0">
                <a:solidFill>
                  <a:srgbClr val="5D5D62"/>
                </a:solidFill>
                <a:latin typeface="Segoe UI Light"/>
                <a:ea typeface="Segoe UI Light"/>
                <a:cs typeface="Segoe UI Light"/>
              </a:defRPr>
            </a:pPr>
            <a:r>
              <a:rPr sz="1250" b="0">
                <a:solidFill>
                  <a:srgbClr val="5D5D62"/>
                </a:solidFill>
                <a:latin typeface="Segoe UI Light"/>
                <a:ea typeface="Segoe UI Light"/>
                <a:cs typeface="Segoe UI Light"/>
              </a:rPr>
              <a:t>W₀ = pretrained wav2vec2 weight, frozen</a:t>
            </a:r>
          </a:p>
          <a:p xmlns:a="http://schemas.openxmlformats.org/drawingml/2006/main">
            <a:pPr algn="l">
              <a:buNone/>
              <a:defRPr sz="1250" b="0">
                <a:solidFill>
                  <a:srgbClr val="5D5D62"/>
                </a:solidFill>
                <a:latin typeface="Segoe UI Light"/>
                <a:ea typeface="Segoe UI Light"/>
                <a:cs typeface="Segoe UI Light"/>
              </a:defRPr>
            </a:pPr>
            <a:r>
              <a:rPr sz="1250" b="0">
                <a:solidFill>
                  <a:srgbClr val="5D5D62"/>
                </a:solidFill>
                <a:latin typeface="Segoe UI Light"/>
                <a:ea typeface="Segoe UI Light"/>
                <a:cs typeface="Segoe UI Light"/>
              </a:rPr>
              <a:t>A, B = LoRA adapter matrices trained on</a:t>
            </a:r>
          </a:p>
          <a:p xmlns:a="http://schemas.openxmlformats.org/drawingml/2006/main">
            <a:pPr algn="l">
              <a:buNone/>
              <a:defRPr sz="1250" b="0">
                <a:solidFill>
                  <a:srgbClr val="5D5D62"/>
                </a:solidFill>
                <a:latin typeface="Segoe UI Light"/>
                <a:ea typeface="Segoe UI Light"/>
                <a:cs typeface="Segoe UI Light"/>
              </a:defRPr>
            </a:pPr>
            <a:r>
              <a:rPr sz="1250" b="0">
                <a:solidFill>
                  <a:srgbClr val="5D5D62"/>
                </a:solidFill>
                <a:latin typeface="Segoe UI Light"/>
                <a:ea typeface="Segoe UI Light"/>
                <a:cs typeface="Segoe UI Light"/>
              </a:rPr>
              <a:t>ASVspoof labels</a:t>
            </a:r>
          </a:p>
          <a:p xmlns:a="http://schemas.openxmlformats.org/drawingml/2006/main">
            <a:pPr algn="l">
              <a:buNone/>
              <a:defRPr sz="1250" b="0">
                <a:solidFill>
                  <a:srgbClr val="5D5D62"/>
                </a:solidFill>
                <a:latin typeface="Segoe UI Light"/>
                <a:ea typeface="Segoe UI Light"/>
                <a:cs typeface="Segoe UI Light"/>
              </a:defRPr>
            </a:pPr>
            <a:r>
              <a:rPr sz="1250" b="0">
                <a:solidFill>
                  <a:srgbClr val="5D5D62"/>
                </a:solidFill>
                <a:latin typeface="Segoe UI Light"/>
                <a:ea typeface="Segoe UI Light"/>
                <a:cs typeface="Segoe UI Light"/>
              </a:rPr>
              <a:t>r = 8     ·     α = 16</a:t>
            </a:r>
          </a:p>
        </p:txBody>
      </p:sp>
      <p:graphicFrame>
        <p:nvGraphicFramePr>
          <p:cNvPr id="43" name="Table 42"/>
          <p:cNvGraphicFramePr/>
          <p:nvPr/>
        </p:nvGraphicFramePr>
        <p:xfrm>
          <a:off xmlns:a="http://schemas.openxmlformats.org/drawingml/2006/main" x="4457700" y="3086100"/>
          <a:ext xmlns:a="http://schemas.openxmlformats.org/drawingml/2006/main" cx="6838950" cy="2225040"/>
        </p:xfrm>
        <a:graphic xmlns:a="http://schemas.openxmlformats.org/drawingml/2006/main">
          <a:graphicData uri="http://schemas.openxmlformats.org/drawingml/2006/table">
            <a:tbl>
              <a:tblPr firstRow="1"/>
              <a:tblGrid>
                <a:gridCol w="3476625"/>
                <a:gridCol w="1114425"/>
                <a:gridCol w="1114425"/>
                <a:gridCol w="1133475"/>
              </a:tblGrid>
              <a:tr h="285750">
                <a:tc>
                  <a:txBody>
                    <a:bodyPr/>
                    <a:lstStyle/>
                    <a:p>
                      <a:pPr algn="l">
                        <a:buNone/>
                      </a:pPr>
                      <a:r>
                        <a:rPr sz="1200" b="1">
                          <a:solidFill>
                            <a:srgbClr val="FFFFFF"/>
                          </a:solidFill>
                          <a:latin typeface="Segoe UI Semibold"/>
                          <a:ea typeface="Segoe UI Semibold"/>
                          <a:cs typeface="Segoe UI Semibold"/>
                        </a:rPr>
                        <a:t>Component</a:t>
                      </a:r>
                    </a:p>
                  </a:txBody>
                  <a:tcPr marL="91440" marR="91440" marT="45720" marB="45720">
                    <a:solidFill>
                      <a:srgbClr val="0066CC"/>
                    </a:solidFill>
                  </a:tcPr>
                </a:tc>
                <a:tc>
                  <a:txBody>
                    <a:bodyPr/>
                    <a:lstStyle/>
                    <a:p>
                      <a:pPr algn="ctr">
                        <a:buNone/>
                      </a:pPr>
                      <a:r>
                        <a:rPr sz="1200" b="1">
                          <a:solidFill>
                            <a:srgbClr val="FFFFFF"/>
                          </a:solidFill>
                          <a:latin typeface="Segoe UI Semibold"/>
                          <a:ea typeface="Segoe UI Semibold"/>
                          <a:cs typeface="Segoe UI Semibold"/>
                        </a:rPr>
                        <a:t>Probe</a:t>
                      </a:r>
                    </a:p>
                  </a:txBody>
                  <a:tcPr marL="91440" marR="91440" marT="45720" marB="45720">
                    <a:solidFill>
                      <a:srgbClr val="0066CC"/>
                    </a:solidFill>
                  </a:tcPr>
                </a:tc>
                <a:tc>
                  <a:txBody>
                    <a:bodyPr/>
                    <a:lstStyle/>
                    <a:p>
                      <a:pPr algn="ctr">
                        <a:buNone/>
                      </a:pPr>
                      <a:r>
                        <a:rPr sz="1200" b="1">
                          <a:solidFill>
                            <a:srgbClr val="FFFFFF"/>
                          </a:solidFill>
                          <a:latin typeface="Segoe UI Semibold"/>
                          <a:ea typeface="Segoe UI Semibold"/>
                          <a:cs typeface="Segoe UI Semibold"/>
                        </a:rPr>
                        <a:t>LoRA</a:t>
                      </a:r>
                    </a:p>
                  </a:txBody>
                  <a:tcPr marL="91440" marR="91440" marT="45720" marB="45720">
                    <a:solidFill>
                      <a:srgbClr val="0066CC"/>
                    </a:solidFill>
                  </a:tcPr>
                </a:tc>
                <a:tc>
                  <a:txBody>
                    <a:bodyPr/>
                    <a:lstStyle/>
                    <a:p>
                      <a:pPr algn="ctr">
                        <a:buNone/>
                      </a:pPr>
                      <a:r>
                        <a:rPr sz="1200" b="1">
                          <a:solidFill>
                            <a:srgbClr val="FFFFFF"/>
                          </a:solidFill>
                          <a:latin typeface="Segoe UI Semibold"/>
                          <a:ea typeface="Segoe UI Semibold"/>
                          <a:cs typeface="Segoe UI Semibold"/>
                        </a:rPr>
                        <a:t>DoRA</a:t>
                      </a:r>
                    </a:p>
                  </a:txBody>
                  <a:tcPr marL="91440" marR="91440" marT="45720" marB="45720">
                    <a:solidFill>
                      <a:srgbClr val="0066CC"/>
                    </a:solidFill>
                  </a:tcPr>
                </a:tc>
              </a:tr>
              <a:tr h="304800">
                <a:tc>
                  <a:txBody>
                    <a:bodyPr/>
                    <a:lstStyle/>
                    <a:p>
                      <a:pPr algn="l">
                        <a:buNone/>
                      </a:pPr>
                      <a:r>
                        <a:rPr sz="1200" b="1">
                          <a:solidFill>
                            <a:srgbClr val="4A4A4E"/>
                          </a:solidFill>
                          <a:latin typeface="Segoe UI Light"/>
                          <a:ea typeface="Segoe UI Light"/>
                          <a:cs typeface="Segoe UI Light"/>
                        </a:rPr>
                        <a:t>Original wav2vec2 Q/K/V/O</a:t>
                      </a:r>
                    </a:p>
                  </a:txBody>
                  <a:tcPr marL="91440" marR="91440" marT="45720" marB="45720">
                    <a:solidFill>
                      <a:srgbClr val="FFFFFF"/>
                    </a:solidFill>
                  </a:tcPr>
                </a:tc>
                <a:tc>
                  <a:txBody>
                    <a:bodyPr/>
                    <a:lstStyle/>
                    <a:p>
                      <a:pPr algn="ctr">
                        <a:buNone/>
                      </a:pPr>
                      <a:r>
                        <a:rPr sz="1200" b="1">
                          <a:solidFill>
                            <a:srgbClr val="5D5D62"/>
                          </a:solidFill>
                          <a:latin typeface="Segoe UI Semibold"/>
                          <a:ea typeface="Segoe UI Semibold"/>
                          <a:cs typeface="Segoe UI Semibold"/>
                        </a:rPr>
                        <a:t>Frozen</a:t>
                      </a:r>
                    </a:p>
                  </a:txBody>
                  <a:tcPr marL="91440" marR="91440" marT="45720" marB="45720">
                    <a:solidFill>
                      <a:srgbClr val="F2F2F7"/>
                    </a:solidFill>
                  </a:tcPr>
                </a:tc>
                <a:tc>
                  <a:txBody>
                    <a:bodyPr/>
                    <a:lstStyle/>
                    <a:p>
                      <a:pPr algn="ctr">
                        <a:buNone/>
                      </a:pPr>
                      <a:r>
                        <a:rPr sz="1200" b="1">
                          <a:solidFill>
                            <a:srgbClr val="5D5D62"/>
                          </a:solidFill>
                          <a:latin typeface="Segoe UI Semibold"/>
                          <a:ea typeface="Segoe UI Semibold"/>
                          <a:cs typeface="Segoe UI Semibold"/>
                        </a:rPr>
                        <a:t>Frozen</a:t>
                      </a:r>
                    </a:p>
                  </a:txBody>
                  <a:tcPr marL="91440" marR="91440" marT="45720" marB="45720">
                    <a:solidFill>
                      <a:srgbClr val="F2F2F7"/>
                    </a:solidFill>
                  </a:tcPr>
                </a:tc>
                <a:tc>
                  <a:txBody>
                    <a:bodyPr/>
                    <a:lstStyle/>
                    <a:p>
                      <a:pPr algn="ctr">
                        <a:buNone/>
                      </a:pPr>
                      <a:r>
                        <a:rPr sz="1200" b="1">
                          <a:solidFill>
                            <a:srgbClr val="5D5D62"/>
                          </a:solidFill>
                          <a:latin typeface="Segoe UI Semibold"/>
                          <a:ea typeface="Segoe UI Semibold"/>
                          <a:cs typeface="Segoe UI Semibold"/>
                        </a:rPr>
                        <a:t>Frozen</a:t>
                      </a:r>
                    </a:p>
                  </a:txBody>
                  <a:tcPr marL="91440" marR="91440" marT="45720" marB="45720">
                    <a:solidFill>
                      <a:srgbClr val="F2F2F7"/>
                    </a:solidFill>
                  </a:tcPr>
                </a:tc>
              </a:tr>
              <a:tr h="304800">
                <a:tc>
                  <a:txBody>
                    <a:bodyPr/>
                    <a:lstStyle/>
                    <a:p>
                      <a:pPr algn="l">
                        <a:buNone/>
                      </a:pPr>
                      <a:r>
                        <a:rPr sz="1200" b="1">
                          <a:solidFill>
                            <a:srgbClr val="4A4A4E"/>
                          </a:solidFill>
                          <a:latin typeface="Segoe UI Light"/>
                          <a:ea typeface="Segoe UI Light"/>
                          <a:cs typeface="Segoe UI Light"/>
                        </a:rPr>
                        <a:t>LoRA A,B adapters</a:t>
                      </a:r>
                    </a:p>
                  </a:txBody>
                  <a:tcPr marL="91440" marR="91440" marT="45720" marB="45720">
                    <a:solidFill>
                      <a:srgbClr val="FAFAFC"/>
                    </a:solidFill>
                  </a:tcPr>
                </a:tc>
                <a:tc>
                  <a:txBody>
                    <a:bodyPr/>
                    <a:lstStyle/>
                    <a:p>
                      <a:pPr algn="ctr">
                        <a:buNone/>
                      </a:pPr>
                      <a:r>
                        <a:rPr sz="1200" b="0" i="1">
                          <a:solidFill>
                            <a:srgbClr val="8E8E93"/>
                          </a:solidFill>
                          <a:latin typeface="Segoe UI Light"/>
                          <a:ea typeface="Segoe UI Light"/>
                          <a:cs typeface="Segoe UI Light"/>
                        </a:rPr>
                        <a:t>Not used</a:t>
                      </a:r>
                    </a:p>
                  </a:txBody>
                  <a:tcPr marL="91440" marR="91440" marT="45720" marB="45720">
                    <a:solidFill>
                      <a:srgbClr val="FAFAFC"/>
                    </a:solidFill>
                  </a:tcPr>
                </a:tc>
                <a:tc>
                  <a:txBody>
                    <a:bodyPr/>
                    <a:lstStyle/>
                    <a:p>
                      <a:pPr algn="ctr">
                        <a:buNone/>
                      </a:pPr>
                      <a:r>
                        <a:rPr sz="1200" b="1">
                          <a:solidFill>
                            <a:srgbClr val="0066CC"/>
                          </a:solidFill>
                          <a:latin typeface="Segoe UI Semibold"/>
                          <a:ea typeface="Segoe UI Semibold"/>
                          <a:cs typeface="Segoe UI Semibold"/>
                        </a:rPr>
                        <a:t>Trainable</a:t>
                      </a:r>
                    </a:p>
                  </a:txBody>
                  <a:tcPr marL="91440" marR="91440" marT="45720" marB="45720">
                    <a:solidFill>
                      <a:srgbClr val="EAF3FF"/>
                    </a:solidFill>
                  </a:tcPr>
                </a:tc>
                <a:tc>
                  <a:txBody>
                    <a:bodyPr/>
                    <a:lstStyle/>
                    <a:p>
                      <a:pPr algn="ctr">
                        <a:buNone/>
                      </a:pPr>
                      <a:r>
                        <a:rPr sz="1200" b="1">
                          <a:solidFill>
                            <a:srgbClr val="0066CC"/>
                          </a:solidFill>
                          <a:latin typeface="Segoe UI Semibold"/>
                          <a:ea typeface="Segoe UI Semibold"/>
                          <a:cs typeface="Segoe UI Semibold"/>
                        </a:rPr>
                        <a:t>Trainable</a:t>
                      </a:r>
                    </a:p>
                  </a:txBody>
                  <a:tcPr marL="91440" marR="91440" marT="45720" marB="45720">
                    <a:solidFill>
                      <a:srgbClr val="EAF3FF"/>
                    </a:solidFill>
                  </a:tcPr>
                </a:tc>
              </a:tr>
              <a:tr h="304800">
                <a:tc>
                  <a:txBody>
                    <a:bodyPr/>
                    <a:lstStyle/>
                    <a:p>
                      <a:pPr algn="l">
                        <a:buNone/>
                      </a:pPr>
                      <a:r>
                        <a:rPr sz="1200" b="1">
                          <a:solidFill>
                            <a:srgbClr val="4A4A4E"/>
                          </a:solidFill>
                          <a:latin typeface="Segoe UI Light"/>
                          <a:ea typeface="Segoe UI Light"/>
                          <a:cs typeface="Segoe UI Light"/>
                        </a:rPr>
                        <a:t>DoRA magnitudes</a:t>
                      </a:r>
                    </a:p>
                  </a:txBody>
                  <a:tcPr marL="91440" marR="91440" marT="45720" marB="45720">
                    <a:solidFill>
                      <a:srgbClr val="FFFFFF"/>
                    </a:solidFill>
                  </a:tcPr>
                </a:tc>
                <a:tc>
                  <a:txBody>
                    <a:bodyPr/>
                    <a:lstStyle/>
                    <a:p>
                      <a:pPr algn="ctr">
                        <a:buNone/>
                      </a:pPr>
                      <a:r>
                        <a:rPr sz="1200" b="0" i="1">
                          <a:solidFill>
                            <a:srgbClr val="8E8E93"/>
                          </a:solidFill>
                          <a:latin typeface="Segoe UI Light"/>
                          <a:ea typeface="Segoe UI Light"/>
                          <a:cs typeface="Segoe UI Light"/>
                        </a:rPr>
                        <a:t>Not used</a:t>
                      </a:r>
                    </a:p>
                  </a:txBody>
                  <a:tcPr marL="91440" marR="91440" marT="45720" marB="45720">
                    <a:solidFill>
                      <a:srgbClr val="FAFAFC"/>
                    </a:solidFill>
                  </a:tcPr>
                </a:tc>
                <a:tc>
                  <a:txBody>
                    <a:bodyPr/>
                    <a:lstStyle/>
                    <a:p>
                      <a:pPr algn="ctr">
                        <a:buNone/>
                      </a:pPr>
                      <a:r>
                        <a:rPr sz="1200" b="0" i="1">
                          <a:solidFill>
                            <a:srgbClr val="8E8E93"/>
                          </a:solidFill>
                          <a:latin typeface="Segoe UI Light"/>
                          <a:ea typeface="Segoe UI Light"/>
                          <a:cs typeface="Segoe UI Light"/>
                        </a:rPr>
                        <a:t>Not used</a:t>
                      </a:r>
                    </a:p>
                  </a:txBody>
                  <a:tcPr marL="91440" marR="91440" marT="45720" marB="45720">
                    <a:solidFill>
                      <a:srgbClr val="FAFAFC"/>
                    </a:solidFill>
                  </a:tcPr>
                </a:tc>
                <a:tc>
                  <a:txBody>
                    <a:bodyPr/>
                    <a:lstStyle/>
                    <a:p>
                      <a:pPr algn="ctr">
                        <a:buNone/>
                      </a:pPr>
                      <a:r>
                        <a:rPr sz="1200" b="1">
                          <a:solidFill>
                            <a:srgbClr val="0066CC"/>
                          </a:solidFill>
                          <a:latin typeface="Segoe UI Semibold"/>
                          <a:ea typeface="Segoe UI Semibold"/>
                          <a:cs typeface="Segoe UI Semibold"/>
                        </a:rPr>
                        <a:t>Trainable</a:t>
                      </a:r>
                    </a:p>
                  </a:txBody>
                  <a:tcPr marL="91440" marR="91440" marT="45720" marB="45720">
                    <a:solidFill>
                      <a:srgbClr val="EAF3FF"/>
                    </a:solidFill>
                  </a:tcPr>
                </a:tc>
              </a:tr>
              <a:tr h="266700">
                <a:tc>
                  <a:txBody>
                    <a:bodyPr/>
                    <a:lstStyle/>
                    <a:p>
                      <a:pPr algn="l">
                        <a:buNone/>
                      </a:pPr>
                      <a:r>
                        <a:rPr sz="1200" b="1">
                          <a:solidFill>
                            <a:srgbClr val="4A4A4E"/>
                          </a:solidFill>
                          <a:latin typeface="Segoe UI Light"/>
                          <a:ea typeface="Segoe UI Light"/>
                          <a:cs typeface="Segoe UI Light"/>
                        </a:rPr>
                        <a:t>Attentive pooling</a:t>
                      </a:r>
                    </a:p>
                  </a:txBody>
                  <a:tcPr marL="91440" marR="91440" marT="45720" marB="45720">
                    <a:solidFill>
                      <a:srgbClr val="FAFAFC"/>
                    </a:solidFill>
                  </a:tcPr>
                </a:tc>
                <a:tc>
                  <a:txBody>
                    <a:bodyPr/>
                    <a:lstStyle/>
                    <a:p>
                      <a:pPr algn="ctr">
                        <a:buNone/>
                      </a:pPr>
                      <a:r>
                        <a:rPr sz="1200" b="1">
                          <a:solidFill>
                            <a:srgbClr val="0066CC"/>
                          </a:solidFill>
                          <a:latin typeface="Segoe UI Semibold"/>
                          <a:ea typeface="Segoe UI Semibold"/>
                          <a:cs typeface="Segoe UI Semibold"/>
                        </a:rPr>
                        <a:t>Trainable</a:t>
                      </a:r>
                    </a:p>
                  </a:txBody>
                  <a:tcPr marL="91440" marR="91440" marT="45720" marB="45720">
                    <a:solidFill>
                      <a:srgbClr val="EAF3FF"/>
                    </a:solidFill>
                  </a:tcPr>
                </a:tc>
                <a:tc>
                  <a:txBody>
                    <a:bodyPr/>
                    <a:lstStyle/>
                    <a:p>
                      <a:pPr algn="ctr">
                        <a:buNone/>
                      </a:pPr>
                      <a:r>
                        <a:rPr sz="1200" b="1">
                          <a:solidFill>
                            <a:srgbClr val="0066CC"/>
                          </a:solidFill>
                          <a:latin typeface="Segoe UI Semibold"/>
                          <a:ea typeface="Segoe UI Semibold"/>
                          <a:cs typeface="Segoe UI Semibold"/>
                        </a:rPr>
                        <a:t>Trainable</a:t>
                      </a:r>
                    </a:p>
                  </a:txBody>
                  <a:tcPr marL="91440" marR="91440" marT="45720" marB="45720">
                    <a:solidFill>
                      <a:srgbClr val="EAF3FF"/>
                    </a:solidFill>
                  </a:tcPr>
                </a:tc>
                <a:tc>
                  <a:txBody>
                    <a:bodyPr/>
                    <a:lstStyle/>
                    <a:p>
                      <a:pPr algn="ctr">
                        <a:buNone/>
                      </a:pPr>
                      <a:r>
                        <a:rPr sz="1200" b="1">
                          <a:solidFill>
                            <a:srgbClr val="0066CC"/>
                          </a:solidFill>
                          <a:latin typeface="Segoe UI Semibold"/>
                          <a:ea typeface="Segoe UI Semibold"/>
                          <a:cs typeface="Segoe UI Semibold"/>
                        </a:rPr>
                        <a:t>Trainable</a:t>
                      </a:r>
                    </a:p>
                  </a:txBody>
                  <a:tcPr marL="91440" marR="91440" marT="45720" marB="45720">
                    <a:solidFill>
                      <a:srgbClr val="EAF3FF"/>
                    </a:solidFill>
                  </a:tcPr>
                </a:tc>
              </a:tr>
              <a:tr h="266700">
                <a:tc>
                  <a:txBody>
                    <a:bodyPr/>
                    <a:lstStyle/>
                    <a:p>
                      <a:pPr algn="l">
                        <a:buNone/>
                      </a:pPr>
                      <a:r>
                        <a:rPr sz="1200" b="1">
                          <a:solidFill>
                            <a:srgbClr val="4A4A4E"/>
                          </a:solidFill>
                          <a:latin typeface="Segoe UI Light"/>
                          <a:ea typeface="Segoe UI Light"/>
                          <a:cs typeface="Segoe UI Light"/>
                        </a:rPr>
                        <a:t>Linear head</a:t>
                      </a:r>
                    </a:p>
                  </a:txBody>
                  <a:tcPr marL="91440" marR="91440" marT="45720" marB="45720">
                    <a:solidFill>
                      <a:srgbClr val="FFFFFF"/>
                    </a:solidFill>
                  </a:tcPr>
                </a:tc>
                <a:tc>
                  <a:txBody>
                    <a:bodyPr/>
                    <a:lstStyle/>
                    <a:p>
                      <a:pPr algn="ctr">
                        <a:buNone/>
                      </a:pPr>
                      <a:r>
                        <a:rPr sz="1200" b="1">
                          <a:solidFill>
                            <a:srgbClr val="0066CC"/>
                          </a:solidFill>
                          <a:latin typeface="Segoe UI Semibold"/>
                          <a:ea typeface="Segoe UI Semibold"/>
                          <a:cs typeface="Segoe UI Semibold"/>
                        </a:rPr>
                        <a:t>Trainable</a:t>
                      </a:r>
                    </a:p>
                  </a:txBody>
                  <a:tcPr marL="91440" marR="91440" marT="45720" marB="45720">
                    <a:solidFill>
                      <a:srgbClr val="EAF3FF"/>
                    </a:solidFill>
                  </a:tcPr>
                </a:tc>
                <a:tc>
                  <a:txBody>
                    <a:bodyPr/>
                    <a:lstStyle/>
                    <a:p>
                      <a:pPr algn="ctr">
                        <a:buNone/>
                      </a:pPr>
                      <a:r>
                        <a:rPr sz="1200" b="1">
                          <a:solidFill>
                            <a:srgbClr val="0066CC"/>
                          </a:solidFill>
                          <a:latin typeface="Segoe UI Semibold"/>
                          <a:ea typeface="Segoe UI Semibold"/>
                          <a:cs typeface="Segoe UI Semibold"/>
                        </a:rPr>
                        <a:t>Trainable</a:t>
                      </a:r>
                    </a:p>
                  </a:txBody>
                  <a:tcPr marL="91440" marR="91440" marT="45720" marB="45720">
                    <a:solidFill>
                      <a:srgbClr val="EAF3FF"/>
                    </a:solidFill>
                  </a:tcPr>
                </a:tc>
                <a:tc>
                  <a:txBody>
                    <a:bodyPr/>
                    <a:lstStyle/>
                    <a:p>
                      <a:pPr algn="ctr">
                        <a:buNone/>
                      </a:pPr>
                      <a:r>
                        <a:rPr sz="1200" b="1">
                          <a:solidFill>
                            <a:srgbClr val="0066CC"/>
                          </a:solidFill>
                          <a:latin typeface="Segoe UI Semibold"/>
                          <a:ea typeface="Segoe UI Semibold"/>
                          <a:cs typeface="Segoe UI Semibold"/>
                        </a:rPr>
                        <a:t>Trainable</a:t>
                      </a:r>
                    </a:p>
                  </a:txBody>
                  <a:tcPr marL="91440" marR="91440" marT="45720" marB="45720">
                    <a:solidFill>
                      <a:srgbClr val="EAF3FF"/>
                    </a:solidFill>
                  </a:tcPr>
                </a:tc>
              </a:tr>
              <a:tr h="476250">
                <a:tc>
                  <a:txBody>
                    <a:bodyPr/>
                    <a:lstStyle/>
                    <a:p>
                      <a:pPr algn="l">
                        <a:buNone/>
                      </a:pPr>
                      <a:r>
                        <a:rPr sz="1200" b="1">
                          <a:solidFill>
                            <a:srgbClr val="4A4A4E"/>
                          </a:solidFill>
                          <a:latin typeface="Segoe UI Light"/>
                          <a:ea typeface="Segoe UI Light"/>
                          <a:cs typeface="Segoe UI Light"/>
                        </a:rPr>
                        <a:t>Original wav2vec2 CNN / Transformer / FFN / norms</a:t>
                      </a:r>
                    </a:p>
                  </a:txBody>
                  <a:tcPr marL="91440" marR="91440" marT="45720" marB="45720">
                    <a:solidFill>
                      <a:srgbClr val="FAFAFC"/>
                    </a:solidFill>
                  </a:tcPr>
                </a:tc>
                <a:tc>
                  <a:txBody>
                    <a:bodyPr/>
                    <a:lstStyle/>
                    <a:p>
                      <a:pPr algn="ctr">
                        <a:buNone/>
                      </a:pPr>
                      <a:r>
                        <a:rPr sz="1200" b="1">
                          <a:solidFill>
                            <a:srgbClr val="5D5D62"/>
                          </a:solidFill>
                          <a:latin typeface="Segoe UI Semibold"/>
                          <a:ea typeface="Segoe UI Semibold"/>
                          <a:cs typeface="Segoe UI Semibold"/>
                        </a:rPr>
                        <a:t>Frozen</a:t>
                      </a:r>
                    </a:p>
                  </a:txBody>
                  <a:tcPr marL="91440" marR="91440" marT="45720" marB="45720">
                    <a:solidFill>
                      <a:srgbClr val="F2F2F7"/>
                    </a:solidFill>
                  </a:tcPr>
                </a:tc>
                <a:tc>
                  <a:txBody>
                    <a:bodyPr/>
                    <a:lstStyle/>
                    <a:p>
                      <a:pPr algn="ctr">
                        <a:buNone/>
                      </a:pPr>
                      <a:r>
                        <a:rPr sz="1200" b="1">
                          <a:solidFill>
                            <a:srgbClr val="5D5D62"/>
                          </a:solidFill>
                          <a:latin typeface="Segoe UI Semibold"/>
                          <a:ea typeface="Segoe UI Semibold"/>
                          <a:cs typeface="Segoe UI Semibold"/>
                        </a:rPr>
                        <a:t>Frozen</a:t>
                      </a:r>
                    </a:p>
                  </a:txBody>
                  <a:tcPr marL="91440" marR="91440" marT="45720" marB="45720">
                    <a:solidFill>
                      <a:srgbClr val="F2F2F7"/>
                    </a:solidFill>
                  </a:tcPr>
                </a:tc>
                <a:tc>
                  <a:txBody>
                    <a:bodyPr/>
                    <a:lstStyle/>
                    <a:p>
                      <a:pPr algn="ctr">
                        <a:buNone/>
                      </a:pPr>
                      <a:r>
                        <a:rPr sz="1200" b="1">
                          <a:solidFill>
                            <a:srgbClr val="5D5D62"/>
                          </a:solidFill>
                          <a:latin typeface="Segoe UI Semibold"/>
                          <a:ea typeface="Segoe UI Semibold"/>
                          <a:cs typeface="Segoe UI Semibold"/>
                        </a:rPr>
                        <a:t>Frozen</a:t>
                      </a:r>
                    </a:p>
                  </a:txBody>
                  <a:tcPr marL="91440" marR="91440" marT="45720" marB="45720">
                    <a:solidFill>
                      <a:srgbClr val="F2F2F7"/>
                    </a:solidFill>
                  </a:tcPr>
                </a:tc>
              </a:tr>
            </a:tbl>
          </a:graphicData>
        </a:graphic>
      </p:graphicFrame>
      <p:sp>
        <p:nvSpPr>
          <p:cNvPr id="22" name="ASVspoof origin clarification">
            <a:extLst xmlns:a="http://schemas.openxmlformats.org/drawingml/2006/main">
              <a:ext uri="{FF2B5EF4-FFF2-40B4-BE49-F238E27FC236}">
                <a16:creationId xmlns:a16="http://schemas.microsoft.com/office/drawing/2014/main" id="{0DD186EA-7957-4BBD-ACB2-891787AAFA5F}"/>
              </a:ext>
            </a:extLst>
          </p:cNvPr>
          <p:cNvSpPr>
            <a:spLocks xmlns:a="http://schemas.openxmlformats.org/drawingml/2006/main" noGrp="1"/>
          </p:cNvSpPr>
          <p:nvPr/>
        </p:nvSpPr>
        <p:spPr>
          <a:xfrm xmlns:a="http://schemas.openxmlformats.org/drawingml/2006/main">
            <a:off x="876300" y="5448300"/>
            <a:ext cx="10420350" cy="742950"/>
          </a:xfrm>
          <a:prstGeom xmlns:a="http://schemas.openxmlformats.org/drawingml/2006/main" prst="roundRect">
            <a:avLst>
              <a:gd name="adj" fmla="val 10256"/>
            </a:avLst>
          </a:prstGeom>
          <a:solidFill xmlns:a="http://schemas.openxmlformats.org/drawingml/2006/main">
            <a:srgbClr val="F2F6FC"/>
          </a:solidFill>
          <a:ln xmlns:a="http://schemas.openxmlformats.org/drawingml/2006/main" w="10478">
            <a:solidFill>
              <a:srgbClr val="C7DDF7"/>
            </a:solidFill>
            <a:prstDash val="solid"/>
          </a:ln>
        </p:spPr>
        <p:txBody>
          <a:bodyPr xmlns:a="http://schemas.openxmlformats.org/drawingml/2006/main" wrap="square" lIns="190500" tIns="66675" rIns="152400" bIns="66675" anchor="ctr">
            <a:normAutofit/>
          </a:bodyPr>
          <a:lstStyle xmlns:a="http://schemas.openxmlformats.org/drawingml/2006/main"/>
          <a:p xmlns:a="http://schemas.openxmlformats.org/drawingml/2006/main">
            <a:pPr algn="l">
              <a:buNone/>
              <a:defRPr sz="1300" b="1">
                <a:solidFill>
                  <a:srgbClr val="1D1D1F"/>
                </a:solidFill>
                <a:latin typeface="Segoe UI Semibold"/>
                <a:ea typeface="Segoe UI Semibold"/>
                <a:cs typeface="Segoe UI Semibold"/>
              </a:defRPr>
            </a:pPr>
            <a:r>
              <a:rPr sz="1300" b="1">
                <a:solidFill>
                  <a:srgbClr val="1D1D1F"/>
                </a:solidFill>
                <a:latin typeface="Segoe UI Semibold"/>
                <a:ea typeface="Segoe UI Semibold"/>
                <a:cs typeface="Segoe UI Semibold"/>
              </a:rPr>
              <a:t>“ASVspoof 2019 is not the source of Q/K/V. Q/K/V are pretrained wav2vec2 Transformer weights.</a:t>
            </a:r>
          </a:p>
          <a:p xmlns:a="http://schemas.openxmlformats.org/drawingml/2006/main">
            <a:pPr algn="l">
              <a:buNone/>
              <a:defRPr sz="1300" b="1">
                <a:solidFill>
                  <a:srgbClr val="1D1D1F"/>
                </a:solidFill>
                <a:latin typeface="Segoe UI Semibold"/>
                <a:ea typeface="Segoe UI Semibold"/>
                <a:cs typeface="Segoe UI Semibold"/>
              </a:defRPr>
            </a:pPr>
            <a:r>
              <a:rPr sz="1300" b="1">
                <a:solidFill>
                  <a:srgbClr val="1D1D1F"/>
                </a:solidFill>
                <a:latin typeface="Segoe UI Semibold"/>
                <a:ea typeface="Segoe UI Semibold"/>
                <a:cs typeface="Segoe UI Semibold"/>
              </a:rPr>
              <a:t>ASVspoof 2019 provides supervised bona-fide/spoof labels for downstream training.”</a:t>
            </a:r>
          </a:p>
        </p:txBody>
      </p:sp>
    </p:spTree>
    <p:extLst>
      <p:ext uri="{BB962C8B-B14F-4D97-AF65-F5344CB8AC3E}">
        <p14:creationId xmlns:p14="http://schemas.microsoft.com/office/powerpoint/2010/main" val="163768339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D08198F-8681-4532-85B0-DB71033BDA67}"/>
              </a:ext>
            </a:extLst>
          </p:cNvPr>
          <p:cNvSpPr>
            <a:spLocks xmlns:a="http://schemas.openxmlformats.org/drawingml/2006/main" noGrp="1"/>
          </p:cNvSpPr>
          <p:nvPr/>
        </p:nvSpPr>
        <p:spPr>
          <a:xfrm xmlns:a="http://schemas.openxmlformats.org/drawingml/2006/main">
            <a:off x="841248" y="603504"/>
            <a:ext cx="457200" cy="45720"/>
          </a:xfrm>
          <a:prstGeom xmlns:a="http://schemas.openxmlformats.org/drawingml/2006/main" prst="rect">
            <a:avLst/>
          </a:prstGeom>
          <a:solidFill xmlns:a="http://schemas.openxmlformats.org/drawingml/2006/main">
            <a:srgbClr val="0066C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B2271EA7-4847-43DB-BADB-0DC5A4DB76E9}"/>
              </a:ext>
            </a:extLst>
          </p:cNvPr>
          <p:cNvSpPr>
            <a:spLocks xmlns:a="http://schemas.openxmlformats.org/drawingml/2006/main" noGrp="1"/>
          </p:cNvSpPr>
          <p:nvPr/>
        </p:nvSpPr>
        <p:spPr>
          <a:xfrm xmlns:a="http://schemas.openxmlformats.org/drawingml/2006/main">
            <a:off x="822960" y="749808"/>
            <a:ext cx="10515600" cy="155448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spcAft>
                <a:spcPts val="500"/>
              </a:spcAft>
              <a:buNone/>
            </a:pPr>
            <a:r>
              <a:rPr sz="1300" b="1">
                <a:solidFill>
                  <a:srgbClr val="0066CC"/>
                </a:solidFill>
                <a:latin typeface="Segoe UI Semibold"/>
                <a:ea typeface="Segoe UI Semibold"/>
                <a:cs typeface="Segoe UI Semibold"/>
              </a:rPr>
              <a:t>BACKUP</a:t>
            </a:r>
          </a:p>
          <a:p xmlns:a="http://schemas.openxmlformats.org/drawingml/2006/main">
            <a:pPr algn="l">
              <a:spcAft>
                <a:spcPts val="1000"/>
              </a:spcAft>
              <a:buNone/>
            </a:pPr>
            <a:r>
              <a:rPr sz="3300" b="1">
                <a:solidFill>
                  <a:srgbClr val="1D1D1F"/>
                </a:solidFill>
                <a:latin typeface="Segoe UI Semibold"/>
                <a:ea typeface="Segoe UI Semibold"/>
                <a:cs typeface="Segoe UI Semibold"/>
              </a:rPr>
              <a:t>Training and optimization</a:t>
            </a:r>
          </a:p>
        </p:txBody>
      </p:sp>
      <p:sp>
        <p:nvSpPr>
          <p:cNvPr id="4" name="TextBox 3">
            <a:extLst xmlns:a="http://schemas.openxmlformats.org/drawingml/2006/main">
              <a:ext uri="{FF2B5EF4-FFF2-40B4-BE49-F238E27FC236}">
                <a16:creationId xmlns:a16="http://schemas.microsoft.com/office/drawing/2014/main" id="{D87D673C-0A96-49AA-A9DF-D7282EC45D15}"/>
              </a:ext>
            </a:extLst>
          </p:cNvPr>
          <p:cNvSpPr>
            <a:spLocks xmlns:a="http://schemas.openxmlformats.org/drawingml/2006/main" noGrp="1"/>
          </p:cNvSpPr>
          <p:nvPr/>
        </p:nvSpPr>
        <p:spPr>
          <a:xfrm xmlns:a="http://schemas.openxmlformats.org/drawingml/2006/main">
            <a:off x="822960" y="6419088"/>
            <a:ext cx="731520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spcAft>
                <a:spcPts val="1000"/>
              </a:spcAft>
              <a:buNone/>
            </a:pPr>
            <a:r>
              <a:rPr sz="1000" b="0">
                <a:solidFill>
                  <a:srgbClr val="A1A1A6"/>
                </a:solidFill>
                <a:latin typeface="Segoe UI Light"/>
                <a:ea typeface="Segoe UI Light"/>
                <a:cs typeface="Segoe UI Light"/>
              </a:rPr>
              <a:t>Fake It Till You Make It  ·  00460217 Deep Learning</a:t>
            </a:r>
          </a:p>
        </p:txBody>
      </p:sp>
      <p:sp>
        <p:nvSpPr>
          <p:cNvPr id="5" name="TextBox 4">
            <a:extLst xmlns:a="http://schemas.openxmlformats.org/drawingml/2006/main">
              <a:ext uri="{FF2B5EF4-FFF2-40B4-BE49-F238E27FC236}">
                <a16:creationId xmlns:a16="http://schemas.microsoft.com/office/drawing/2014/main" id="{0D5C91BD-90B5-4400-9256-1DB78B604363}"/>
              </a:ext>
            </a:extLst>
          </p:cNvPr>
          <p:cNvSpPr>
            <a:spLocks xmlns:a="http://schemas.openxmlformats.org/drawingml/2006/main" noGrp="1"/>
          </p:cNvSpPr>
          <p:nvPr/>
        </p:nvSpPr>
        <p:spPr>
          <a:xfrm xmlns:a="http://schemas.openxmlformats.org/drawingml/2006/main">
            <a:off x="10607040" y="6419088"/>
            <a:ext cx="82296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spcAft>
                <a:spcPts val="1000"/>
              </a:spcAft>
              <a:buNone/>
            </a:pPr>
            <a:r>
              <a:rPr sz="1000" b="0">
                <a:solidFill>
                  <a:srgbClr val="A1A1A6"/>
                </a:solidFill>
                <a:latin typeface="Segoe UI Light"/>
                <a:ea typeface="Segoe UI Light"/>
                <a:cs typeface="Segoe UI Light"/>
              </a:rPr>
              <a:t>B7</a:t>
            </a:r>
          </a:p>
        </p:txBody>
      </p:sp>
      <p:graphicFrame>
        <p:nvGraphicFramePr>
          <p:cNvPr id="18" name="Table 16"/>
          <p:cNvGraphicFramePr/>
          <p:nvPr/>
        </p:nvGraphicFramePr>
        <p:xfrm>
          <a:off xmlns:a="http://schemas.openxmlformats.org/drawingml/2006/main" x="876300" y="2209800"/>
          <a:ext xmlns:a="http://schemas.openxmlformats.org/drawingml/2006/main" cx="5619750" cy="3333750"/>
        </p:xfrm>
        <a:graphic xmlns:a="http://schemas.openxmlformats.org/drawingml/2006/main">
          <a:graphicData uri="http://schemas.openxmlformats.org/drawingml/2006/table">
            <a:tbl>
              <a:tblPr firstRow="1"/>
              <a:tblGrid>
                <a:gridCol w="2524125"/>
                <a:gridCol w="3095625"/>
              </a:tblGrid>
              <a:tr h="323850">
                <a:tc>
                  <a:txBody>
                    <a:bodyPr/>
                    <a:lstStyle/>
                    <a:p>
                      <a:pPr algn="l">
                        <a:buNone/>
                      </a:pPr>
                      <a:r>
                        <a:rPr sz="1275" b="1">
                          <a:solidFill>
                            <a:srgbClr val="FFFFFF"/>
                          </a:solidFill>
                          <a:latin typeface="Segoe UI Semibold"/>
                          <a:ea typeface="Segoe UI Semibold"/>
                          <a:cs typeface="Segoe UI Semibold"/>
                        </a:rPr>
                        <a:t>Training item</a:t>
                      </a:r>
                    </a:p>
                  </a:txBody>
                  <a:tcPr marL="91440" marR="91440" marT="45720" marB="45720">
                    <a:solidFill>
                      <a:srgbClr val="0066CC"/>
                    </a:solidFill>
                  </a:tcPr>
                </a:tc>
                <a:tc>
                  <a:txBody>
                    <a:bodyPr/>
                    <a:lstStyle/>
                    <a:p>
                      <a:pPr algn="l">
                        <a:buNone/>
                      </a:pPr>
                      <a:r>
                        <a:rPr sz="1275" b="1">
                          <a:solidFill>
                            <a:srgbClr val="FFFFFF"/>
                          </a:solidFill>
                          <a:latin typeface="Segoe UI Semibold"/>
                          <a:ea typeface="Segoe UI Semibold"/>
                          <a:cs typeface="Segoe UI Semibold"/>
                        </a:rPr>
                        <a:t>Verified setting</a:t>
                      </a:r>
                    </a:p>
                  </a:txBody>
                  <a:tcPr marL="91440" marR="91440" marT="45720" marB="45720">
                    <a:solidFill>
                      <a:srgbClr val="0066CC"/>
                    </a:solidFill>
                  </a:tcPr>
                </a:tc>
              </a:tr>
              <a:tr h="438150">
                <a:tc>
                  <a:txBody>
                    <a:bodyPr/>
                    <a:lstStyle/>
                    <a:p>
                      <a:pPr algn="l">
                        <a:buNone/>
                      </a:pPr>
                      <a:r>
                        <a:rPr sz="1215" b="1">
                          <a:solidFill>
                            <a:srgbClr val="4A4A4E"/>
                          </a:solidFill>
                          <a:latin typeface="Segoe UI Light"/>
                          <a:ea typeface="Segoe UI Light"/>
                          <a:cs typeface="Segoe UI Light"/>
                        </a:rPr>
                        <a:t>Optimizer / update</a:t>
                      </a:r>
                    </a:p>
                  </a:txBody>
                  <a:tcPr marL="91440" marR="91440" marT="45720" marB="45720">
                    <a:solidFill>
                      <a:srgbClr val="FFFFFF"/>
                    </a:solidFill>
                  </a:tcPr>
                </a:tc>
                <a:tc>
                  <a:txBody>
                    <a:bodyPr/>
                    <a:lstStyle/>
                    <a:p>
                      <a:pPr algn="l">
                        <a:buNone/>
                      </a:pPr>
                      <a:r>
                        <a:rPr sz="1215" b="0">
                          <a:solidFill>
                            <a:srgbClr val="1D1D1F"/>
                          </a:solidFill>
                          <a:latin typeface="Segoe UI Light"/>
                          <a:ea typeface="Segoe UI Light"/>
                          <a:cs typeface="Segoe UI Light"/>
                        </a:rPr>
                        <a:t>AdamW · mini-batch stochastic gradients</a:t>
                      </a:r>
                    </a:p>
                  </a:txBody>
                  <a:tcPr marL="91440" marR="91440" marT="45720" marB="45720">
                    <a:solidFill>
                      <a:srgbClr val="FFFFFF"/>
                    </a:solidFill>
                  </a:tcPr>
                </a:tc>
              </a:tr>
              <a:tr h="400050">
                <a:tc>
                  <a:txBody>
                    <a:bodyPr/>
                    <a:lstStyle/>
                    <a:p>
                      <a:pPr algn="l">
                        <a:buNone/>
                      </a:pPr>
                      <a:r>
                        <a:rPr sz="1215" b="1">
                          <a:solidFill>
                            <a:srgbClr val="4A4A4E"/>
                          </a:solidFill>
                          <a:latin typeface="Segoe UI Light"/>
                          <a:ea typeface="Segoe UI Light"/>
                          <a:cs typeface="Segoe UI Light"/>
                        </a:rPr>
                        <a:t>Learning rates</a:t>
                      </a:r>
                    </a:p>
                  </a:txBody>
                  <a:tcPr marL="91440" marR="91440" marT="45720" marB="45720">
                    <a:solidFill>
                      <a:srgbClr val="FAFAFC"/>
                    </a:solidFill>
                  </a:tcPr>
                </a:tc>
                <a:tc>
                  <a:txBody>
                    <a:bodyPr/>
                    <a:lstStyle/>
                    <a:p>
                      <a:pPr algn="l">
                        <a:buNone/>
                      </a:pPr>
                      <a:r>
                        <a:rPr sz="1215" b="0">
                          <a:solidFill>
                            <a:srgbClr val="1D1D1F"/>
                          </a:solidFill>
                          <a:latin typeface="Segoe UI Light"/>
                          <a:ea typeface="Segoe UI Light"/>
                          <a:cs typeface="Segoe UI Light"/>
                        </a:rPr>
                        <a:t>LCNN 3e−4 · pool/head 5e−4</a:t>
                      </a:r>
                    </a:p>
                  </a:txBody>
                  <a:tcPr marL="91440" marR="91440" marT="45720" marB="45720">
                    <a:solidFill>
                      <a:srgbClr val="FAFAFC"/>
                    </a:solidFill>
                  </a:tcPr>
                </a:tc>
              </a:tr>
              <a:tr h="361950">
                <a:tc>
                  <a:txBody>
                    <a:bodyPr/>
                    <a:lstStyle/>
                    <a:p>
                      <a:pPr algn="l">
                        <a:buNone/>
                      </a:pPr>
                      <a:r>
                        <a:rPr sz="1215" b="1">
                          <a:solidFill>
                            <a:srgbClr val="4A4A4E"/>
                          </a:solidFill>
                          <a:latin typeface="Segoe UI Light"/>
                          <a:ea typeface="Segoe UI Light"/>
                          <a:cs typeface="Segoe UI Light"/>
                        </a:rPr>
                        <a:t>Adapter learning rate</a:t>
                      </a:r>
                    </a:p>
                  </a:txBody>
                  <a:tcPr marL="91440" marR="91440" marT="45720" marB="45720">
                    <a:solidFill>
                      <a:srgbClr val="FFFFFF"/>
                    </a:solidFill>
                  </a:tcPr>
                </a:tc>
                <a:tc>
                  <a:txBody>
                    <a:bodyPr/>
                    <a:lstStyle/>
                    <a:p>
                      <a:pPr algn="l">
                        <a:buNone/>
                      </a:pPr>
                      <a:r>
                        <a:rPr sz="1215" b="0">
                          <a:solidFill>
                            <a:srgbClr val="1D1D1F"/>
                          </a:solidFill>
                          <a:latin typeface="Segoe UI Light"/>
                          <a:ea typeface="Segoe UI Light"/>
                          <a:cs typeface="Segoe UI Light"/>
                        </a:rPr>
                        <a:t>LoRA / DoRA 1e−4</a:t>
                      </a:r>
                    </a:p>
                  </a:txBody>
                  <a:tcPr marL="91440" marR="91440" marT="45720" marB="45720">
                    <a:solidFill>
                      <a:srgbClr val="FFFFFF"/>
                    </a:solidFill>
                  </a:tcPr>
                </a:tc>
              </a:tr>
              <a:tr h="323850">
                <a:tc>
                  <a:txBody>
                    <a:bodyPr/>
                    <a:lstStyle/>
                    <a:p>
                      <a:pPr algn="l">
                        <a:buNone/>
                      </a:pPr>
                      <a:r>
                        <a:rPr sz="1215" b="1">
                          <a:solidFill>
                            <a:srgbClr val="4A4A4E"/>
                          </a:solidFill>
                          <a:latin typeface="Segoe UI Light"/>
                          <a:ea typeface="Segoe UI Light"/>
                          <a:cs typeface="Segoe UI Light"/>
                        </a:rPr>
                        <a:t>Weight decay</a:t>
                      </a:r>
                    </a:p>
                  </a:txBody>
                  <a:tcPr marL="91440" marR="91440" marT="45720" marB="45720">
                    <a:solidFill>
                      <a:srgbClr val="FAFAFC"/>
                    </a:solidFill>
                  </a:tcPr>
                </a:tc>
                <a:tc>
                  <a:txBody>
                    <a:bodyPr/>
                    <a:lstStyle/>
                    <a:p>
                      <a:pPr algn="l">
                        <a:buNone/>
                      </a:pPr>
                      <a:r>
                        <a:rPr sz="1215" b="0">
                          <a:solidFill>
                            <a:srgbClr val="1D1D1F"/>
                          </a:solidFill>
                          <a:latin typeface="Segoe UI Light"/>
                          <a:ea typeface="Segoe UI Light"/>
                          <a:cs typeface="Segoe UI Light"/>
                        </a:rPr>
                        <a:t>1e−4</a:t>
                      </a:r>
                    </a:p>
                  </a:txBody>
                  <a:tcPr marL="91440" marR="91440" marT="45720" marB="45720">
                    <a:solidFill>
                      <a:srgbClr val="FAFAFC"/>
                    </a:solidFill>
                  </a:tcPr>
                </a:tc>
              </a:tr>
              <a:tr h="428625">
                <a:tc>
                  <a:txBody>
                    <a:bodyPr/>
                    <a:lstStyle/>
                    <a:p>
                      <a:pPr algn="l">
                        <a:buNone/>
                      </a:pPr>
                      <a:r>
                        <a:rPr sz="1215" b="1">
                          <a:solidFill>
                            <a:srgbClr val="4A4A4E"/>
                          </a:solidFill>
                          <a:latin typeface="Segoe UI Light"/>
                          <a:ea typeface="Segoe UI Light"/>
                          <a:cs typeface="Segoe UI Light"/>
                        </a:rPr>
                        <a:t>wav2vec2 batch</a:t>
                      </a:r>
                    </a:p>
                  </a:txBody>
                  <a:tcPr marL="91440" marR="91440" marT="45720" marB="45720">
                    <a:solidFill>
                      <a:srgbClr val="FFFFFF"/>
                    </a:solidFill>
                  </a:tcPr>
                </a:tc>
                <a:tc>
                  <a:txBody>
                    <a:bodyPr/>
                    <a:lstStyle/>
                    <a:p>
                      <a:pPr algn="l">
                        <a:buNone/>
                      </a:pPr>
                      <a:r>
                        <a:rPr sz="1215" b="0">
                          <a:solidFill>
                            <a:srgbClr val="1D1D1F"/>
                          </a:solidFill>
                          <a:latin typeface="Segoe UI Light"/>
                          <a:ea typeface="Segoe UI Light"/>
                          <a:cs typeface="Segoe UI Light"/>
                        </a:rPr>
                        <a:t>16 × accumulation 2 = effective 32</a:t>
                      </a:r>
                    </a:p>
                  </a:txBody>
                  <a:tcPr marL="91440" marR="91440" marT="45720" marB="45720">
                    <a:solidFill>
                      <a:srgbClr val="FFFFFF"/>
                    </a:solidFill>
                  </a:tcPr>
                </a:tc>
              </a:tr>
              <a:tr h="323850">
                <a:tc>
                  <a:txBody>
                    <a:bodyPr/>
                    <a:lstStyle/>
                    <a:p>
                      <a:pPr algn="l">
                        <a:buNone/>
                      </a:pPr>
                      <a:r>
                        <a:rPr sz="1215" b="1">
                          <a:solidFill>
                            <a:srgbClr val="4A4A4E"/>
                          </a:solidFill>
                          <a:latin typeface="Segoe UI Light"/>
                          <a:ea typeface="Segoe UI Light"/>
                          <a:cs typeface="Segoe UI Light"/>
                        </a:rPr>
                        <a:t>Random seed</a:t>
                      </a:r>
                    </a:p>
                  </a:txBody>
                  <a:tcPr marL="91440" marR="91440" marT="45720" marB="45720">
                    <a:solidFill>
                      <a:srgbClr val="FAFAFC"/>
                    </a:solidFill>
                  </a:tcPr>
                </a:tc>
                <a:tc>
                  <a:txBody>
                    <a:bodyPr/>
                    <a:lstStyle/>
                    <a:p>
                      <a:pPr algn="l">
                        <a:buNone/>
                      </a:pPr>
                      <a:r>
                        <a:rPr sz="1215" b="0">
                          <a:solidFill>
                            <a:srgbClr val="1D1D1F"/>
                          </a:solidFill>
                          <a:latin typeface="Segoe UI Light"/>
                          <a:ea typeface="Segoe UI Light"/>
                          <a:cs typeface="Segoe UI Light"/>
                        </a:rPr>
                        <a:t>1234</a:t>
                      </a:r>
                    </a:p>
                  </a:txBody>
                  <a:tcPr marL="91440" marR="91440" marT="45720" marB="45720">
                    <a:solidFill>
                      <a:srgbClr val="FAFAFC"/>
                    </a:solidFill>
                  </a:tcPr>
                </a:tc>
              </a:tr>
              <a:tr h="400050">
                <a:tc>
                  <a:txBody>
                    <a:bodyPr/>
                    <a:lstStyle/>
                    <a:p>
                      <a:pPr algn="l">
                        <a:buNone/>
                      </a:pPr>
                      <a:r>
                        <a:rPr sz="1215" b="1">
                          <a:solidFill>
                            <a:srgbClr val="4A4A4E"/>
                          </a:solidFill>
                          <a:latin typeface="Segoe UI Light"/>
                          <a:ea typeface="Segoe UI Light"/>
                          <a:cs typeface="Segoe UI Light"/>
                        </a:rPr>
                        <a:t>Regularization</a:t>
                      </a:r>
                    </a:p>
                  </a:txBody>
                  <a:tcPr marL="91440" marR="91440" marT="45720" marB="45720">
                    <a:solidFill>
                      <a:srgbClr val="FFFFFF"/>
                    </a:solidFill>
                  </a:tcPr>
                </a:tc>
                <a:tc>
                  <a:txBody>
                    <a:bodyPr/>
                    <a:lstStyle/>
                    <a:p>
                      <a:pPr algn="l">
                        <a:buNone/>
                      </a:pPr>
                      <a:r>
                        <a:rPr sz="1215" b="0">
                          <a:solidFill>
                            <a:srgbClr val="1D1D1F"/>
                          </a:solidFill>
                          <a:latin typeface="Segoe UI Light"/>
                          <a:ea typeface="Segoe UI Light"/>
                          <a:cs typeface="Segoe UI Light"/>
                        </a:rPr>
                        <a:t>Dropout p=0.1 + weight decay</a:t>
                      </a:r>
                    </a:p>
                  </a:txBody>
                  <a:tcPr marL="91440" marR="91440" marT="45720" marB="45720">
                    <a:solidFill>
                      <a:srgbClr val="FFFFFF"/>
                    </a:solidFill>
                  </a:tcPr>
                </a:tc>
              </a:tr>
              <a:tr h="333375">
                <a:tc>
                  <a:txBody>
                    <a:bodyPr/>
                    <a:lstStyle/>
                    <a:p>
                      <a:pPr algn="l">
                        <a:buNone/>
                      </a:pPr>
                      <a:r>
                        <a:rPr sz="1215" b="1">
                          <a:solidFill>
                            <a:srgbClr val="4A4A4E"/>
                          </a:solidFill>
                          <a:latin typeface="Segoe UI Light"/>
                          <a:ea typeface="Segoe UI Light"/>
                          <a:cs typeface="Segoe UI Light"/>
                        </a:rPr>
                        <a:t>Gradient clipping</a:t>
                      </a:r>
                    </a:p>
                  </a:txBody>
                  <a:tcPr marL="91440" marR="91440" marT="45720" marB="45720">
                    <a:solidFill>
                      <a:srgbClr val="FAFAFC"/>
                    </a:solidFill>
                  </a:tcPr>
                </a:tc>
                <a:tc>
                  <a:txBody>
                    <a:bodyPr/>
                    <a:lstStyle/>
                    <a:p>
                      <a:pPr algn="l">
                        <a:buNone/>
                      </a:pPr>
                      <a:r>
                        <a:rPr sz="1215" b="0">
                          <a:solidFill>
                            <a:srgbClr val="1D1D1F"/>
                          </a:solidFill>
                          <a:latin typeface="Segoe UI Light"/>
                          <a:ea typeface="Segoe UI Light"/>
                          <a:cs typeface="Segoe UI Light"/>
                        </a:rPr>
                        <a:t>Norm 1.0, before optimizer step</a:t>
                      </a:r>
                    </a:p>
                  </a:txBody>
                  <a:tcPr marL="91440" marR="91440" marT="45720" marB="45720">
                    <a:solidFill>
                      <a:srgbClr val="FAFAFC"/>
                    </a:solidFill>
                  </a:tcPr>
                </a:tc>
              </a:tr>
            </a:tbl>
          </a:graphicData>
        </a:graphic>
      </p:graphicFrame>
      <p:sp>
        <p:nvSpPr>
          <p:cNvPr id="7" name="AdamW equation panel">
            <a:extLst xmlns:a="http://schemas.openxmlformats.org/drawingml/2006/main">
              <a:ext uri="{FF2B5EF4-FFF2-40B4-BE49-F238E27FC236}">
                <a16:creationId xmlns:a16="http://schemas.microsoft.com/office/drawing/2014/main" id="{CE82A018-5DF1-4CE0-BCB7-23AC14C1DD20}"/>
              </a:ext>
            </a:extLst>
          </p:cNvPr>
          <p:cNvSpPr>
            <a:spLocks xmlns:a="http://schemas.openxmlformats.org/drawingml/2006/main" noGrp="1"/>
          </p:cNvSpPr>
          <p:nvPr/>
        </p:nvSpPr>
        <p:spPr>
          <a:xfrm xmlns:a="http://schemas.openxmlformats.org/drawingml/2006/main">
            <a:off x="6762750" y="2209800"/>
            <a:ext cx="4552950" cy="1466850"/>
          </a:xfrm>
          <a:prstGeom xmlns:a="http://schemas.openxmlformats.org/drawingml/2006/main" prst="roundRect">
            <a:avLst>
              <a:gd name="adj" fmla="val 5844"/>
            </a:avLst>
          </a:prstGeom>
          <a:noFill xmlns:a="http://schemas.openxmlformats.org/drawingml/2006/main"/>
          <a:ln xmlns:a="http://schemas.openxmlformats.org/drawingml/2006/main" w="10478">
            <a:solidFill>
              <a:srgbClr val="0066CC"/>
            </a:solidFill>
            <a:prstDash val="solid"/>
          </a:ln>
        </p:spPr>
        <p:txBody>
          <a:bodyPr xmlns:a="http://schemas.openxmlformats.org/drawingml/2006/main"/>
          <a:lstStyle xmlns:a="http://schemas.openxmlformats.org/drawingml/2006/main"/>
          <a:p xmlns:a="http://schemas.openxmlformats.org/drawingml/2006/main"/>
        </p:txBody>
      </p:sp>
      <p:sp>
        <p:nvSpPr>
          <p:cNvPr id="8" name="AdamW label">
            <a:extLst xmlns:a="http://schemas.openxmlformats.org/drawingml/2006/main">
              <a:ext uri="{FF2B5EF4-FFF2-40B4-BE49-F238E27FC236}">
                <a16:creationId xmlns:a16="http://schemas.microsoft.com/office/drawing/2014/main" id="{42E73134-64E7-4231-88F8-7C140B9F5D21}"/>
              </a:ext>
            </a:extLst>
          </p:cNvPr>
          <p:cNvSpPr>
            <a:spLocks xmlns:a="http://schemas.openxmlformats.org/drawingml/2006/main" noGrp="1"/>
          </p:cNvSpPr>
          <p:nvPr/>
        </p:nvSpPr>
        <p:spPr>
          <a:xfrm xmlns:a="http://schemas.openxmlformats.org/drawingml/2006/main">
            <a:off x="6991350" y="23431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a:bodyPr>
          <a:lstStyle xmlns:a="http://schemas.openxmlformats.org/drawingml/2006/main"/>
          <a:p xmlns:a="http://schemas.openxmlformats.org/drawingml/2006/main">
            <a:pPr algn="l">
              <a:buNone/>
              <a:defRPr sz="1275" b="1">
                <a:solidFill>
                  <a:srgbClr val="0066CC"/>
                </a:solidFill>
                <a:latin typeface="Segoe UI Semibold"/>
                <a:ea typeface="Segoe UI Semibold"/>
                <a:cs typeface="Segoe UI Semibold"/>
              </a:defRPr>
            </a:pPr>
            <a:r>
              <a:rPr sz="1275" b="1">
                <a:solidFill>
                  <a:srgbClr val="0066CC"/>
                </a:solidFill>
                <a:latin typeface="Segoe UI Semibold"/>
                <a:ea typeface="Segoe UI Semibold"/>
                <a:cs typeface="Segoe UI Semibold"/>
              </a:rPr>
              <a:t>AdamW update (compact form)</a:t>
            </a:r>
          </a:p>
        </p:txBody>
      </p:sp>
      <p:sp>
        <p:nvSpPr>
          <p:cNvPr id="9" name="AdamW equation">
            <a:extLst xmlns:a="http://schemas.openxmlformats.org/drawingml/2006/main">
              <a:ext uri="{FF2B5EF4-FFF2-40B4-BE49-F238E27FC236}">
                <a16:creationId xmlns:a16="http://schemas.microsoft.com/office/drawing/2014/main" id="{3A757348-3ACE-4B59-9371-67720738F267}"/>
              </a:ext>
            </a:extLst>
          </p:cNvPr>
          <p:cNvSpPr>
            <a:spLocks xmlns:a="http://schemas.openxmlformats.org/drawingml/2006/main" noGrp="1"/>
          </p:cNvSpPr>
          <p:nvPr/>
        </p:nvSpPr>
        <p:spPr>
          <a:xfrm xmlns:a="http://schemas.openxmlformats.org/drawingml/2006/main">
            <a:off x="6934200" y="2714625"/>
            <a:ext cx="42100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a:bodyPr>
          <a:lstStyle xmlns:a="http://schemas.openxmlformats.org/drawingml/2006/main"/>
          <a:p xmlns:a="http://schemas.openxmlformats.org/drawingml/2006/main">
            <a:pPr algn="ctr">
              <a:buNone/>
              <a:defRPr sz="1875" b="1">
                <a:solidFill>
                  <a:srgbClr val="1D1D1F"/>
                </a:solidFill>
                <a:latin typeface="Cambria Math"/>
                <a:ea typeface="Cambria Math"/>
                <a:cs typeface="Cambria Math"/>
              </a:defRPr>
            </a:pPr>
            <a:r>
              <a:rPr sz="1875" b="1">
                <a:solidFill>
                  <a:srgbClr val="1D1D1F"/>
                </a:solidFill>
                <a:latin typeface="Cambria Math"/>
                <a:ea typeface="Cambria Math"/>
                <a:cs typeface="Cambria Math"/>
              </a:rPr>
              <a:t>θₜ₊₁ = θₜ − η m̂ₜ/(√v̂ₜ+ε) − ηλθₜ</a:t>
            </a:r>
          </a:p>
        </p:txBody>
      </p:sp>
      <p:sp>
        <p:nvSpPr>
          <p:cNvPr id="10" name="AdamW definitions">
            <a:extLst xmlns:a="http://schemas.openxmlformats.org/drawingml/2006/main">
              <a:ext uri="{FF2B5EF4-FFF2-40B4-BE49-F238E27FC236}">
                <a16:creationId xmlns:a16="http://schemas.microsoft.com/office/drawing/2014/main" id="{35B84182-4E7B-4CF8-A71A-D58C6723224D}"/>
              </a:ext>
            </a:extLst>
          </p:cNvPr>
          <p:cNvSpPr>
            <a:spLocks xmlns:a="http://schemas.openxmlformats.org/drawingml/2006/main" noGrp="1"/>
          </p:cNvSpPr>
          <p:nvPr/>
        </p:nvSpPr>
        <p:spPr>
          <a:xfrm xmlns:a="http://schemas.openxmlformats.org/drawingml/2006/main">
            <a:off x="6991350" y="3343275"/>
            <a:ext cx="4095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a:bodyPr>
          <a:lstStyle xmlns:a="http://schemas.openxmlformats.org/drawingml/2006/main"/>
          <a:p xmlns:a="http://schemas.openxmlformats.org/drawingml/2006/main">
            <a:pPr algn="ctr">
              <a:buNone/>
              <a:defRPr sz="1163">
                <a:solidFill>
                  <a:srgbClr val="5D5D62"/>
                </a:solidFill>
                <a:latin typeface="Segoe UI Light"/>
                <a:ea typeface="Segoe UI Light"/>
                <a:cs typeface="Segoe UI Light"/>
              </a:defRPr>
            </a:pPr>
            <a:r>
              <a:rPr sz="1163">
                <a:solidFill>
                  <a:srgbClr val="5D5D62"/>
                </a:solidFill>
                <a:latin typeface="Segoe UI Light"/>
                <a:ea typeface="Segoe UI Light"/>
                <a:cs typeface="Segoe UI Light"/>
              </a:rPr>
              <a:t>m̂ₜ, v̂ₜ: bias-corrected moments · λ: decoupled weight decay</a:t>
            </a:r>
          </a:p>
        </p:txBody>
      </p:sp>
      <p:sp>
        <p:nvSpPr>
          <p:cNvPr id="11" name="Stochastic clarification">
            <a:extLst xmlns:a="http://schemas.openxmlformats.org/drawingml/2006/main">
              <a:ext uri="{FF2B5EF4-FFF2-40B4-BE49-F238E27FC236}">
                <a16:creationId xmlns:a16="http://schemas.microsoft.com/office/drawing/2014/main" id="{557DEA77-529D-4E74-A5BA-9B875D435185}"/>
              </a:ext>
            </a:extLst>
          </p:cNvPr>
          <p:cNvSpPr>
            <a:spLocks xmlns:a="http://schemas.openxmlformats.org/drawingml/2006/main" noGrp="1"/>
          </p:cNvSpPr>
          <p:nvPr/>
        </p:nvSpPr>
        <p:spPr>
          <a:xfrm xmlns:a="http://schemas.openxmlformats.org/drawingml/2006/main">
            <a:off x="6762750" y="3857625"/>
            <a:ext cx="4552950" cy="1123950"/>
          </a:xfrm>
          <a:prstGeom xmlns:a="http://schemas.openxmlformats.org/drawingml/2006/main" prst="roundRect">
            <a:avLst>
              <a:gd name="adj" fmla="val 7627"/>
            </a:avLst>
          </a:prstGeom>
          <a:solidFill xmlns:a="http://schemas.openxmlformats.org/drawingml/2006/main">
            <a:srgbClr val="FFF8E8"/>
          </a:solidFill>
          <a:ln xmlns:a="http://schemas.openxmlformats.org/drawingml/2006/main" w="10478">
            <a:solidFill>
              <a:srgbClr val="F5A623"/>
            </a:solidFill>
            <a:prstDash val="solid"/>
          </a:ln>
        </p:spPr>
        <p:txBody>
          <a:bodyPr xmlns:a="http://schemas.openxmlformats.org/drawingml/2006/main" wrap="square" lIns="152400" tIns="95250" rIns="142875" bIns="95250" anchor="ctr">
            <a:normAutofit/>
          </a:bodyPr>
          <a:lstStyle xmlns:a="http://schemas.openxmlformats.org/drawingml/2006/main"/>
          <a:p xmlns:a="http://schemas.openxmlformats.org/drawingml/2006/main">
            <a:pPr algn="l">
              <a:buNone/>
              <a:defRPr sz="1290" b="1">
                <a:solidFill>
                  <a:srgbClr val="4A3A18"/>
                </a:solidFill>
                <a:latin typeface="Segoe UI Semibold"/>
                <a:ea typeface="Segoe UI Semibold"/>
                <a:cs typeface="Segoe UI Semibold"/>
              </a:defRPr>
            </a:pPr>
            <a:r>
              <a:rPr sz="1290" b="1">
                <a:solidFill>
                  <a:srgbClr val="4A3A18"/>
                </a:solidFill>
                <a:latin typeface="Segoe UI Semibold"/>
                <a:ea typeface="Segoe UI Semibold"/>
                <a:cs typeface="Segoe UI Semibold"/>
              </a:rPr>
              <a:t>AdamW is not vanilla SGD. It is still stochastic because each update estimates the gradient from a shuffled mini-batch rather than the full dataset.</a:t>
            </a:r>
          </a:p>
        </p:txBody>
      </p:sp>
      <p:sp>
        <p:nvSpPr>
          <p:cNvPr id="12" name="Learning rate clarification">
            <a:extLst xmlns:a="http://schemas.openxmlformats.org/drawingml/2006/main">
              <a:ext uri="{FF2B5EF4-FFF2-40B4-BE49-F238E27FC236}">
                <a16:creationId xmlns:a16="http://schemas.microsoft.com/office/drawing/2014/main" id="{F07CD58B-8C4D-44AB-9A1F-F0D5BBD7583E}"/>
              </a:ext>
            </a:extLst>
          </p:cNvPr>
          <p:cNvSpPr>
            <a:spLocks xmlns:a="http://schemas.openxmlformats.org/drawingml/2006/main" noGrp="1"/>
          </p:cNvSpPr>
          <p:nvPr/>
        </p:nvSpPr>
        <p:spPr>
          <a:xfrm xmlns:a="http://schemas.openxmlformats.org/drawingml/2006/main">
            <a:off x="6762750" y="5143500"/>
            <a:ext cx="4552950" cy="876300"/>
          </a:xfrm>
          <a:prstGeom xmlns:a="http://schemas.openxmlformats.org/drawingml/2006/main" prst="roundRect">
            <a:avLst>
              <a:gd name="adj" fmla="val 9783"/>
            </a:avLst>
          </a:prstGeom>
          <a:solidFill xmlns:a="http://schemas.openxmlformats.org/drawingml/2006/main">
            <a:srgbClr val="F7F9FC"/>
          </a:solidFill>
          <a:ln xmlns:a="http://schemas.openxmlformats.org/drawingml/2006/main" w="10478">
            <a:solidFill>
              <a:srgbClr val="D1D1D6"/>
            </a:solidFill>
            <a:prstDash val="solid"/>
          </a:ln>
        </p:spPr>
        <p:txBody>
          <a:bodyPr xmlns:a="http://schemas.openxmlformats.org/drawingml/2006/main" wrap="square" lIns="133350" tIns="76200" rIns="133350" bIns="76200" anchor="ctr">
            <a:normAutofit/>
          </a:bodyPr>
          <a:lstStyle xmlns:a="http://schemas.openxmlformats.org/drawingml/2006/main"/>
          <a:p xmlns:a="http://schemas.openxmlformats.org/drawingml/2006/main">
            <a:pPr algn="l">
              <a:buNone/>
              <a:defRPr sz="1230">
                <a:solidFill>
                  <a:srgbClr val="4A4A4E"/>
                </a:solidFill>
                <a:latin typeface="Segoe UI Light"/>
                <a:ea typeface="Segoe UI Light"/>
                <a:cs typeface="Segoe UI Light"/>
              </a:defRPr>
            </a:pPr>
            <a:r>
              <a:rPr sz="1230">
                <a:solidFill>
                  <a:srgbClr val="4A4A4E"/>
                </a:solidFill>
                <a:latin typeface="Segoe UI Light"/>
                <a:ea typeface="Segoe UI Light"/>
                <a:cs typeface="Segoe UI Light"/>
              </a:rPr>
              <a:t>The pool/head uses the higher LR because it starts task-specific; adapters use a smaller LR to perturb pretrained features conservatively. Design choice—not proven optimal.</a:t>
            </a:r>
          </a:p>
        </p:txBody>
      </p:sp>
    </p:spTree>
    <p:extLst>
      <p:ext uri="{BB962C8B-B14F-4D97-AF65-F5344CB8AC3E}">
        <p14:creationId xmlns:p14="http://schemas.microsoft.com/office/powerpoint/2010/main" val="163768339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D08198F-8681-4532-85B0-DB71033BDA67}"/>
              </a:ext>
            </a:extLst>
          </p:cNvPr>
          <p:cNvSpPr>
            <a:spLocks xmlns:a="http://schemas.openxmlformats.org/drawingml/2006/main" noGrp="1"/>
          </p:cNvSpPr>
          <p:nvPr/>
        </p:nvSpPr>
        <p:spPr>
          <a:xfrm xmlns:a="http://schemas.openxmlformats.org/drawingml/2006/main">
            <a:off x="841248" y="603504"/>
            <a:ext cx="457200" cy="45720"/>
          </a:xfrm>
          <a:prstGeom xmlns:a="http://schemas.openxmlformats.org/drawingml/2006/main" prst="rect">
            <a:avLst/>
          </a:prstGeom>
          <a:solidFill xmlns:a="http://schemas.openxmlformats.org/drawingml/2006/main">
            <a:srgbClr val="0066C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B2271EA7-4847-43DB-BADB-0DC5A4DB76E9}"/>
              </a:ext>
            </a:extLst>
          </p:cNvPr>
          <p:cNvSpPr>
            <a:spLocks xmlns:a="http://schemas.openxmlformats.org/drawingml/2006/main" noGrp="1"/>
          </p:cNvSpPr>
          <p:nvPr/>
        </p:nvSpPr>
        <p:spPr>
          <a:xfrm xmlns:a="http://schemas.openxmlformats.org/drawingml/2006/main">
            <a:off x="822960" y="749808"/>
            <a:ext cx="10515600" cy="155448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spcAft>
                <a:spcPts val="500"/>
              </a:spcAft>
              <a:buNone/>
            </a:pPr>
            <a:r>
              <a:rPr sz="1300" b="1">
                <a:solidFill>
                  <a:srgbClr val="0066CC"/>
                </a:solidFill>
                <a:latin typeface="Segoe UI Semibold"/>
                <a:ea typeface="Segoe UI Semibold"/>
                <a:cs typeface="Segoe UI Semibold"/>
              </a:rPr>
              <a:t>BACKUP</a:t>
            </a:r>
          </a:p>
          <a:p xmlns:a="http://schemas.openxmlformats.org/drawingml/2006/main">
            <a:pPr algn="l">
              <a:spcAft>
                <a:spcPts val="1000"/>
              </a:spcAft>
              <a:buNone/>
            </a:pPr>
            <a:r>
              <a:rPr sz="3300" b="1">
                <a:solidFill>
                  <a:srgbClr val="1D1D1F"/>
                </a:solidFill>
                <a:latin typeface="Segoe UI Semibold"/>
                <a:ea typeface="Segoe UI Semibold"/>
                <a:cs typeface="Segoe UI Semibold"/>
              </a:rPr>
              <a:t>Core terminology</a:t>
            </a:r>
          </a:p>
        </p:txBody>
      </p:sp>
      <p:sp>
        <p:nvSpPr>
          <p:cNvPr id="4" name="TextBox 3">
            <a:extLst xmlns:a="http://schemas.openxmlformats.org/drawingml/2006/main">
              <a:ext uri="{FF2B5EF4-FFF2-40B4-BE49-F238E27FC236}">
                <a16:creationId xmlns:a16="http://schemas.microsoft.com/office/drawing/2014/main" id="{D87D673C-0A96-49AA-A9DF-D7282EC45D15}"/>
              </a:ext>
            </a:extLst>
          </p:cNvPr>
          <p:cNvSpPr>
            <a:spLocks xmlns:a="http://schemas.openxmlformats.org/drawingml/2006/main" noGrp="1"/>
          </p:cNvSpPr>
          <p:nvPr/>
        </p:nvSpPr>
        <p:spPr>
          <a:xfrm xmlns:a="http://schemas.openxmlformats.org/drawingml/2006/main">
            <a:off x="822960" y="6419088"/>
            <a:ext cx="731520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spcAft>
                <a:spcPts val="1000"/>
              </a:spcAft>
              <a:buNone/>
            </a:pPr>
            <a:r>
              <a:rPr sz="1000" b="0">
                <a:solidFill>
                  <a:srgbClr val="A1A1A6"/>
                </a:solidFill>
                <a:latin typeface="Segoe UI Light"/>
                <a:ea typeface="Segoe UI Light"/>
                <a:cs typeface="Segoe UI Light"/>
              </a:rPr>
              <a:t>Fake It Till You Make It  ·  00460217 Deep Learning</a:t>
            </a:r>
          </a:p>
        </p:txBody>
      </p:sp>
      <p:sp>
        <p:nvSpPr>
          <p:cNvPr id="5" name="TextBox 4">
            <a:extLst xmlns:a="http://schemas.openxmlformats.org/drawingml/2006/main">
              <a:ext uri="{FF2B5EF4-FFF2-40B4-BE49-F238E27FC236}">
                <a16:creationId xmlns:a16="http://schemas.microsoft.com/office/drawing/2014/main" id="{0D5C91BD-90B5-4400-9256-1DB78B604363}"/>
              </a:ext>
            </a:extLst>
          </p:cNvPr>
          <p:cNvSpPr>
            <a:spLocks xmlns:a="http://schemas.openxmlformats.org/drawingml/2006/main" noGrp="1"/>
          </p:cNvSpPr>
          <p:nvPr/>
        </p:nvSpPr>
        <p:spPr>
          <a:xfrm xmlns:a="http://schemas.openxmlformats.org/drawingml/2006/main">
            <a:off x="10607040" y="6419088"/>
            <a:ext cx="82296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spcAft>
                <a:spcPts val="1000"/>
              </a:spcAft>
              <a:buNone/>
            </a:pPr>
            <a:r>
              <a:rPr sz="1000" b="0">
                <a:solidFill>
                  <a:srgbClr val="A1A1A6"/>
                </a:solidFill>
                <a:latin typeface="Segoe UI Light"/>
                <a:ea typeface="Segoe UI Light"/>
                <a:cs typeface="Segoe UI Light"/>
              </a:rPr>
              <a:t>B8</a:t>
            </a:r>
          </a:p>
        </p:txBody>
      </p:sp>
      <p:sp>
        <p:nvSpPr>
          <p:cNvPr id="6" name="Terminology card 1">
            <a:extLst xmlns:a="http://schemas.openxmlformats.org/drawingml/2006/main">
              <a:ext uri="{FF2B5EF4-FFF2-40B4-BE49-F238E27FC236}">
                <a16:creationId xmlns:a16="http://schemas.microsoft.com/office/drawing/2014/main" id="{FF04A59B-C2BE-4F30-B347-555C5DAAA6F3}"/>
              </a:ext>
            </a:extLst>
          </p:cNvPr>
          <p:cNvSpPr>
            <a:spLocks xmlns:a="http://schemas.openxmlformats.org/drawingml/2006/main" noGrp="1"/>
          </p:cNvSpPr>
          <p:nvPr/>
        </p:nvSpPr>
        <p:spPr>
          <a:xfrm xmlns:a="http://schemas.openxmlformats.org/drawingml/2006/main">
            <a:off x="876300" y="2209800"/>
            <a:ext cx="5105400" cy="1790700"/>
          </a:xfrm>
          <a:prstGeom xmlns:a="http://schemas.openxmlformats.org/drawingml/2006/main" prst="roundRect">
            <a:avLst>
              <a:gd name="adj" fmla="val 4787"/>
            </a:avLst>
          </a:prstGeom>
          <a:noFill xmlns:a="http://schemas.openxmlformats.org/drawingml/2006/main"/>
          <a:ln xmlns:a="http://schemas.openxmlformats.org/drawingml/2006/main" w="10478">
            <a:solidFill>
              <a:srgbClr val="0066CC"/>
            </a:solidFill>
            <a:prstDash val="solid"/>
          </a:ln>
        </p:spPr>
        <p:txBody>
          <a:bodyPr xmlns:a="http://schemas.openxmlformats.org/drawingml/2006/main"/>
          <a:lstStyle xmlns:a="http://schemas.openxmlformats.org/drawingml/2006/main"/>
          <a:p xmlns:a="http://schemas.openxmlformats.org/drawingml/2006/main"/>
        </p:txBody>
      </p:sp>
      <p:sp>
        <p:nvSpPr>
          <p:cNvPr id="7" name="Terminology title 1">
            <a:extLst xmlns:a="http://schemas.openxmlformats.org/drawingml/2006/main">
              <a:ext uri="{FF2B5EF4-FFF2-40B4-BE49-F238E27FC236}">
                <a16:creationId xmlns:a16="http://schemas.microsoft.com/office/drawing/2014/main" id="{CB5CC8AA-2749-408D-919F-130DC516203A}"/>
              </a:ext>
            </a:extLst>
          </p:cNvPr>
          <p:cNvSpPr>
            <a:spLocks xmlns:a="http://schemas.openxmlformats.org/drawingml/2006/main" noGrp="1"/>
          </p:cNvSpPr>
          <p:nvPr/>
        </p:nvSpPr>
        <p:spPr>
          <a:xfrm xmlns:a="http://schemas.openxmlformats.org/drawingml/2006/main">
            <a:off x="1066800" y="2362200"/>
            <a:ext cx="4724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a:bodyPr>
          <a:lstStyle xmlns:a="http://schemas.openxmlformats.org/drawingml/2006/main"/>
          <a:p xmlns:a="http://schemas.openxmlformats.org/drawingml/2006/main">
            <a:pPr algn="l">
              <a:buNone/>
              <a:defRPr sz="1425" b="1">
                <a:solidFill>
                  <a:srgbClr val="0066CC"/>
                </a:solidFill>
                <a:latin typeface="Segoe UI Semibold"/>
                <a:ea typeface="Segoe UI Semibold"/>
                <a:cs typeface="Segoe UI Semibold"/>
              </a:defRPr>
            </a:pPr>
            <a:r>
              <a:rPr sz="1425" b="1">
                <a:solidFill>
                  <a:srgbClr val="0066CC"/>
                </a:solidFill>
                <a:latin typeface="Segoe UI Semibold"/>
                <a:ea typeface="Segoe UI Semibold"/>
                <a:cs typeface="Segoe UI Semibold"/>
              </a:rPr>
              <a:t>SSL · self-supervised learning</a:t>
            </a:r>
          </a:p>
        </p:txBody>
      </p:sp>
      <p:sp>
        <p:nvSpPr>
          <p:cNvPr id="8" name="Terminology body 1">
            <a:extLst xmlns:a="http://schemas.openxmlformats.org/drawingml/2006/main">
              <a:ext uri="{FF2B5EF4-FFF2-40B4-BE49-F238E27FC236}">
                <a16:creationId xmlns:a16="http://schemas.microsoft.com/office/drawing/2014/main" id="{3CADC9BE-EBC8-4E58-A694-36809816EC94}"/>
              </a:ext>
            </a:extLst>
          </p:cNvPr>
          <p:cNvSpPr>
            <a:spLocks xmlns:a="http://schemas.openxmlformats.org/drawingml/2006/main" noGrp="1"/>
          </p:cNvSpPr>
          <p:nvPr/>
        </p:nvSpPr>
        <p:spPr>
          <a:xfrm xmlns:a="http://schemas.openxmlformats.org/drawingml/2006/main">
            <a:off x="1066800" y="2724150"/>
            <a:ext cx="47244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a:solidFill>
                  <a:srgbClr val="4A4A4E"/>
                </a:solidFill>
                <a:latin typeface="Segoe UI Light"/>
                <a:ea typeface="Segoe UI Light"/>
                <a:cs typeface="Segoe UI Light"/>
              </a:defRPr>
            </a:pPr>
            <a:r>
              <a:rPr sz="1275">
                <a:solidFill>
                  <a:srgbClr val="4A4A4E"/>
                </a:solidFill>
                <a:latin typeface="Segoe UI Light"/>
                <a:ea typeface="Segoe UI Light"/>
                <a:cs typeface="Segoe UI Light"/>
              </a:rPr>
              <a:t>• wav2vec2 was pretrained on unlabeled speech</a:t>
            </a:r>
          </a:p>
          <a:p xmlns:a="http://schemas.openxmlformats.org/drawingml/2006/main">
            <a:pPr algn="l">
              <a:buNone/>
              <a:defRPr sz="1275">
                <a:solidFill>
                  <a:srgbClr val="4A4A4E"/>
                </a:solidFill>
                <a:latin typeface="Segoe UI Light"/>
                <a:ea typeface="Segoe UI Light"/>
                <a:cs typeface="Segoe UI Light"/>
              </a:defRPr>
            </a:pPr>
            <a:r>
              <a:rPr sz="1275">
                <a:solidFill>
                  <a:srgbClr val="4A4A4E"/>
                </a:solidFill>
                <a:latin typeface="Segoe UI Light"/>
                <a:ea typeface="Segoe UI Light"/>
                <a:cs typeface="Segoe UI Light"/>
              </a:rPr>
              <a:t>• our anti-spoofing stage is supervised</a:t>
            </a:r>
          </a:p>
          <a:p xmlns:a="http://schemas.openxmlformats.org/drawingml/2006/main">
            <a:pPr algn="l">
              <a:buNone/>
              <a:defRPr sz="1275">
                <a:solidFill>
                  <a:srgbClr val="4A4A4E"/>
                </a:solidFill>
                <a:latin typeface="Segoe UI Light"/>
                <a:ea typeface="Segoe UI Light"/>
                <a:cs typeface="Segoe UI Light"/>
              </a:defRPr>
            </a:pPr>
            <a:r>
              <a:rPr sz="1275">
                <a:solidFill>
                  <a:srgbClr val="4A4A4E"/>
                </a:solidFill>
                <a:latin typeface="Segoe UI Light"/>
                <a:ea typeface="Segoe UI Light"/>
                <a:cs typeface="Segoe UI Light"/>
              </a:rPr>
              <a:t>• we did not run the original SSL pretraining</a:t>
            </a:r>
          </a:p>
        </p:txBody>
      </p:sp>
      <p:sp>
        <p:nvSpPr>
          <p:cNvPr id="9" name="Terminology card 2">
            <a:extLst xmlns:a="http://schemas.openxmlformats.org/drawingml/2006/main">
              <a:ext uri="{FF2B5EF4-FFF2-40B4-BE49-F238E27FC236}">
                <a16:creationId xmlns:a16="http://schemas.microsoft.com/office/drawing/2014/main" id="{22052DD4-B4B2-4FFB-8B4B-BE9CCD9B20B2}"/>
              </a:ext>
            </a:extLst>
          </p:cNvPr>
          <p:cNvSpPr>
            <a:spLocks xmlns:a="http://schemas.openxmlformats.org/drawingml/2006/main" noGrp="1"/>
          </p:cNvSpPr>
          <p:nvPr/>
        </p:nvSpPr>
        <p:spPr>
          <a:xfrm xmlns:a="http://schemas.openxmlformats.org/drawingml/2006/main">
            <a:off x="6210300" y="2209800"/>
            <a:ext cx="5105400" cy="1790700"/>
          </a:xfrm>
          <a:prstGeom xmlns:a="http://schemas.openxmlformats.org/drawingml/2006/main" prst="roundRect">
            <a:avLst>
              <a:gd name="adj" fmla="val 4787"/>
            </a:avLst>
          </a:prstGeom>
          <a:noFill xmlns:a="http://schemas.openxmlformats.org/drawingml/2006/main"/>
          <a:ln xmlns:a="http://schemas.openxmlformats.org/drawingml/2006/main" w="10478">
            <a:solidFill>
              <a:srgbClr val="9E9EA5"/>
            </a:solidFill>
            <a:prstDash val="solid"/>
          </a:ln>
        </p:spPr>
        <p:txBody>
          <a:bodyPr xmlns:a="http://schemas.openxmlformats.org/drawingml/2006/main"/>
          <a:lstStyle xmlns:a="http://schemas.openxmlformats.org/drawingml/2006/main"/>
          <a:p xmlns:a="http://schemas.openxmlformats.org/drawingml/2006/main"/>
        </p:txBody>
      </p:sp>
      <p:sp>
        <p:nvSpPr>
          <p:cNvPr id="10" name="Terminology title 2">
            <a:extLst xmlns:a="http://schemas.openxmlformats.org/drawingml/2006/main">
              <a:ext uri="{FF2B5EF4-FFF2-40B4-BE49-F238E27FC236}">
                <a16:creationId xmlns:a16="http://schemas.microsoft.com/office/drawing/2014/main" id="{E52B8C7F-4999-42B3-A930-6161D6F4AFE1}"/>
              </a:ext>
            </a:extLst>
          </p:cNvPr>
          <p:cNvSpPr>
            <a:spLocks xmlns:a="http://schemas.openxmlformats.org/drawingml/2006/main" noGrp="1"/>
          </p:cNvSpPr>
          <p:nvPr/>
        </p:nvSpPr>
        <p:spPr>
          <a:xfrm xmlns:a="http://schemas.openxmlformats.org/drawingml/2006/main">
            <a:off x="6400800" y="2362200"/>
            <a:ext cx="4724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a:bodyPr>
          <a:lstStyle xmlns:a="http://schemas.openxmlformats.org/drawingml/2006/main"/>
          <a:p xmlns:a="http://schemas.openxmlformats.org/drawingml/2006/main">
            <a:pPr algn="l">
              <a:buNone/>
              <a:defRPr sz="1425" b="1">
                <a:solidFill>
                  <a:srgbClr val="1D1D1F"/>
                </a:solidFill>
                <a:latin typeface="Segoe UI Semibold"/>
                <a:ea typeface="Segoe UI Semibold"/>
                <a:cs typeface="Segoe UI Semibold"/>
              </a:defRPr>
            </a:pPr>
            <a:r>
              <a:rPr sz="1425" b="1">
                <a:solidFill>
                  <a:srgbClr val="1D1D1F"/>
                </a:solidFill>
                <a:latin typeface="Segoe UI Semibold"/>
                <a:ea typeface="Segoe UI Semibold"/>
                <a:cs typeface="Segoe UI Semibold"/>
              </a:rPr>
              <a:t>MFM · Max-Feature-Map</a:t>
            </a:r>
          </a:p>
        </p:txBody>
      </p:sp>
      <p:sp>
        <p:nvSpPr>
          <p:cNvPr id="11" name="Terminology body 2">
            <a:extLst xmlns:a="http://schemas.openxmlformats.org/drawingml/2006/main">
              <a:ext uri="{FF2B5EF4-FFF2-40B4-BE49-F238E27FC236}">
                <a16:creationId xmlns:a16="http://schemas.microsoft.com/office/drawing/2014/main" id="{C5610E4B-39C8-4F1B-8CB0-A20662DDB26F}"/>
              </a:ext>
            </a:extLst>
          </p:cNvPr>
          <p:cNvSpPr>
            <a:spLocks xmlns:a="http://schemas.openxmlformats.org/drawingml/2006/main" noGrp="1"/>
          </p:cNvSpPr>
          <p:nvPr/>
        </p:nvSpPr>
        <p:spPr>
          <a:xfrm xmlns:a="http://schemas.openxmlformats.org/drawingml/2006/main">
            <a:off x="6400800" y="2724150"/>
            <a:ext cx="47244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a:solidFill>
                  <a:srgbClr val="4A4A4E"/>
                </a:solidFill>
                <a:latin typeface="Segoe UI Light"/>
                <a:ea typeface="Segoe UI Light"/>
                <a:cs typeface="Segoe UI Light"/>
              </a:defRPr>
            </a:pPr>
            <a:r>
              <a:rPr sz="1275">
                <a:solidFill>
                  <a:srgbClr val="4A4A4E"/>
                </a:solidFill>
                <a:latin typeface="Segoe UI Light"/>
                <a:ea typeface="Segoe UI Light"/>
                <a:cs typeface="Segoe UI Light"/>
              </a:rPr>
              <a:t>• split 2C channels into two C groups</a:t>
            </a:r>
          </a:p>
          <a:p xmlns:a="http://schemas.openxmlformats.org/drawingml/2006/main">
            <a:pPr algn="l">
              <a:buNone/>
              <a:defRPr sz="1275">
                <a:solidFill>
                  <a:srgbClr val="4A4A4E"/>
                </a:solidFill>
                <a:latin typeface="Segoe UI Light"/>
                <a:ea typeface="Segoe UI Light"/>
                <a:cs typeface="Segoe UI Light"/>
              </a:defRPr>
            </a:pPr>
            <a:r>
              <a:rPr sz="1275">
                <a:solidFill>
                  <a:srgbClr val="4A4A4E"/>
                </a:solidFill>
                <a:latin typeface="Segoe UI Light"/>
                <a:ea typeface="Segoe UI Light"/>
                <a:cs typeface="Segoe UI Light"/>
              </a:rPr>
              <a:t>• output the elementwise max of each pair</a:t>
            </a:r>
          </a:p>
          <a:p xmlns:a="http://schemas.openxmlformats.org/drawingml/2006/main">
            <a:pPr algn="l">
              <a:buNone/>
              <a:defRPr sz="1275">
                <a:solidFill>
                  <a:srgbClr val="4A4A4E"/>
                </a:solidFill>
                <a:latin typeface="Segoe UI Light"/>
                <a:ea typeface="Segoe UI Light"/>
                <a:cs typeface="Segoe UI Light"/>
              </a:defRPr>
            </a:pPr>
            <a:r>
              <a:rPr sz="1275">
                <a:solidFill>
                  <a:srgbClr val="4A4A4E"/>
                </a:solidFill>
                <a:latin typeface="Segoe UI Light"/>
                <a:ea typeface="Segoe UI Light"/>
                <a:cs typeface="Segoe UI Light"/>
              </a:rPr>
              <a:t>• unlike ReLU: feature vs feature, not feature vs 0</a:t>
            </a:r>
          </a:p>
          <a:p xmlns:a="http://schemas.openxmlformats.org/drawingml/2006/main">
            <a:pPr algn="l">
              <a:buNone/>
              <a:defRPr sz="1275">
                <a:solidFill>
                  <a:srgbClr val="4A4A4E"/>
                </a:solidFill>
                <a:latin typeface="Segoe UI Light"/>
                <a:ea typeface="Segoe UI Light"/>
                <a:cs typeface="Segoe UI Light"/>
              </a:defRPr>
            </a:pPr>
            <a:r>
              <a:rPr sz="1275">
                <a:solidFill>
                  <a:srgbClr val="4A4A4E"/>
                </a:solidFill>
                <a:latin typeface="Segoe UI Light"/>
                <a:ea typeface="Segoe UI Light"/>
                <a:cs typeface="Segoe UI Light"/>
              </a:rPr>
              <a:t>• MFM itself has no trainable parameters</a:t>
            </a:r>
          </a:p>
        </p:txBody>
      </p:sp>
      <p:sp>
        <p:nvSpPr>
          <p:cNvPr id="12" name="Terminology card 3">
            <a:extLst xmlns:a="http://schemas.openxmlformats.org/drawingml/2006/main">
              <a:ext uri="{FF2B5EF4-FFF2-40B4-BE49-F238E27FC236}">
                <a16:creationId xmlns:a16="http://schemas.microsoft.com/office/drawing/2014/main" id="{7E9DE32B-7F00-4E94-ACCF-68B280C10845}"/>
              </a:ext>
            </a:extLst>
          </p:cNvPr>
          <p:cNvSpPr>
            <a:spLocks xmlns:a="http://schemas.openxmlformats.org/drawingml/2006/main" noGrp="1"/>
          </p:cNvSpPr>
          <p:nvPr/>
        </p:nvSpPr>
        <p:spPr>
          <a:xfrm xmlns:a="http://schemas.openxmlformats.org/drawingml/2006/main">
            <a:off x="876300" y="4248150"/>
            <a:ext cx="5105400" cy="1790700"/>
          </a:xfrm>
          <a:prstGeom xmlns:a="http://schemas.openxmlformats.org/drawingml/2006/main" prst="roundRect">
            <a:avLst>
              <a:gd name="adj" fmla="val 4787"/>
            </a:avLst>
          </a:prstGeom>
          <a:noFill xmlns:a="http://schemas.openxmlformats.org/drawingml/2006/main"/>
          <a:ln xmlns:a="http://schemas.openxmlformats.org/drawingml/2006/main" w="10478">
            <a:solidFill>
              <a:srgbClr val="9E9EA5"/>
            </a:solidFill>
            <a:prstDash val="solid"/>
          </a:ln>
        </p:spPr>
        <p:txBody>
          <a:bodyPr xmlns:a="http://schemas.openxmlformats.org/drawingml/2006/main"/>
          <a:lstStyle xmlns:a="http://schemas.openxmlformats.org/drawingml/2006/main"/>
          <a:p xmlns:a="http://schemas.openxmlformats.org/drawingml/2006/main"/>
        </p:txBody>
      </p:sp>
      <p:sp>
        <p:nvSpPr>
          <p:cNvPr id="13" name="Terminology title 3">
            <a:extLst xmlns:a="http://schemas.openxmlformats.org/drawingml/2006/main">
              <a:ext uri="{FF2B5EF4-FFF2-40B4-BE49-F238E27FC236}">
                <a16:creationId xmlns:a16="http://schemas.microsoft.com/office/drawing/2014/main" id="{CF4E98BB-4E93-4A5E-BF44-C236CCEC037D}"/>
              </a:ext>
            </a:extLst>
          </p:cNvPr>
          <p:cNvSpPr>
            <a:spLocks xmlns:a="http://schemas.openxmlformats.org/drawingml/2006/main" noGrp="1"/>
          </p:cNvSpPr>
          <p:nvPr/>
        </p:nvSpPr>
        <p:spPr>
          <a:xfrm xmlns:a="http://schemas.openxmlformats.org/drawingml/2006/main">
            <a:off x="1066800" y="4400550"/>
            <a:ext cx="4724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a:bodyPr>
          <a:lstStyle xmlns:a="http://schemas.openxmlformats.org/drawingml/2006/main"/>
          <a:p xmlns:a="http://schemas.openxmlformats.org/drawingml/2006/main">
            <a:pPr algn="l">
              <a:buNone/>
              <a:defRPr sz="1425" b="1">
                <a:solidFill>
                  <a:srgbClr val="1D1D1F"/>
                </a:solidFill>
                <a:latin typeface="Segoe UI Semibold"/>
                <a:ea typeface="Segoe UI Semibold"/>
                <a:cs typeface="Segoe UI Semibold"/>
              </a:defRPr>
            </a:pPr>
            <a:r>
              <a:rPr sz="1425" b="1">
                <a:solidFill>
                  <a:srgbClr val="1D1D1F"/>
                </a:solidFill>
                <a:latin typeface="Segoe UI Semibold"/>
                <a:ea typeface="Segoe UI Semibold"/>
                <a:cs typeface="Segoe UI Semibold"/>
              </a:rPr>
              <a:t>Dropout</a:t>
            </a:r>
          </a:p>
        </p:txBody>
      </p:sp>
      <p:sp>
        <p:nvSpPr>
          <p:cNvPr id="14" name="Terminology body 3">
            <a:extLst xmlns:a="http://schemas.openxmlformats.org/drawingml/2006/main">
              <a:ext uri="{FF2B5EF4-FFF2-40B4-BE49-F238E27FC236}">
                <a16:creationId xmlns:a16="http://schemas.microsoft.com/office/drawing/2014/main" id="{9C736E21-2DC1-460A-9264-2F82E44C2BCF}"/>
              </a:ext>
            </a:extLst>
          </p:cNvPr>
          <p:cNvSpPr>
            <a:spLocks xmlns:a="http://schemas.openxmlformats.org/drawingml/2006/main" noGrp="1"/>
          </p:cNvSpPr>
          <p:nvPr/>
        </p:nvSpPr>
        <p:spPr>
          <a:xfrm xmlns:a="http://schemas.openxmlformats.org/drawingml/2006/main">
            <a:off x="1066800" y="4762500"/>
            <a:ext cx="47244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a:solidFill>
                  <a:srgbClr val="4A4A4E"/>
                </a:solidFill>
                <a:latin typeface="Segoe UI Light"/>
                <a:ea typeface="Segoe UI Light"/>
                <a:cs typeface="Segoe UI Light"/>
              </a:defRPr>
            </a:pPr>
            <a:r>
              <a:rPr sz="1275">
                <a:solidFill>
                  <a:srgbClr val="4A4A4E"/>
                </a:solidFill>
                <a:latin typeface="Segoe UI Light"/>
                <a:ea typeface="Segoe UI Light"/>
                <a:cs typeface="Segoe UI Light"/>
              </a:rPr>
              <a:t>• randomly masks activations during training</a:t>
            </a:r>
          </a:p>
          <a:p xmlns:a="http://schemas.openxmlformats.org/drawingml/2006/main">
            <a:pPr algn="l">
              <a:buNone/>
              <a:defRPr sz="1275">
                <a:solidFill>
                  <a:srgbClr val="4A4A4E"/>
                </a:solidFill>
                <a:latin typeface="Segoe UI Light"/>
                <a:ea typeface="Segoe UI Light"/>
                <a:cs typeface="Segoe UI Light"/>
              </a:defRPr>
            </a:pPr>
            <a:r>
              <a:rPr sz="1275">
                <a:solidFill>
                  <a:srgbClr val="4A4A4E"/>
                </a:solidFill>
                <a:latin typeface="Segoe UI Light"/>
                <a:ea typeface="Segoe UI Light"/>
                <a:cs typeface="Segoe UI Light"/>
              </a:rPr>
              <a:t>• disabled during evaluation</a:t>
            </a:r>
          </a:p>
          <a:p xmlns:a="http://schemas.openxmlformats.org/drawingml/2006/main">
            <a:pPr algn="l">
              <a:buNone/>
              <a:defRPr sz="1275">
                <a:solidFill>
                  <a:srgbClr val="4A4A4E"/>
                </a:solidFill>
                <a:latin typeface="Segoe UI Light"/>
                <a:ea typeface="Segoe UI Light"/>
                <a:cs typeface="Segoe UI Light"/>
              </a:defRPr>
            </a:pPr>
            <a:r>
              <a:rPr sz="1275">
                <a:solidFill>
                  <a:srgbClr val="4A4A4E"/>
                </a:solidFill>
                <a:latin typeface="Segoe UI Light"/>
                <a:ea typeface="Segoe UI Light"/>
                <a:cs typeface="Segoe UI Light"/>
              </a:rPr>
              <a:t>• does not delete or freeze weights</a:t>
            </a:r>
          </a:p>
          <a:p xmlns:a="http://schemas.openxmlformats.org/drawingml/2006/main">
            <a:pPr algn="l">
              <a:buNone/>
              <a:defRPr sz="1275">
                <a:solidFill>
                  <a:srgbClr val="4A4A4E"/>
                </a:solidFill>
                <a:latin typeface="Segoe UI Light"/>
                <a:ea typeface="Segoe UI Light"/>
                <a:cs typeface="Segoe UI Light"/>
              </a:defRPr>
            </a:pPr>
            <a:r>
              <a:rPr sz="1275">
                <a:solidFill>
                  <a:srgbClr val="4A4A4E"/>
                </a:solidFill>
                <a:latin typeface="Segoe UI Light"/>
                <a:ea typeface="Segoe UI Light"/>
                <a:cs typeface="Segoe UI Light"/>
              </a:rPr>
              <a:t>• verified value: p = 0.1</a:t>
            </a:r>
          </a:p>
        </p:txBody>
      </p:sp>
      <p:sp>
        <p:nvSpPr>
          <p:cNvPr id="15" name="Terminology card 4">
            <a:extLst xmlns:a="http://schemas.openxmlformats.org/drawingml/2006/main">
              <a:ext uri="{FF2B5EF4-FFF2-40B4-BE49-F238E27FC236}">
                <a16:creationId xmlns:a16="http://schemas.microsoft.com/office/drawing/2014/main" id="{EA0F0458-6886-49DD-AD11-84B1A155FD2A}"/>
              </a:ext>
            </a:extLst>
          </p:cNvPr>
          <p:cNvSpPr>
            <a:spLocks xmlns:a="http://schemas.openxmlformats.org/drawingml/2006/main" noGrp="1"/>
          </p:cNvSpPr>
          <p:nvPr/>
        </p:nvSpPr>
        <p:spPr>
          <a:xfrm xmlns:a="http://schemas.openxmlformats.org/drawingml/2006/main">
            <a:off x="6210300" y="4248150"/>
            <a:ext cx="5105400" cy="1790700"/>
          </a:xfrm>
          <a:prstGeom xmlns:a="http://schemas.openxmlformats.org/drawingml/2006/main" prst="roundRect">
            <a:avLst>
              <a:gd name="adj" fmla="val 4787"/>
            </a:avLst>
          </a:prstGeom>
          <a:noFill xmlns:a="http://schemas.openxmlformats.org/drawingml/2006/main"/>
          <a:ln xmlns:a="http://schemas.openxmlformats.org/drawingml/2006/main" w="10478">
            <a:solidFill>
              <a:srgbClr val="F5A623"/>
            </a:solidFill>
            <a:prstDash val="solid"/>
          </a:ln>
        </p:spPr>
        <p:txBody>
          <a:bodyPr xmlns:a="http://schemas.openxmlformats.org/drawingml/2006/main"/>
          <a:lstStyle xmlns:a="http://schemas.openxmlformats.org/drawingml/2006/main"/>
          <a:p xmlns:a="http://schemas.openxmlformats.org/drawingml/2006/main"/>
        </p:txBody>
      </p:sp>
      <p:sp>
        <p:nvSpPr>
          <p:cNvPr id="16" name="Terminology title 4">
            <a:extLst xmlns:a="http://schemas.openxmlformats.org/drawingml/2006/main">
              <a:ext uri="{FF2B5EF4-FFF2-40B4-BE49-F238E27FC236}">
                <a16:creationId xmlns:a16="http://schemas.microsoft.com/office/drawing/2014/main" id="{962831BE-E281-4E04-9423-D638E40D8B88}"/>
              </a:ext>
            </a:extLst>
          </p:cNvPr>
          <p:cNvSpPr>
            <a:spLocks xmlns:a="http://schemas.openxmlformats.org/drawingml/2006/main" noGrp="1"/>
          </p:cNvSpPr>
          <p:nvPr/>
        </p:nvSpPr>
        <p:spPr>
          <a:xfrm xmlns:a="http://schemas.openxmlformats.org/drawingml/2006/main">
            <a:off x="6400800" y="4400550"/>
            <a:ext cx="4724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a:bodyPr>
          <a:lstStyle xmlns:a="http://schemas.openxmlformats.org/drawingml/2006/main"/>
          <a:p xmlns:a="http://schemas.openxmlformats.org/drawingml/2006/main">
            <a:pPr algn="l">
              <a:buNone/>
              <a:defRPr sz="1425" b="1">
                <a:solidFill>
                  <a:srgbClr val="1D1D1F"/>
                </a:solidFill>
                <a:latin typeface="Segoe UI Semibold"/>
                <a:ea typeface="Segoe UI Semibold"/>
                <a:cs typeface="Segoe UI Semibold"/>
              </a:defRPr>
            </a:pPr>
            <a:r>
              <a:rPr sz="1425" b="1">
                <a:solidFill>
                  <a:srgbClr val="1D1D1F"/>
                </a:solidFill>
                <a:latin typeface="Segoe UI Semibold"/>
                <a:ea typeface="Segoe UI Semibold"/>
                <a:cs typeface="Segoe UI Semibold"/>
              </a:rPr>
              <a:t>Random seed</a:t>
            </a:r>
          </a:p>
        </p:txBody>
      </p:sp>
      <p:sp>
        <p:nvSpPr>
          <p:cNvPr id="17" name="Terminology body 4">
            <a:extLst xmlns:a="http://schemas.openxmlformats.org/drawingml/2006/main">
              <a:ext uri="{FF2B5EF4-FFF2-40B4-BE49-F238E27FC236}">
                <a16:creationId xmlns:a16="http://schemas.microsoft.com/office/drawing/2014/main" id="{92E26329-0628-4167-AA13-856C8C3D614B}"/>
              </a:ext>
            </a:extLst>
          </p:cNvPr>
          <p:cNvSpPr>
            <a:spLocks xmlns:a="http://schemas.openxmlformats.org/drawingml/2006/main" noGrp="1"/>
          </p:cNvSpPr>
          <p:nvPr/>
        </p:nvSpPr>
        <p:spPr>
          <a:xfrm xmlns:a="http://schemas.openxmlformats.org/drawingml/2006/main">
            <a:off x="6400800" y="4762500"/>
            <a:ext cx="47244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a:solidFill>
                  <a:srgbClr val="4A4A4E"/>
                </a:solidFill>
                <a:latin typeface="Segoe UI Light"/>
                <a:ea typeface="Segoe UI Light"/>
                <a:cs typeface="Segoe UI Light"/>
              </a:defRPr>
            </a:pPr>
            <a:r>
              <a:rPr sz="1275">
                <a:solidFill>
                  <a:srgbClr val="4A4A4E"/>
                </a:solidFill>
                <a:latin typeface="Segoe UI Light"/>
                <a:ea typeface="Segoe UI Light"/>
                <a:cs typeface="Segoe UI Light"/>
              </a:rPr>
              <a:t>• verified seed: 1234</a:t>
            </a:r>
          </a:p>
          <a:p xmlns:a="http://schemas.openxmlformats.org/drawingml/2006/main">
            <a:pPr algn="l">
              <a:buNone/>
              <a:defRPr sz="1275">
                <a:solidFill>
                  <a:srgbClr val="4A4A4E"/>
                </a:solidFill>
                <a:latin typeface="Segoe UI Light"/>
                <a:ea typeface="Segoe UI Light"/>
                <a:cs typeface="Segoe UI Light"/>
              </a:defRPr>
            </a:pPr>
            <a:r>
              <a:rPr sz="1275">
                <a:solidFill>
                  <a:srgbClr val="4A4A4E"/>
                </a:solidFill>
                <a:latin typeface="Segoe UI Light"/>
                <a:ea typeface="Segoe UI Light"/>
                <a:cs typeface="Segoe UI Light"/>
              </a:rPr>
              <a:t>• controls init, shuffle, crop, dropout, augmentation</a:t>
            </a:r>
          </a:p>
          <a:p xmlns:a="http://schemas.openxmlformats.org/drawingml/2006/main">
            <a:pPr algn="l">
              <a:buNone/>
              <a:defRPr sz="1275">
                <a:solidFill>
                  <a:srgbClr val="4A4A4E"/>
                </a:solidFill>
                <a:latin typeface="Segoe UI Light"/>
                <a:ea typeface="Segoe UI Light"/>
                <a:cs typeface="Segoe UI Light"/>
              </a:defRPr>
            </a:pPr>
            <a:r>
              <a:rPr sz="1275">
                <a:solidFill>
                  <a:srgbClr val="4A4A4E"/>
                </a:solidFill>
                <a:latin typeface="Segoe UI Light"/>
                <a:ea typeface="Segoe UI Light"/>
                <a:cs typeface="Segoe UI Light"/>
              </a:rPr>
              <a:t>• worker seeds are reproducible</a:t>
            </a:r>
          </a:p>
          <a:p xmlns:a="http://schemas.openxmlformats.org/drawingml/2006/main">
            <a:pPr algn="l">
              <a:buNone/>
              <a:defRPr sz="1275">
                <a:solidFill>
                  <a:srgbClr val="4A4A4E"/>
                </a:solidFill>
                <a:latin typeface="Segoe UI Light"/>
                <a:ea typeface="Segoe UI Light"/>
                <a:cs typeface="Segoe UI Light"/>
              </a:defRPr>
            </a:pPr>
            <a:r>
              <a:rPr sz="1275">
                <a:solidFill>
                  <a:srgbClr val="4A4A4E"/>
                </a:solidFill>
                <a:latin typeface="Segoe UI Light"/>
                <a:ea typeface="Segoe UI Light"/>
                <a:cs typeface="Segoe UI Light"/>
              </a:rPr>
              <a:t>• one seed: run-to-run variance was not measured</a:t>
            </a:r>
          </a:p>
        </p:txBody>
      </p:sp>
    </p:spTree>
    <p:extLst>
      <p:ext uri="{BB962C8B-B14F-4D97-AF65-F5344CB8AC3E}">
        <p14:creationId xmlns:p14="http://schemas.microsoft.com/office/powerpoint/2010/main" val="163768339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D08198F-8681-4532-85B0-DB71033BDA67}"/>
              </a:ext>
            </a:extLst>
          </p:cNvPr>
          <p:cNvSpPr>
            <a:spLocks xmlns:a="http://schemas.openxmlformats.org/drawingml/2006/main" noGrp="1"/>
          </p:cNvSpPr>
          <p:nvPr/>
        </p:nvSpPr>
        <p:spPr>
          <a:xfrm xmlns:a="http://schemas.openxmlformats.org/drawingml/2006/main">
            <a:off x="841248" y="603504"/>
            <a:ext cx="457200" cy="45720"/>
          </a:xfrm>
          <a:prstGeom xmlns:a="http://schemas.openxmlformats.org/drawingml/2006/main" prst="rect">
            <a:avLst/>
          </a:prstGeom>
          <a:solidFill xmlns:a="http://schemas.openxmlformats.org/drawingml/2006/main">
            <a:srgbClr val="0066C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B2271EA7-4847-43DB-BADB-0DC5A4DB76E9}"/>
              </a:ext>
            </a:extLst>
          </p:cNvPr>
          <p:cNvSpPr>
            <a:spLocks xmlns:a="http://schemas.openxmlformats.org/drawingml/2006/main" noGrp="1"/>
          </p:cNvSpPr>
          <p:nvPr/>
        </p:nvSpPr>
        <p:spPr>
          <a:xfrm xmlns:a="http://schemas.openxmlformats.org/drawingml/2006/main">
            <a:off x="822960" y="749808"/>
            <a:ext cx="10515600" cy="155448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spcAft>
                <a:spcPts val="500"/>
              </a:spcAft>
              <a:buNone/>
            </a:pPr>
            <a:r>
              <a:rPr sz="1300" b="1">
                <a:solidFill>
                  <a:srgbClr val="0066CC"/>
                </a:solidFill>
                <a:latin typeface="Segoe UI Semibold"/>
                <a:ea typeface="Segoe UI Semibold"/>
                <a:cs typeface="Segoe UI Semibold"/>
              </a:rPr>
              <a:t>BACKUP</a:t>
            </a:r>
          </a:p>
          <a:p xmlns:a="http://schemas.openxmlformats.org/drawingml/2006/main">
            <a:pPr algn="l">
              <a:spcAft>
                <a:spcPts val="1000"/>
              </a:spcAft>
              <a:buNone/>
            </a:pPr>
            <a:r>
              <a:rPr sz="3300" b="1">
                <a:solidFill>
                  <a:srgbClr val="1D1D1F"/>
                </a:solidFill>
                <a:latin typeface="Segoe UI Semibold"/>
                <a:ea typeface="Segoe UI Semibold"/>
                <a:cs typeface="Segoe UI Semibold"/>
              </a:rPr>
              <a:t>Scope of the evidence</a:t>
            </a:r>
          </a:p>
        </p:txBody>
      </p:sp>
      <p:sp>
        <p:nvSpPr>
          <p:cNvPr id="4" name="TextBox 3">
            <a:extLst xmlns:a="http://schemas.openxmlformats.org/drawingml/2006/main">
              <a:ext uri="{FF2B5EF4-FFF2-40B4-BE49-F238E27FC236}">
                <a16:creationId xmlns:a16="http://schemas.microsoft.com/office/drawing/2014/main" id="{D87D673C-0A96-49AA-A9DF-D7282EC45D15}"/>
              </a:ext>
            </a:extLst>
          </p:cNvPr>
          <p:cNvSpPr>
            <a:spLocks xmlns:a="http://schemas.openxmlformats.org/drawingml/2006/main" noGrp="1"/>
          </p:cNvSpPr>
          <p:nvPr/>
        </p:nvSpPr>
        <p:spPr>
          <a:xfrm xmlns:a="http://schemas.openxmlformats.org/drawingml/2006/main">
            <a:off x="822960" y="6419088"/>
            <a:ext cx="731520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spcAft>
                <a:spcPts val="1000"/>
              </a:spcAft>
              <a:buNone/>
            </a:pPr>
            <a:r>
              <a:rPr sz="1000" b="0">
                <a:solidFill>
                  <a:srgbClr val="A1A1A6"/>
                </a:solidFill>
                <a:latin typeface="Segoe UI Light"/>
                <a:ea typeface="Segoe UI Light"/>
                <a:cs typeface="Segoe UI Light"/>
              </a:rPr>
              <a:t>Fake It Till You Make It  ·  00460217 Deep Learning</a:t>
            </a:r>
          </a:p>
        </p:txBody>
      </p:sp>
      <p:sp>
        <p:nvSpPr>
          <p:cNvPr id="5" name="TextBox 4">
            <a:extLst xmlns:a="http://schemas.openxmlformats.org/drawingml/2006/main">
              <a:ext uri="{FF2B5EF4-FFF2-40B4-BE49-F238E27FC236}">
                <a16:creationId xmlns:a16="http://schemas.microsoft.com/office/drawing/2014/main" id="{0D5C91BD-90B5-4400-9256-1DB78B604363}"/>
              </a:ext>
            </a:extLst>
          </p:cNvPr>
          <p:cNvSpPr>
            <a:spLocks xmlns:a="http://schemas.openxmlformats.org/drawingml/2006/main" noGrp="1"/>
          </p:cNvSpPr>
          <p:nvPr/>
        </p:nvSpPr>
        <p:spPr>
          <a:xfrm xmlns:a="http://schemas.openxmlformats.org/drawingml/2006/main">
            <a:off x="10607040" y="6419088"/>
            <a:ext cx="82296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spcAft>
                <a:spcPts val="1000"/>
              </a:spcAft>
              <a:buNone/>
            </a:pPr>
            <a:r>
              <a:rPr sz="1000" b="0">
                <a:solidFill>
                  <a:srgbClr val="A1A1A6"/>
                </a:solidFill>
                <a:latin typeface="Segoe UI Light"/>
                <a:ea typeface="Segoe UI Light"/>
                <a:cs typeface="Segoe UI Light"/>
              </a:rPr>
              <a:t>B9</a:t>
            </a:r>
          </a:p>
        </p:txBody>
      </p:sp>
      <p:sp>
        <p:nvSpPr>
          <p:cNvPr id="6" name="Scope card 1">
            <a:extLst xmlns:a="http://schemas.openxmlformats.org/drawingml/2006/main">
              <a:ext uri="{FF2B5EF4-FFF2-40B4-BE49-F238E27FC236}">
                <a16:creationId xmlns:a16="http://schemas.microsoft.com/office/drawing/2014/main" id="{BE3D0581-ECCC-41B0-B369-11703DF6CF17}"/>
              </a:ext>
            </a:extLst>
          </p:cNvPr>
          <p:cNvSpPr>
            <a:spLocks xmlns:a="http://schemas.openxmlformats.org/drawingml/2006/main" noGrp="1"/>
          </p:cNvSpPr>
          <p:nvPr/>
        </p:nvSpPr>
        <p:spPr>
          <a:xfrm xmlns:a="http://schemas.openxmlformats.org/drawingml/2006/main">
            <a:off x="876300" y="2266950"/>
            <a:ext cx="3219450" cy="2743200"/>
          </a:xfrm>
          <a:prstGeom xmlns:a="http://schemas.openxmlformats.org/drawingml/2006/main" prst="roundRect">
            <a:avLst>
              <a:gd name="adj" fmla="val 3125"/>
            </a:avLst>
          </a:prstGeom>
          <a:noFill xmlns:a="http://schemas.openxmlformats.org/drawingml/2006/main"/>
          <a:ln xmlns:a="http://schemas.openxmlformats.org/drawingml/2006/main" w="10478">
            <a:solidFill>
              <a:srgbClr val="0066CC"/>
            </a:solidFill>
            <a:prstDash val="solid"/>
          </a:ln>
        </p:spPr>
        <p:txBody>
          <a:bodyPr xmlns:a="http://schemas.openxmlformats.org/drawingml/2006/main"/>
          <a:lstStyle xmlns:a="http://schemas.openxmlformats.org/drawingml/2006/main"/>
          <a:p xmlns:a="http://schemas.openxmlformats.org/drawingml/2006/main"/>
        </p:txBody>
      </p:sp>
      <p:sp>
        <p:nvSpPr>
          <p:cNvPr id="7" name="Scope accent 1">
            <a:extLst xmlns:a="http://schemas.openxmlformats.org/drawingml/2006/main">
              <a:ext uri="{FF2B5EF4-FFF2-40B4-BE49-F238E27FC236}">
                <a16:creationId xmlns:a16="http://schemas.microsoft.com/office/drawing/2014/main" id="{7F69F677-00DD-48D2-85AD-BBC955F08DAE}"/>
              </a:ext>
            </a:extLst>
          </p:cNvPr>
          <p:cNvSpPr>
            <a:spLocks xmlns:a="http://schemas.openxmlformats.org/drawingml/2006/main" noGrp="1"/>
          </p:cNvSpPr>
          <p:nvPr/>
        </p:nvSpPr>
        <p:spPr>
          <a:xfrm xmlns:a="http://schemas.openxmlformats.org/drawingml/2006/main">
            <a:off x="876300" y="2266950"/>
            <a:ext cx="3219450" cy="76200"/>
          </a:xfrm>
          <a:prstGeom xmlns:a="http://schemas.openxmlformats.org/drawingml/2006/main" prst="rect">
            <a:avLst/>
          </a:prstGeom>
          <a:solidFill xmlns:a="http://schemas.openxmlformats.org/drawingml/2006/main">
            <a:srgbClr val="0066CC"/>
          </a:solidFill>
          <a:ln xmlns:a="http://schemas.openxmlformats.org/drawingml/2006/main" w="0">
            <a:solidFill>
              <a:srgbClr val="0066CC"/>
            </a:solidFill>
            <a:prstDash val="solid"/>
          </a:ln>
        </p:spPr>
        <p:txBody>
          <a:bodyPr xmlns:a="http://schemas.openxmlformats.org/drawingml/2006/main"/>
          <a:lstStyle xmlns:a="http://schemas.openxmlformats.org/drawingml/2006/main"/>
          <a:p xmlns:a="http://schemas.openxmlformats.org/drawingml/2006/main"/>
        </p:txBody>
      </p:sp>
      <p:sp>
        <p:nvSpPr>
          <p:cNvPr id="8" name="Scope title 1">
            <a:extLst xmlns:a="http://schemas.openxmlformats.org/drawingml/2006/main">
              <a:ext uri="{FF2B5EF4-FFF2-40B4-BE49-F238E27FC236}">
                <a16:creationId xmlns:a16="http://schemas.microsoft.com/office/drawing/2014/main" id="{A10807BC-9CB8-41C3-B257-464635A80E9B}"/>
              </a:ext>
            </a:extLst>
          </p:cNvPr>
          <p:cNvSpPr>
            <a:spLocks xmlns:a="http://schemas.openxmlformats.org/drawingml/2006/main" noGrp="1"/>
          </p:cNvSpPr>
          <p:nvPr/>
        </p:nvSpPr>
        <p:spPr>
          <a:xfrm xmlns:a="http://schemas.openxmlformats.org/drawingml/2006/main">
            <a:off x="1066800" y="2533650"/>
            <a:ext cx="2838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a:bodyPr>
          <a:lstStyle xmlns:a="http://schemas.openxmlformats.org/drawingml/2006/main"/>
          <a:p xmlns:a="http://schemas.openxmlformats.org/drawingml/2006/main">
            <a:pPr algn="l">
              <a:buNone/>
              <a:defRPr sz="1650" b="1">
                <a:solidFill>
                  <a:srgbClr val="1D1D1F"/>
                </a:solidFill>
                <a:latin typeface="Segoe UI Semibold"/>
                <a:ea typeface="Segoe UI Semibold"/>
                <a:cs typeface="Segoe UI Semibold"/>
              </a:defRPr>
            </a:pPr>
            <a:r>
              <a:rPr sz="1650" b="1">
                <a:solidFill>
                  <a:srgbClr val="1D1D1F"/>
                </a:solidFill>
                <a:latin typeface="Segoe UI Semibold"/>
                <a:ea typeface="Segoe UI Semibold"/>
                <a:cs typeface="Segoe UI Semibold"/>
              </a:rPr>
              <a:t>One seed</a:t>
            </a:r>
          </a:p>
        </p:txBody>
      </p:sp>
      <p:sp>
        <p:nvSpPr>
          <p:cNvPr id="9" name="Scope body 1">
            <a:extLst xmlns:a="http://schemas.openxmlformats.org/drawingml/2006/main">
              <a:ext uri="{FF2B5EF4-FFF2-40B4-BE49-F238E27FC236}">
                <a16:creationId xmlns:a16="http://schemas.microsoft.com/office/drawing/2014/main" id="{A21A82D9-7984-4C68-AA4E-D1ABC9799ED5}"/>
              </a:ext>
            </a:extLst>
          </p:cNvPr>
          <p:cNvSpPr>
            <a:spLocks xmlns:a="http://schemas.openxmlformats.org/drawingml/2006/main" noGrp="1"/>
          </p:cNvSpPr>
          <p:nvPr/>
        </p:nvSpPr>
        <p:spPr>
          <a:xfrm xmlns:a="http://schemas.openxmlformats.org/drawingml/2006/main">
            <a:off x="1066800" y="3067050"/>
            <a:ext cx="283845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305">
                <a:solidFill>
                  <a:srgbClr val="4A4A4E"/>
                </a:solidFill>
                <a:latin typeface="Segoe UI Light"/>
                <a:ea typeface="Segoe UI Light"/>
                <a:cs typeface="Segoe UI Light"/>
              </a:defRPr>
            </a:pPr>
            <a:r>
              <a:rPr sz="1305">
                <a:solidFill>
                  <a:srgbClr val="4A4A4E"/>
                </a:solidFill>
                <a:latin typeface="Segoe UI Light"/>
                <a:ea typeface="Segoe UI Light"/>
                <a:cs typeface="Segoe UI Light"/>
              </a:rPr>
              <a:t>• no mean, standard deviation, or confidence interval</a:t>
            </a:r>
          </a:p>
          <a:p xmlns:a="http://schemas.openxmlformats.org/drawingml/2006/main">
            <a:pPr algn="l">
              <a:buNone/>
              <a:defRPr sz="1305">
                <a:solidFill>
                  <a:srgbClr val="4A4A4E"/>
                </a:solidFill>
                <a:latin typeface="Segoe UI Light"/>
                <a:ea typeface="Segoe UI Light"/>
                <a:cs typeface="Segoe UI Light"/>
              </a:defRPr>
            </a:pPr>
            <a:r>
              <a:rPr sz="1305">
                <a:solidFill>
                  <a:srgbClr val="4A4A4E"/>
                </a:solidFill>
                <a:latin typeface="Segoe UI Light"/>
                <a:ea typeface="Segoe UI Light"/>
                <a:cs typeface="Segoe UI Light"/>
              </a:rPr>
              <a:t>• small gaps such as 0.76% vs 0.80% are not proven significant</a:t>
            </a:r>
          </a:p>
        </p:txBody>
      </p:sp>
      <p:sp>
        <p:nvSpPr>
          <p:cNvPr id="10" name="Scope card 2">
            <a:extLst xmlns:a="http://schemas.openxmlformats.org/drawingml/2006/main">
              <a:ext uri="{FF2B5EF4-FFF2-40B4-BE49-F238E27FC236}">
                <a16:creationId xmlns:a16="http://schemas.microsoft.com/office/drawing/2014/main" id="{76B48BBC-BC84-4470-B4EF-E393693983DD}"/>
              </a:ext>
            </a:extLst>
          </p:cNvPr>
          <p:cNvSpPr>
            <a:spLocks xmlns:a="http://schemas.openxmlformats.org/drawingml/2006/main" noGrp="1"/>
          </p:cNvSpPr>
          <p:nvPr/>
        </p:nvSpPr>
        <p:spPr>
          <a:xfrm xmlns:a="http://schemas.openxmlformats.org/drawingml/2006/main">
            <a:off x="4371975" y="2266950"/>
            <a:ext cx="3219450" cy="2743200"/>
          </a:xfrm>
          <a:prstGeom xmlns:a="http://schemas.openxmlformats.org/drawingml/2006/main" prst="roundRect">
            <a:avLst>
              <a:gd name="adj" fmla="val 3125"/>
            </a:avLst>
          </a:prstGeom>
          <a:noFill xmlns:a="http://schemas.openxmlformats.org/drawingml/2006/main"/>
          <a:ln xmlns:a="http://schemas.openxmlformats.org/drawingml/2006/main" w="10478">
            <a:solidFill>
              <a:srgbClr val="6C5CE7"/>
            </a:solidFill>
            <a:prstDash val="solid"/>
          </a:ln>
        </p:spPr>
        <p:txBody>
          <a:bodyPr xmlns:a="http://schemas.openxmlformats.org/drawingml/2006/main"/>
          <a:lstStyle xmlns:a="http://schemas.openxmlformats.org/drawingml/2006/main"/>
          <a:p xmlns:a="http://schemas.openxmlformats.org/drawingml/2006/main"/>
        </p:txBody>
      </p:sp>
      <p:sp>
        <p:nvSpPr>
          <p:cNvPr id="11" name="Scope accent 2">
            <a:extLst xmlns:a="http://schemas.openxmlformats.org/drawingml/2006/main">
              <a:ext uri="{FF2B5EF4-FFF2-40B4-BE49-F238E27FC236}">
                <a16:creationId xmlns:a16="http://schemas.microsoft.com/office/drawing/2014/main" id="{3494AA26-248F-429E-9A03-6C35BD999C35}"/>
              </a:ext>
            </a:extLst>
          </p:cNvPr>
          <p:cNvSpPr>
            <a:spLocks xmlns:a="http://schemas.openxmlformats.org/drawingml/2006/main" noGrp="1"/>
          </p:cNvSpPr>
          <p:nvPr/>
        </p:nvSpPr>
        <p:spPr>
          <a:xfrm xmlns:a="http://schemas.openxmlformats.org/drawingml/2006/main">
            <a:off x="4371975" y="2266950"/>
            <a:ext cx="3219450" cy="76200"/>
          </a:xfrm>
          <a:prstGeom xmlns:a="http://schemas.openxmlformats.org/drawingml/2006/main" prst="rect">
            <a:avLst/>
          </a:prstGeom>
          <a:solidFill xmlns:a="http://schemas.openxmlformats.org/drawingml/2006/main">
            <a:srgbClr val="6C5CE7"/>
          </a:solidFill>
          <a:ln xmlns:a="http://schemas.openxmlformats.org/drawingml/2006/main" w="0">
            <a:solidFill>
              <a:srgbClr val="6C5CE7"/>
            </a:solidFill>
            <a:prstDash val="solid"/>
          </a:ln>
        </p:spPr>
        <p:txBody>
          <a:bodyPr xmlns:a="http://schemas.openxmlformats.org/drawingml/2006/main"/>
          <a:lstStyle xmlns:a="http://schemas.openxmlformats.org/drawingml/2006/main"/>
          <a:p xmlns:a="http://schemas.openxmlformats.org/drawingml/2006/main"/>
        </p:txBody>
      </p:sp>
      <p:sp>
        <p:nvSpPr>
          <p:cNvPr id="12" name="Scope title 2">
            <a:extLst xmlns:a="http://schemas.openxmlformats.org/drawingml/2006/main">
              <a:ext uri="{FF2B5EF4-FFF2-40B4-BE49-F238E27FC236}">
                <a16:creationId xmlns:a16="http://schemas.microsoft.com/office/drawing/2014/main" id="{A2ECD44B-E7E4-4D69-955A-7B6F0ADE1F08}"/>
              </a:ext>
            </a:extLst>
          </p:cNvPr>
          <p:cNvSpPr>
            <a:spLocks xmlns:a="http://schemas.openxmlformats.org/drawingml/2006/main" noGrp="1"/>
          </p:cNvSpPr>
          <p:nvPr/>
        </p:nvSpPr>
        <p:spPr>
          <a:xfrm xmlns:a="http://schemas.openxmlformats.org/drawingml/2006/main">
            <a:off x="4562475" y="2533650"/>
            <a:ext cx="2838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a:bodyPr>
          <a:lstStyle xmlns:a="http://schemas.openxmlformats.org/drawingml/2006/main"/>
          <a:p xmlns:a="http://schemas.openxmlformats.org/drawingml/2006/main">
            <a:pPr algn="l">
              <a:buNone/>
              <a:defRPr sz="1650" b="1">
                <a:solidFill>
                  <a:srgbClr val="1D1D1F"/>
                </a:solidFill>
                <a:latin typeface="Segoe UI Semibold"/>
                <a:ea typeface="Segoe UI Semibold"/>
                <a:cs typeface="Segoe UI Semibold"/>
              </a:defRPr>
            </a:pPr>
            <a:r>
              <a:rPr sz="1650" b="1">
                <a:solidFill>
                  <a:srgbClr val="1D1D1F"/>
                </a:solidFill>
                <a:latin typeface="Segoe UI Semibold"/>
                <a:ea typeface="Segoe UI Semibold"/>
                <a:cs typeface="Segoe UI Semibold"/>
              </a:rPr>
              <a:t>One backbone</a:t>
            </a:r>
          </a:p>
        </p:txBody>
      </p:sp>
      <p:sp>
        <p:nvSpPr>
          <p:cNvPr id="13" name="Scope body 2">
            <a:extLst xmlns:a="http://schemas.openxmlformats.org/drawingml/2006/main">
              <a:ext uri="{FF2B5EF4-FFF2-40B4-BE49-F238E27FC236}">
                <a16:creationId xmlns:a16="http://schemas.microsoft.com/office/drawing/2014/main" id="{5FEAFA74-8A1F-4083-B391-C4419F7B849B}"/>
              </a:ext>
            </a:extLst>
          </p:cNvPr>
          <p:cNvSpPr>
            <a:spLocks xmlns:a="http://schemas.openxmlformats.org/drawingml/2006/main" noGrp="1"/>
          </p:cNvSpPr>
          <p:nvPr/>
        </p:nvSpPr>
        <p:spPr>
          <a:xfrm xmlns:a="http://schemas.openxmlformats.org/drawingml/2006/main">
            <a:off x="4562475" y="3067050"/>
            <a:ext cx="283845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305">
                <a:solidFill>
                  <a:srgbClr val="4A4A4E"/>
                </a:solidFill>
                <a:latin typeface="Segoe UI Light"/>
                <a:ea typeface="Segoe UI Light"/>
                <a:cs typeface="Segoe UI Light"/>
              </a:defRPr>
            </a:pPr>
            <a:r>
              <a:rPr sz="1305">
                <a:solidFill>
                  <a:srgbClr val="4A4A4E"/>
                </a:solidFill>
                <a:latin typeface="Segoe UI Light"/>
                <a:ea typeface="Segoe UI Light"/>
                <a:cs typeface="Segoe UI Light"/>
              </a:rPr>
              <a:t>• facebook/wav2vec2-base only</a:t>
            </a:r>
          </a:p>
          <a:p xmlns:a="http://schemas.openxmlformats.org/drawingml/2006/main">
            <a:pPr algn="l">
              <a:buNone/>
              <a:defRPr sz="1305">
                <a:solidFill>
                  <a:srgbClr val="4A4A4E"/>
                </a:solidFill>
                <a:latin typeface="Segoe UI Light"/>
                <a:ea typeface="Segoe UI Light"/>
                <a:cs typeface="Segoe UI Light"/>
              </a:defRPr>
            </a:pPr>
            <a:r>
              <a:rPr sz="1305">
                <a:solidFill>
                  <a:srgbClr val="4A4A4E"/>
                </a:solidFill>
                <a:latin typeface="Segoe UI Light"/>
                <a:ea typeface="Segoe UI Light"/>
                <a:cs typeface="Segoe UI Light"/>
              </a:rPr>
              <a:t>• no wav2vec2-large, HuBERT, or WavLM comparison</a:t>
            </a:r>
          </a:p>
          <a:p xmlns:a="http://schemas.openxmlformats.org/drawingml/2006/main">
            <a:pPr algn="l">
              <a:buNone/>
              <a:defRPr sz="1305">
                <a:solidFill>
                  <a:srgbClr val="4A4A4E"/>
                </a:solidFill>
                <a:latin typeface="Segoe UI Light"/>
                <a:ea typeface="Segoe UI Light"/>
                <a:cs typeface="Segoe UI Light"/>
              </a:defRPr>
            </a:pPr>
            <a:r>
              <a:rPr sz="1305">
                <a:solidFill>
                  <a:srgbClr val="4A4A4E"/>
                </a:solidFill>
                <a:latin typeface="Segoe UI Light"/>
                <a:ea typeface="Segoe UI Light"/>
                <a:cs typeface="Segoe UI Light"/>
              </a:rPr>
              <a:t>• conclusions are not proven backbone-independent</a:t>
            </a:r>
          </a:p>
        </p:txBody>
      </p:sp>
      <p:sp>
        <p:nvSpPr>
          <p:cNvPr id="14" name="Scope card 3">
            <a:extLst xmlns:a="http://schemas.openxmlformats.org/drawingml/2006/main">
              <a:ext uri="{FF2B5EF4-FFF2-40B4-BE49-F238E27FC236}">
                <a16:creationId xmlns:a16="http://schemas.microsoft.com/office/drawing/2014/main" id="{48AC6150-DFCD-4051-8719-2D32609B4710}"/>
              </a:ext>
            </a:extLst>
          </p:cNvPr>
          <p:cNvSpPr>
            <a:spLocks xmlns:a="http://schemas.openxmlformats.org/drawingml/2006/main" noGrp="1"/>
          </p:cNvSpPr>
          <p:nvPr/>
        </p:nvSpPr>
        <p:spPr>
          <a:xfrm xmlns:a="http://schemas.openxmlformats.org/drawingml/2006/main">
            <a:off x="7867650" y="2266950"/>
            <a:ext cx="3219450" cy="2743200"/>
          </a:xfrm>
          <a:prstGeom xmlns:a="http://schemas.openxmlformats.org/drawingml/2006/main" prst="roundRect">
            <a:avLst>
              <a:gd name="adj" fmla="val 3125"/>
            </a:avLst>
          </a:prstGeom>
          <a:noFill xmlns:a="http://schemas.openxmlformats.org/drawingml/2006/main"/>
          <a:ln xmlns:a="http://schemas.openxmlformats.org/drawingml/2006/main" w="10478">
            <a:solidFill>
              <a:srgbClr val="F5A623"/>
            </a:solidFill>
            <a:prstDash val="solid"/>
          </a:ln>
        </p:spPr>
        <p:txBody>
          <a:bodyPr xmlns:a="http://schemas.openxmlformats.org/drawingml/2006/main"/>
          <a:lstStyle xmlns:a="http://schemas.openxmlformats.org/drawingml/2006/main"/>
          <a:p xmlns:a="http://schemas.openxmlformats.org/drawingml/2006/main"/>
        </p:txBody>
      </p:sp>
      <p:sp>
        <p:nvSpPr>
          <p:cNvPr id="15" name="Scope accent 3">
            <a:extLst xmlns:a="http://schemas.openxmlformats.org/drawingml/2006/main">
              <a:ext uri="{FF2B5EF4-FFF2-40B4-BE49-F238E27FC236}">
                <a16:creationId xmlns:a16="http://schemas.microsoft.com/office/drawing/2014/main" id="{035CAC72-0E29-43B7-B572-ECADF173EED2}"/>
              </a:ext>
            </a:extLst>
          </p:cNvPr>
          <p:cNvSpPr>
            <a:spLocks xmlns:a="http://schemas.openxmlformats.org/drawingml/2006/main" noGrp="1"/>
          </p:cNvSpPr>
          <p:nvPr/>
        </p:nvSpPr>
        <p:spPr>
          <a:xfrm xmlns:a="http://schemas.openxmlformats.org/drawingml/2006/main">
            <a:off x="7867650" y="2266950"/>
            <a:ext cx="3219450" cy="76200"/>
          </a:xfrm>
          <a:prstGeom xmlns:a="http://schemas.openxmlformats.org/drawingml/2006/main" prst="rect">
            <a:avLst/>
          </a:prstGeom>
          <a:solidFill xmlns:a="http://schemas.openxmlformats.org/drawingml/2006/main">
            <a:srgbClr val="F5A623"/>
          </a:solidFill>
          <a:ln xmlns:a="http://schemas.openxmlformats.org/drawingml/2006/main" w="0">
            <a:solidFill>
              <a:srgbClr val="F5A623"/>
            </a:solidFill>
            <a:prstDash val="solid"/>
          </a:ln>
        </p:spPr>
        <p:txBody>
          <a:bodyPr xmlns:a="http://schemas.openxmlformats.org/drawingml/2006/main"/>
          <a:lstStyle xmlns:a="http://schemas.openxmlformats.org/drawingml/2006/main"/>
          <a:p xmlns:a="http://schemas.openxmlformats.org/drawingml/2006/main"/>
        </p:txBody>
      </p:sp>
      <p:sp>
        <p:nvSpPr>
          <p:cNvPr id="16" name="Scope title 3">
            <a:extLst xmlns:a="http://schemas.openxmlformats.org/drawingml/2006/main">
              <a:ext uri="{FF2B5EF4-FFF2-40B4-BE49-F238E27FC236}">
                <a16:creationId xmlns:a16="http://schemas.microsoft.com/office/drawing/2014/main" id="{EA3676B8-0028-4726-9695-F0698B454788}"/>
              </a:ext>
            </a:extLst>
          </p:cNvPr>
          <p:cNvSpPr>
            <a:spLocks xmlns:a="http://schemas.openxmlformats.org/drawingml/2006/main" noGrp="1"/>
          </p:cNvSpPr>
          <p:nvPr/>
        </p:nvSpPr>
        <p:spPr>
          <a:xfrm xmlns:a="http://schemas.openxmlformats.org/drawingml/2006/main">
            <a:off x="8058150" y="2533650"/>
            <a:ext cx="2838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a:bodyPr>
          <a:lstStyle xmlns:a="http://schemas.openxmlformats.org/drawingml/2006/main"/>
          <a:p xmlns:a="http://schemas.openxmlformats.org/drawingml/2006/main">
            <a:pPr algn="l">
              <a:buNone/>
              <a:defRPr sz="1650" b="1">
                <a:solidFill>
                  <a:srgbClr val="1D1D1F"/>
                </a:solidFill>
                <a:latin typeface="Segoe UI Semibold"/>
                <a:ea typeface="Segoe UI Semibold"/>
                <a:cs typeface="Segoe UI Semibold"/>
              </a:defRPr>
            </a:pPr>
            <a:r>
              <a:rPr sz="1650" b="1">
                <a:solidFill>
                  <a:srgbClr val="1D1D1F"/>
                </a:solidFill>
                <a:latin typeface="Segoe UI Semibold"/>
                <a:ea typeface="Segoe UI Semibold"/>
                <a:cs typeface="Segoe UI Semibold"/>
              </a:rPr>
              <a:t>One corpus</a:t>
            </a:r>
          </a:p>
        </p:txBody>
      </p:sp>
      <p:sp>
        <p:nvSpPr>
          <p:cNvPr id="17" name="Scope body 3">
            <a:extLst xmlns:a="http://schemas.openxmlformats.org/drawingml/2006/main">
              <a:ext uri="{FF2B5EF4-FFF2-40B4-BE49-F238E27FC236}">
                <a16:creationId xmlns:a16="http://schemas.microsoft.com/office/drawing/2014/main" id="{748B1AF8-BF14-4C16-941D-B6BCB6398A39}"/>
              </a:ext>
            </a:extLst>
          </p:cNvPr>
          <p:cNvSpPr>
            <a:spLocks xmlns:a="http://schemas.openxmlformats.org/drawingml/2006/main" noGrp="1"/>
          </p:cNvSpPr>
          <p:nvPr/>
        </p:nvSpPr>
        <p:spPr>
          <a:xfrm xmlns:a="http://schemas.openxmlformats.org/drawingml/2006/main">
            <a:off x="8058150" y="3067050"/>
            <a:ext cx="283845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305">
                <a:solidFill>
                  <a:srgbClr val="4A4A4E"/>
                </a:solidFill>
                <a:latin typeface="Segoe UI Light"/>
                <a:ea typeface="Segoe UI Light"/>
                <a:cs typeface="Segoe UI Light"/>
              </a:defRPr>
            </a:pPr>
            <a:r>
              <a:rPr sz="1305">
                <a:solidFill>
                  <a:srgbClr val="4A4A4E"/>
                </a:solidFill>
                <a:latin typeface="Segoe UI Light"/>
                <a:ea typeface="Segoe UI Light"/>
                <a:cs typeface="Segoe UI Light"/>
              </a:rPr>
              <a:t>• train/dev/eval are ASVspoof 2019 LA</a:t>
            </a:r>
          </a:p>
          <a:p xmlns:a="http://schemas.openxmlformats.org/drawingml/2006/main">
            <a:pPr algn="l">
              <a:buNone/>
              <a:defRPr sz="1305">
                <a:solidFill>
                  <a:srgbClr val="4A4A4E"/>
                </a:solidFill>
                <a:latin typeface="Segoe UI Light"/>
                <a:ea typeface="Segoe UI Light"/>
                <a:cs typeface="Segoe UI Light"/>
              </a:defRPr>
            </a:pPr>
            <a:r>
              <a:rPr sz="1305">
                <a:solidFill>
                  <a:srgbClr val="4A4A4E"/>
                </a:solidFill>
                <a:latin typeface="Segoe UI Light"/>
                <a:ea typeface="Segoe UI Light"/>
                <a:cs typeface="Segoe UI Light"/>
              </a:rPr>
              <a:t>• unseen = unseen generators inside the same corpus</a:t>
            </a:r>
          </a:p>
          <a:p xmlns:a="http://schemas.openxmlformats.org/drawingml/2006/main">
            <a:pPr algn="l">
              <a:buNone/>
              <a:defRPr sz="1305">
                <a:solidFill>
                  <a:srgbClr val="4A4A4E"/>
                </a:solidFill>
                <a:latin typeface="Segoe UI Light"/>
                <a:ea typeface="Segoe UI Light"/>
                <a:cs typeface="Segoe UI Light"/>
              </a:defRPr>
            </a:pPr>
            <a:r>
              <a:rPr sz="1305">
                <a:solidFill>
                  <a:srgbClr val="4A4A4E"/>
                </a:solidFill>
                <a:latin typeface="Segoe UI Light"/>
                <a:ea typeface="Segoe UI Light"/>
                <a:cs typeface="Segoe UI Light"/>
              </a:rPr>
              <a:t>• within-corpus generalization, not cross-corpus validation</a:t>
            </a:r>
          </a:p>
        </p:txBody>
      </p:sp>
      <p:sp>
        <p:nvSpPr>
          <p:cNvPr id="18" name="Scope conclusion">
            <a:extLst xmlns:a="http://schemas.openxmlformats.org/drawingml/2006/main">
              <a:ext uri="{FF2B5EF4-FFF2-40B4-BE49-F238E27FC236}">
                <a16:creationId xmlns:a16="http://schemas.microsoft.com/office/drawing/2014/main" id="{29DCB218-1887-47AB-AF53-F1E161F4AFE3}"/>
              </a:ext>
            </a:extLst>
          </p:cNvPr>
          <p:cNvSpPr>
            <a:spLocks xmlns:a="http://schemas.openxmlformats.org/drawingml/2006/main" noGrp="1"/>
          </p:cNvSpPr>
          <p:nvPr/>
        </p:nvSpPr>
        <p:spPr>
          <a:xfrm xmlns:a="http://schemas.openxmlformats.org/drawingml/2006/main">
            <a:off x="876300" y="5238750"/>
            <a:ext cx="10210800" cy="876300"/>
          </a:xfrm>
          <a:prstGeom xmlns:a="http://schemas.openxmlformats.org/drawingml/2006/main" prst="roundRect">
            <a:avLst>
              <a:gd name="adj" fmla="val 9783"/>
            </a:avLst>
          </a:prstGeom>
          <a:solidFill xmlns:a="http://schemas.openxmlformats.org/drawingml/2006/main">
            <a:srgbClr val="F2F6FC"/>
          </a:solidFill>
          <a:ln xmlns:a="http://schemas.openxmlformats.org/drawingml/2006/main" w="10478">
            <a:solidFill>
              <a:srgbClr val="C7DDF7"/>
            </a:solidFill>
            <a:prstDash val="solid"/>
          </a:ln>
        </p:spPr>
        <p:txBody>
          <a:bodyPr xmlns:a="http://schemas.openxmlformats.org/drawingml/2006/main" wrap="square" lIns="190500" tIns="85725" rIns="190500" bIns="85725" anchor="ctr">
            <a:normAutofit/>
          </a:bodyPr>
          <a:lstStyle xmlns:a="http://schemas.openxmlformats.org/drawingml/2006/main"/>
          <a:p xmlns:a="http://schemas.openxmlformats.org/drawingml/2006/main">
            <a:pPr algn="ctr">
              <a:buNone/>
              <a:defRPr sz="1373" b="1">
                <a:solidFill>
                  <a:srgbClr val="1D1D1F"/>
                </a:solidFill>
                <a:latin typeface="Segoe UI Semibold"/>
                <a:ea typeface="Segoe UI Semibold"/>
                <a:cs typeface="Segoe UI Semibold"/>
              </a:defRPr>
            </a:pPr>
            <a:r>
              <a:rPr sz="1373" b="1">
                <a:solidFill>
                  <a:srgbClr val="1D1D1F"/>
                </a:solidFill>
                <a:latin typeface="Segoe UI Semibold"/>
                <a:ea typeface="Segoe UI Semibold"/>
                <a:cs typeface="Segoe UI Semibold"/>
              </a:rPr>
              <a:t>The results support strong within-corpus unseen-attack separation, but do not yet establish statistical stability, backbone independence, or cross-corpus robustness.</a:t>
            </a:r>
          </a:p>
        </p:txBody>
      </p:sp>
    </p:spTree>
    <p:extLst>
      <p:ext uri="{BB962C8B-B14F-4D97-AF65-F5344CB8AC3E}">
        <p14:creationId xmlns:p14="http://schemas.microsoft.com/office/powerpoint/2010/main" val="163768339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2026-07-21T02:12:52.4370000Z</dcterms:created>
  <dcterms:modified xsi:type="dcterms:W3CDTF">2026-07-21T02:12:52.4370000Z</dcterms:modified>
</coreProperties>
</file>